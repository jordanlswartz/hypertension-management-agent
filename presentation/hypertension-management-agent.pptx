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80" r:id="rId3"/>
    <p:sldId id="271" r:id="rId4"/>
    <p:sldId id="269" r:id="rId5"/>
    <p:sldId id="309" r:id="rId6"/>
    <p:sldId id="297" r:id="rId7"/>
    <p:sldId id="326" r:id="rId8"/>
    <p:sldId id="320" r:id="rId9"/>
    <p:sldId id="281" r:id="rId10"/>
    <p:sldId id="306" r:id="rId11"/>
    <p:sldId id="319" r:id="rId12"/>
    <p:sldId id="321" r:id="rId13"/>
    <p:sldId id="330" r:id="rId14"/>
    <p:sldId id="327" r:id="rId15"/>
    <p:sldId id="272" r:id="rId16"/>
    <p:sldId id="300" r:id="rId17"/>
    <p:sldId id="299" r:id="rId18"/>
    <p:sldId id="303" r:id="rId19"/>
    <p:sldId id="302" r:id="rId20"/>
    <p:sldId id="275" r:id="rId21"/>
    <p:sldId id="304" r:id="rId22"/>
    <p:sldId id="305" r:id="rId23"/>
    <p:sldId id="277" r:id="rId24"/>
    <p:sldId id="316" r:id="rId25"/>
    <p:sldId id="317" r:id="rId26"/>
    <p:sldId id="278" r:id="rId27"/>
    <p:sldId id="310" r:id="rId28"/>
    <p:sldId id="257" r:id="rId29"/>
    <p:sldId id="298" r:id="rId30"/>
    <p:sldId id="313" r:id="rId31"/>
    <p:sldId id="318" r:id="rId32"/>
    <p:sldId id="311" r:id="rId33"/>
    <p:sldId id="286" r:id="rId34"/>
    <p:sldId id="314" r:id="rId35"/>
    <p:sldId id="315" r:id="rId36"/>
    <p:sldId id="307" r:id="rId37"/>
    <p:sldId id="328" r:id="rId38"/>
    <p:sldId id="329" r:id="rId39"/>
    <p:sldId id="308" r:id="rId40"/>
    <p:sldId id="32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03"/>
    <p:restoredTop sz="63309"/>
  </p:normalViewPr>
  <p:slideViewPr>
    <p:cSldViewPr snapToGrid="0">
      <p:cViewPr>
        <p:scale>
          <a:sx n="86" d="100"/>
          <a:sy n="86" d="100"/>
        </p:scale>
        <p:origin x="3168"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8586C1-8374-C849-A005-F58B65EEB8F3}" type="datetimeFigureOut">
              <a:rPr lang="en-US" smtClean="0"/>
              <a:t>2/17/26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6AE6B1-680D-AA47-8185-7F19B9E13D29}" type="slidenum">
              <a:rPr lang="en-US" smtClean="0"/>
              <a:t>‹#›</a:t>
            </a:fld>
            <a:endParaRPr lang="en-US"/>
          </a:p>
        </p:txBody>
      </p:sp>
    </p:spTree>
    <p:extLst>
      <p:ext uri="{BB962C8B-B14F-4D97-AF65-F5344CB8AC3E}">
        <p14:creationId xmlns:p14="http://schemas.microsoft.com/office/powerpoint/2010/main" val="3719511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1</a:t>
            </a:fld>
            <a:endParaRPr lang="en-US"/>
          </a:p>
        </p:txBody>
      </p:sp>
    </p:spTree>
    <p:extLst>
      <p:ext uri="{BB962C8B-B14F-4D97-AF65-F5344CB8AC3E}">
        <p14:creationId xmlns:p14="http://schemas.microsoft.com/office/powerpoint/2010/main" val="1889859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single point of failure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System only does blood pressure management</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Confirm that is truly uncontrolled BP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System cannot override a physician decision</a:t>
            </a:r>
          </a:p>
          <a:p>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2</a:t>
            </a:fld>
            <a:endParaRPr lang="en-US"/>
          </a:p>
        </p:txBody>
      </p:sp>
    </p:spTree>
    <p:extLst>
      <p:ext uri="{BB962C8B-B14F-4D97-AF65-F5344CB8AC3E}">
        <p14:creationId xmlns:p14="http://schemas.microsoft.com/office/powerpoint/2010/main" val="1680224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Secondary hypertension is screened for, but the treatment pathways are for primary </a:t>
            </a:r>
            <a:r>
              <a:rPr lang="en-US" dirty="0" err="1"/>
              <a:t>htn</a:t>
            </a:r>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3</a:t>
            </a:fld>
            <a:endParaRPr lang="en-US"/>
          </a:p>
        </p:txBody>
      </p:sp>
    </p:spTree>
    <p:extLst>
      <p:ext uri="{BB962C8B-B14F-4D97-AF65-F5344CB8AC3E}">
        <p14:creationId xmlns:p14="http://schemas.microsoft.com/office/powerpoint/2010/main" val="3322255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 first five are about getting the right treatment to the patient</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next five are about keeping the patient safe and on track.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5-10% of hypertensives and 20-30% of resistant cases have a correctable underlying cause.</a:t>
            </a:r>
          </a:p>
        </p:txBody>
      </p:sp>
      <p:sp>
        <p:nvSpPr>
          <p:cNvPr id="4" name="Slide Number Placeholder 3"/>
          <p:cNvSpPr>
            <a:spLocks noGrp="1"/>
          </p:cNvSpPr>
          <p:nvPr>
            <p:ph type="sldNum" sz="quarter" idx="5"/>
          </p:nvPr>
        </p:nvSpPr>
        <p:spPr/>
        <p:txBody>
          <a:bodyPr/>
          <a:lstStyle/>
          <a:p>
            <a:fld id="{5B6AE6B1-680D-AA47-8185-7F19B9E13D29}" type="slidenum">
              <a:rPr lang="en-US" smtClean="0"/>
              <a:t>4</a:t>
            </a:fld>
            <a:endParaRPr lang="en-US"/>
          </a:p>
        </p:txBody>
      </p:sp>
    </p:spTree>
    <p:extLst>
      <p:ext uri="{BB962C8B-B14F-4D97-AF65-F5344CB8AC3E}">
        <p14:creationId xmlns:p14="http://schemas.microsoft.com/office/powerpoint/2010/main" val="2532169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overtreatment-&gt;fall, </a:t>
            </a:r>
            <a:r>
              <a:rPr lang="en-US" sz="1200" b="0" kern="1200" dirty="0">
                <a:solidFill>
                  <a:schemeClr val="tx1"/>
                </a:solidFill>
                <a:effectLst/>
                <a:latin typeface="+mn-lt"/>
                <a:ea typeface="+mn-ea"/>
                <a:cs typeface="+mn-cs"/>
              </a:rPr>
              <a:t>residual risk is MODERATE because it depends on the patient reporting symptoms and completing orthostatic screening</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more deterministic layers a failure mode has, the lower its residual risk. </a:t>
            </a:r>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5</a:t>
            </a:fld>
            <a:endParaRPr lang="en-US"/>
          </a:p>
        </p:txBody>
      </p:sp>
    </p:spTree>
    <p:extLst>
      <p:ext uri="{BB962C8B-B14F-4D97-AF65-F5344CB8AC3E}">
        <p14:creationId xmlns:p14="http://schemas.microsoft.com/office/powerpoint/2010/main" val="4210953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Single main agent architecture</a:t>
            </a:r>
            <a:r>
              <a:rPr lang="en-US" sz="1200" kern="1200" dirty="0">
                <a:solidFill>
                  <a:schemeClr val="tx1"/>
                </a:solidFill>
                <a:effectLst/>
                <a:latin typeface="+mn-lt"/>
                <a:ea typeface="+mn-ea"/>
                <a:cs typeface="+mn-cs"/>
              </a:rPr>
              <a:t>. The patient talks to one agent, sees one personality, has one conversation thread. The guardrail layers are invisible infrastructure </a:t>
            </a: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Multiagent disadvantages: </a:t>
            </a:r>
            <a:r>
              <a:rPr lang="en-US" sz="1200" kern="1200" dirty="0">
                <a:solidFill>
                  <a:schemeClr val="tx1"/>
                </a:solidFill>
                <a:effectLst/>
                <a:latin typeface="+mn-lt"/>
                <a:ea typeface="+mn-ea"/>
                <a:cs typeface="+mn-cs"/>
              </a:rPr>
              <a:t>Handoff bugs lose context, harder to audit cross-agent decisions</a:t>
            </a:r>
          </a:p>
          <a:p>
            <a:r>
              <a:rPr lang="en-US" sz="1200" kern="1200" dirty="0">
                <a:solidFill>
                  <a:schemeClr val="tx1"/>
                </a:solidFill>
                <a:effectLst/>
                <a:latin typeface="+mn-lt"/>
                <a:ea typeface="+mn-ea"/>
                <a:cs typeface="+mn-cs"/>
              </a:rPr>
              <a:t>Patient mentions “a little chest tightness” casually to the triage agent. The triage agent notes it but doesn’t escalate (subthreshold). Handoff summary to medication agent says “elevated BP, no emergency.” Medication agent never sees the chest tightness. </a:t>
            </a:r>
          </a:p>
          <a:p>
            <a:r>
              <a:rPr lang="en-US" sz="1200" kern="1200" dirty="0">
                <a:solidFill>
                  <a:schemeClr val="tx1"/>
                </a:solidFill>
                <a:effectLst/>
                <a:latin typeface="+mn-lt"/>
                <a:ea typeface="+mn-ea"/>
                <a:cs typeface="+mn-cs"/>
              </a:rPr>
              <a:t>In this architecture, can't happen because there’s one context window. Everything the patient says is visible to the one agent that’s reasoning about their care. There’s no handoff to drop.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SYSTEM ORCHESTRATOR (runs parallel to agent, triggered by tool calls)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State machine transitions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Decision tree traversal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Invoking RAG reasoning as needed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safety pipeline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All deterministic. No LLM involved</a:t>
            </a:r>
            <a:r>
              <a:rPr lang="en-US" dirty="0">
                <a:effectLst/>
              </a:rPr>
              <a:t> </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B6AE6B1-680D-AA47-8185-7F19B9E13D29}" type="slidenum">
              <a:rPr lang="en-US" smtClean="0"/>
              <a:t>6</a:t>
            </a:fld>
            <a:endParaRPr lang="en-US"/>
          </a:p>
        </p:txBody>
      </p:sp>
    </p:spTree>
    <p:extLst>
      <p:ext uri="{BB962C8B-B14F-4D97-AF65-F5344CB8AC3E}">
        <p14:creationId xmlns:p14="http://schemas.microsoft.com/office/powerpoint/2010/main" val="3436649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Situational awareness - this is what the agent sees at the start of every single conversational turn. </a:t>
            </a:r>
            <a:r>
              <a:rPr lang="en-US" sz="1200" kern="1200" dirty="0">
                <a:solidFill>
                  <a:schemeClr val="tx1"/>
                </a:solidFill>
                <a:effectLst/>
                <a:latin typeface="+mn-lt"/>
                <a:ea typeface="+mn-ea"/>
                <a:cs typeface="+mn-cs"/>
              </a:rPr>
              <a:t>The LLM is stateless. All "memory" lives in FHIR, the operational DB, and the session/care-thread summaries. Context injection is just querying those stores and formatting the results into the messages array on every turn.</a:t>
            </a:r>
            <a:endParaRPr lang="en-US" sz="1200" b="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def </a:t>
            </a:r>
            <a:r>
              <a:rPr lang="en-US" sz="1200" kern="1200" dirty="0" err="1">
                <a:solidFill>
                  <a:schemeClr val="tx1"/>
                </a:solidFill>
                <a:effectLst/>
                <a:latin typeface="+mn-lt"/>
                <a:ea typeface="+mn-ea"/>
                <a:cs typeface="+mn-cs"/>
              </a:rPr>
              <a:t>build_patient_context</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patient_id</a:t>
            </a:r>
            <a:r>
              <a:rPr lang="en-US" sz="1200" kern="1200" dirty="0">
                <a:solidFill>
                  <a:schemeClr val="tx1"/>
                </a:solidFill>
                <a:effectLst/>
                <a:latin typeface="+mn-lt"/>
                <a:ea typeface="+mn-ea"/>
                <a:cs typeface="+mn-cs"/>
              </a:rPr>
              <a:t>: str) -&gt; str:</a:t>
            </a:r>
          </a:p>
          <a:p>
            <a:r>
              <a:rPr lang="en-US" sz="1200" kern="1200" dirty="0">
                <a:solidFill>
                  <a:schemeClr val="tx1"/>
                </a:solidFill>
                <a:effectLst/>
                <a:latin typeface="+mn-lt"/>
                <a:ea typeface="+mn-ea"/>
                <a:cs typeface="+mn-cs"/>
              </a:rPr>
              <a:t>      patient = </a:t>
            </a:r>
            <a:r>
              <a:rPr lang="en-US" sz="1200" kern="1200" dirty="0" err="1">
                <a:solidFill>
                  <a:schemeClr val="tx1"/>
                </a:solidFill>
                <a:effectLst/>
                <a:latin typeface="+mn-lt"/>
                <a:ea typeface="+mn-ea"/>
                <a:cs typeface="+mn-cs"/>
              </a:rPr>
              <a:t>fhir.get_patient</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patient_id</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state = </a:t>
            </a:r>
            <a:r>
              <a:rPr lang="en-US" sz="1200" kern="1200" dirty="0" err="1">
                <a:solidFill>
                  <a:schemeClr val="tx1"/>
                </a:solidFill>
                <a:effectLst/>
                <a:latin typeface="+mn-lt"/>
                <a:ea typeface="+mn-ea"/>
                <a:cs typeface="+mn-cs"/>
              </a:rPr>
              <a:t>db.get_patient_state</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patient_id</a:t>
            </a:r>
            <a:r>
              <a:rPr lang="en-US" sz="1200" kern="1200" dirty="0">
                <a:solidFill>
                  <a:schemeClr val="tx1"/>
                </a:solidFill>
                <a:effectLst/>
                <a:latin typeface="+mn-lt"/>
                <a:ea typeface="+mn-ea"/>
                <a:cs typeface="+mn-cs"/>
              </a:rPr>
              <a:t>)          # operational DB</a:t>
            </a:r>
          </a:p>
          <a:p>
            <a:r>
              <a:rPr lang="en-US" sz="1200" kern="1200" dirty="0">
                <a:solidFill>
                  <a:schemeClr val="tx1"/>
                </a:solidFill>
                <a:effectLst/>
                <a:latin typeface="+mn-lt"/>
                <a:ea typeface="+mn-ea"/>
                <a:cs typeface="+mn-cs"/>
              </a:rPr>
              <a:t>      meds = </a:t>
            </a:r>
            <a:r>
              <a:rPr lang="en-US" sz="1200" kern="1200" dirty="0" err="1">
                <a:solidFill>
                  <a:schemeClr val="tx1"/>
                </a:solidFill>
                <a:effectLst/>
                <a:latin typeface="+mn-lt"/>
                <a:ea typeface="+mn-ea"/>
                <a:cs typeface="+mn-cs"/>
              </a:rPr>
              <a:t>fhir.get_active_medications</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patient_id</a:t>
            </a:r>
            <a:r>
              <a:rPr lang="en-US" sz="1200" kern="1200" dirty="0">
                <a:solidFill>
                  <a:schemeClr val="tx1"/>
                </a:solidFill>
                <a:effectLst/>
                <a:latin typeface="+mn-lt"/>
                <a:ea typeface="+mn-ea"/>
                <a:cs typeface="+mn-cs"/>
              </a:rPr>
              <a:t>)     # enriched with class, tier from reference tables</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bp_goal</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fhir.get_bp_goal</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patient_id</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B6AE6B1-680D-AA47-8185-7F19B9E13D29}" type="slidenum">
              <a:rPr lang="en-US" smtClean="0"/>
              <a:t>7</a:t>
            </a:fld>
            <a:endParaRPr lang="en-US"/>
          </a:p>
        </p:txBody>
      </p:sp>
    </p:spTree>
    <p:extLst>
      <p:ext uri="{BB962C8B-B14F-4D97-AF65-F5344CB8AC3E}">
        <p14:creationId xmlns:p14="http://schemas.microsoft.com/office/powerpoint/2010/main" val="29325750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How the agent and orchestrator work together.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Agent calls tools — that's what LLMs are good at, deciding when and which tool to call based on conversational context.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Agent doesn't handle what happens after the tool call.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Orchestrator does what code does best — deterministic clinical logic that needs to be auditable and reproducible.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8</a:t>
            </a:fld>
            <a:endParaRPr lang="en-US"/>
          </a:p>
        </p:txBody>
      </p:sp>
    </p:spTree>
    <p:extLst>
      <p:ext uri="{BB962C8B-B14F-4D97-AF65-F5344CB8AC3E}">
        <p14:creationId xmlns:p14="http://schemas.microsoft.com/office/powerpoint/2010/main" val="1891726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What happens inside </a:t>
            </a:r>
            <a:r>
              <a:rPr lang="en-US" sz="1200" b="0" kern="1200" dirty="0" err="1">
                <a:solidFill>
                  <a:schemeClr val="tx1"/>
                </a:solidFill>
                <a:effectLst/>
                <a:latin typeface="+mn-lt"/>
                <a:ea typeface="+mn-ea"/>
                <a:cs typeface="+mn-cs"/>
              </a:rPr>
              <a:t>record_bp_reading</a:t>
            </a:r>
            <a:r>
              <a:rPr lang="en-US" sz="1200" b="0" kern="1200" dirty="0">
                <a:solidFill>
                  <a:schemeClr val="tx1"/>
                </a:solidFill>
                <a:effectLst/>
                <a:latin typeface="+mn-lt"/>
                <a:ea typeface="+mn-ea"/>
                <a:cs typeface="+mn-cs"/>
              </a:rPr>
              <a:t> — the most common tool call in the system.</a:t>
            </a:r>
            <a:br>
              <a:rPr lang="en-US" dirty="0"/>
            </a:br>
            <a:r>
              <a:rPr lang="en-US" dirty="0"/>
              <a:t>Patient state is the </a:t>
            </a:r>
            <a:r>
              <a:rPr lang="en-US" sz="1200" b="0" kern="1200" dirty="0">
                <a:solidFill>
                  <a:schemeClr val="tx1"/>
                </a:solidFill>
                <a:effectLst/>
                <a:latin typeface="+mn-lt"/>
                <a:ea typeface="+mn-ea"/>
                <a:cs typeface="+mn-cs"/>
              </a:rPr>
              <a:t>state machine's memory — it's what makes transitions deterministic rather than relying on the LLM to remember what happened.</a:t>
            </a:r>
          </a:p>
          <a:p>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9</a:t>
            </a:fld>
            <a:endParaRPr lang="en-US"/>
          </a:p>
        </p:txBody>
      </p:sp>
    </p:spTree>
    <p:extLst>
      <p:ext uri="{BB962C8B-B14F-4D97-AF65-F5344CB8AC3E}">
        <p14:creationId xmlns:p14="http://schemas.microsoft.com/office/powerpoint/2010/main" val="868772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 these deterministic tools:</a:t>
            </a:r>
          </a:p>
          <a:p>
            <a:r>
              <a:rPr lang="en-US" dirty="0"/>
              <a:t>symptoms are evaluated as side effects</a:t>
            </a:r>
          </a:p>
          <a:p>
            <a:r>
              <a:rPr lang="en-US" dirty="0"/>
              <a:t>prescriptions and labs are ordered</a:t>
            </a:r>
          </a:p>
          <a:p>
            <a:r>
              <a:rPr lang="en-US" dirty="0"/>
              <a:t>database data are retrieved</a:t>
            </a:r>
          </a:p>
          <a:p>
            <a:r>
              <a:rPr lang="en-US" dirty="0"/>
              <a:t>guidelines are searched</a:t>
            </a:r>
          </a:p>
        </p:txBody>
      </p:sp>
      <p:sp>
        <p:nvSpPr>
          <p:cNvPr id="4" name="Slide Number Placeholder 3"/>
          <p:cNvSpPr>
            <a:spLocks noGrp="1"/>
          </p:cNvSpPr>
          <p:nvPr>
            <p:ph type="sldNum" sz="quarter" idx="5"/>
          </p:nvPr>
        </p:nvSpPr>
        <p:spPr/>
        <p:txBody>
          <a:bodyPr/>
          <a:lstStyle/>
          <a:p>
            <a:fld id="{5B6AE6B1-680D-AA47-8185-7F19B9E13D29}" type="slidenum">
              <a:rPr lang="en-US" smtClean="0"/>
              <a:t>10</a:t>
            </a:fld>
            <a:endParaRPr lang="en-US"/>
          </a:p>
        </p:txBody>
      </p:sp>
    </p:spTree>
    <p:extLst>
      <p:ext uri="{BB962C8B-B14F-4D97-AF65-F5344CB8AC3E}">
        <p14:creationId xmlns:p14="http://schemas.microsoft.com/office/powerpoint/2010/main" val="1664132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These are architectural constraints enforced by the code.</a:t>
            </a:r>
          </a:p>
          <a:p>
            <a:r>
              <a:rPr lang="en-US" sz="1200" b="0" kern="1200" dirty="0">
                <a:solidFill>
                  <a:schemeClr val="tx1"/>
                </a:solidFill>
                <a:effectLst/>
                <a:latin typeface="+mn-lt"/>
                <a:ea typeface="+mn-ea"/>
                <a:cs typeface="+mn-cs"/>
              </a:rPr>
              <a:t>These aren't prompt instructions</a:t>
            </a:r>
          </a:p>
          <a:p>
            <a:r>
              <a:rPr lang="en-US" sz="1200" b="0" kern="1200" dirty="0">
                <a:solidFill>
                  <a:schemeClr val="tx1"/>
                </a:solidFill>
                <a:effectLst/>
                <a:latin typeface="+mn-lt"/>
                <a:ea typeface="+mn-ea"/>
                <a:cs typeface="+mn-cs"/>
              </a:rPr>
              <a:t>LLM literally doesn't have the function signatures to do these things. </a:t>
            </a:r>
          </a:p>
        </p:txBody>
      </p:sp>
      <p:sp>
        <p:nvSpPr>
          <p:cNvPr id="4" name="Slide Number Placeholder 3"/>
          <p:cNvSpPr>
            <a:spLocks noGrp="1"/>
          </p:cNvSpPr>
          <p:nvPr>
            <p:ph type="sldNum" sz="quarter" idx="5"/>
          </p:nvPr>
        </p:nvSpPr>
        <p:spPr/>
        <p:txBody>
          <a:bodyPr/>
          <a:lstStyle/>
          <a:p>
            <a:fld id="{5B6AE6B1-680D-AA47-8185-7F19B9E13D29}" type="slidenum">
              <a:rPr lang="en-US" smtClean="0"/>
              <a:t>11</a:t>
            </a:fld>
            <a:endParaRPr lang="en-US"/>
          </a:p>
        </p:txBody>
      </p:sp>
    </p:spTree>
    <p:extLst>
      <p:ext uri="{BB962C8B-B14F-4D97-AF65-F5344CB8AC3E}">
        <p14:creationId xmlns:p14="http://schemas.microsoft.com/office/powerpoint/2010/main" val="40518954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**GPT-4o** handles the three roles that need the best reasoning: the conversational agent that talks to patients, the RAG reasoner that generates guideline-cited recommendations.</a:t>
            </a:r>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**GPT-4o-mini**</a:t>
            </a:r>
            <a:r>
              <a:rPr lang="en-US" sz="1200" b="0" kern="1200" dirty="0">
                <a:solidFill>
                  <a:schemeClr val="tx1"/>
                </a:solidFill>
                <a:effectLst/>
                <a:latin typeface="+mn-lt"/>
                <a:ea typeface="+mn-ea"/>
                <a:cs typeface="+mn-cs"/>
              </a:rPr>
              <a:t> handles four high-volume, lower-complexity roles: note generation, intake classification, scope classification on every inbound message, and tone validation as a fallback when rule-based checks are uncertain. These run at about a tenth of the cost.</a:t>
            </a:r>
          </a:p>
          <a:p>
            <a:r>
              <a:rPr lang="en-US" sz="1200" kern="1200" dirty="0">
                <a:solidFill>
                  <a:schemeClr val="tx1"/>
                </a:solidFill>
                <a:effectLst/>
                <a:latin typeface="+mn-lt"/>
                <a:ea typeface="+mn-ea"/>
                <a:cs typeface="+mn-cs"/>
              </a:rPr>
              <a:t>Shares prompt patterns: how you structure the system prompt, how you ask for JSON output, how you instruct it to cite sources. The patterns validated for GPT-4o for the agent context carry over to the RAG reasoner context.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Intake classifier: </a:t>
            </a:r>
            <a:r>
              <a:rPr lang="en-US" sz="1200" kern="1200" dirty="0">
                <a:solidFill>
                  <a:schemeClr val="tx1"/>
                </a:solidFill>
                <a:effectLst/>
                <a:latin typeface="+mn-lt"/>
                <a:ea typeface="+mn-ea"/>
                <a:cs typeface="+mn-cs"/>
              </a:rPr>
              <a:t>Classify this patient message for emergency indicators</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B6AE6B1-680D-AA47-8185-7F19B9E13D29}" type="slidenum">
              <a:rPr lang="en-US" smtClean="0"/>
              <a:t>12</a:t>
            </a:fld>
            <a:endParaRPr lang="en-US"/>
          </a:p>
        </p:txBody>
      </p:sp>
    </p:spTree>
    <p:extLst>
      <p:ext uri="{BB962C8B-B14F-4D97-AF65-F5344CB8AC3E}">
        <p14:creationId xmlns:p14="http://schemas.microsoft.com/office/powerpoint/2010/main" val="3911413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This shows the full path a patient message takes through the system. This is the policy architecture — the reason we don't need a 5,000-token system prompt.</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Each policy is independently testable, they don't interfere with each other, and adding a new policy doesn't bloat the system prompt.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Layer 1 - deterministic keyword scan (e.g. "chest pain”) that fires in zero milliseconds with no LLM dependency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Layer 2 - scope classifier that routes off-topic messages to a redirect template without ever invoking the main agent.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Intent: emergencies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Layer 3 - injects the patient context.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Layer 4 - lightweight regex scan for secondary HTN symptom patterns (sleep apnea, pounding heart) and nudges the agent if it finds something</a:t>
            </a:r>
          </a:p>
          <a:p>
            <a:r>
              <a:rPr lang="en-US" sz="1200" b="0" kern="1200" dirty="0">
                <a:solidFill>
                  <a:schemeClr val="tx1"/>
                </a:solidFill>
                <a:effectLst/>
                <a:latin typeface="+mn-lt"/>
                <a:ea typeface="+mn-ea"/>
                <a:cs typeface="+mn-cs"/>
              </a:rPr>
              <a:t>Layer 5 - checks tone against care-state expectations (crisis response can't be chatty)</a:t>
            </a:r>
          </a:p>
          <a:p>
            <a:r>
              <a:rPr lang="en-US" sz="1200" b="0" kern="1200" dirty="0">
                <a:solidFill>
                  <a:schemeClr val="tx1"/>
                </a:solidFill>
                <a:effectLst/>
                <a:latin typeface="+mn-lt"/>
                <a:ea typeface="+mn-ea"/>
                <a:cs typeface="+mn-cs"/>
              </a:rPr>
              <a:t>Layer 6 - re-checks scope in case the agent drifted.</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Layer 7 - re-scans for emergency keywords in the response itself</a:t>
            </a:r>
          </a:p>
          <a:p>
            <a:r>
              <a:rPr lang="en-US" sz="1200" b="0" kern="1200" dirty="0">
                <a:solidFill>
                  <a:schemeClr val="tx1"/>
                </a:solidFill>
                <a:effectLst/>
                <a:latin typeface="+mn-lt"/>
                <a:ea typeface="+mn-ea"/>
                <a:cs typeface="+mn-cs"/>
              </a:rPr>
              <a:t>Layer 8 - strips any leaked PHI or internal metadata.</a:t>
            </a:r>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13</a:t>
            </a:fld>
            <a:endParaRPr lang="en-US"/>
          </a:p>
        </p:txBody>
      </p:sp>
    </p:spTree>
    <p:extLst>
      <p:ext uri="{BB962C8B-B14F-4D97-AF65-F5344CB8AC3E}">
        <p14:creationId xmlns:p14="http://schemas.microsoft.com/office/powerpoint/2010/main" val="40745531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When the context window approaches its limit:</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older messages in the current session get summarized while keeping the most recent 5 turns verbatim</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Tool result details get compressed.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But the care thread summary is always preserved — it's how the agent remembers that this patient is anxious about polypharmacy, or that they had ankle swelling last month.</a:t>
            </a:r>
          </a:p>
        </p:txBody>
      </p:sp>
      <p:sp>
        <p:nvSpPr>
          <p:cNvPr id="4" name="Slide Number Placeholder 3"/>
          <p:cNvSpPr>
            <a:spLocks noGrp="1"/>
          </p:cNvSpPr>
          <p:nvPr>
            <p:ph type="sldNum" sz="quarter" idx="5"/>
          </p:nvPr>
        </p:nvSpPr>
        <p:spPr/>
        <p:txBody>
          <a:bodyPr/>
          <a:lstStyle/>
          <a:p>
            <a:fld id="{5B6AE6B1-680D-AA47-8185-7F19B9E13D29}" type="slidenum">
              <a:rPr lang="en-US" smtClean="0"/>
              <a:t>14</a:t>
            </a:fld>
            <a:endParaRPr lang="en-US"/>
          </a:p>
        </p:txBody>
      </p:sp>
    </p:spTree>
    <p:extLst>
      <p:ext uri="{BB962C8B-B14F-4D97-AF65-F5344CB8AC3E}">
        <p14:creationId xmlns:p14="http://schemas.microsoft.com/office/powerpoint/2010/main" val="3845151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State machine is the backbone of the clinical workflow.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Every state transition is deterministic and logged. The LLM doesn't decide state transitions — the orchestrator does, based on objective data.</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Patient's current state determines three things: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sz="1200" b="0" kern="1200" dirty="0">
                <a:solidFill>
                  <a:schemeClr val="tx1"/>
                </a:solidFill>
                <a:effectLst/>
                <a:latin typeface="+mn-lt"/>
                <a:ea typeface="+mn-ea"/>
                <a:cs typeface="+mn-cs"/>
              </a:rPr>
              <a:t>which decision tree to use</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sz="1200" b="0" kern="1200" dirty="0">
                <a:solidFill>
                  <a:schemeClr val="tx1"/>
                </a:solidFill>
                <a:effectLst/>
                <a:latin typeface="+mn-lt"/>
                <a:ea typeface="+mn-ea"/>
                <a:cs typeface="+mn-cs"/>
              </a:rPr>
              <a:t>which follow-up schedule to apply,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sz="1200" b="0" kern="1200" dirty="0">
                <a:solidFill>
                  <a:schemeClr val="tx1"/>
                </a:solidFill>
                <a:effectLst/>
                <a:latin typeface="+mn-lt"/>
                <a:ea typeface="+mn-ea"/>
                <a:cs typeface="+mn-cs"/>
              </a:rPr>
              <a:t>how to interpret new BP readings.</a:t>
            </a:r>
          </a:p>
          <a:p>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15</a:t>
            </a:fld>
            <a:endParaRPr lang="en-US"/>
          </a:p>
        </p:txBody>
      </p:sp>
    </p:spTree>
    <p:extLst>
      <p:ext uri="{BB962C8B-B14F-4D97-AF65-F5344CB8AC3E}">
        <p14:creationId xmlns:p14="http://schemas.microsoft.com/office/powerpoint/2010/main" val="30664489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Stage 1 HTN with low cardiovascular risk goes to LIFESTYLE_ONLY for 3-6 months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Stage 2 or high risk goes straight to THERAPY_ADJUSTMENT</a:t>
            </a:r>
          </a:p>
          <a:p>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16</a:t>
            </a:fld>
            <a:endParaRPr lang="en-US"/>
          </a:p>
        </p:txBody>
      </p:sp>
    </p:spTree>
    <p:extLst>
      <p:ext uri="{BB962C8B-B14F-4D97-AF65-F5344CB8AC3E}">
        <p14:creationId xmlns:p14="http://schemas.microsoft.com/office/powerpoint/2010/main" val="3094685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assessment flow is where most of the clinical nuance lives.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From CONFIRMING_UNCONTROL, three paths</a:t>
            </a:r>
          </a:p>
          <a:p>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17</a:t>
            </a:fld>
            <a:endParaRPr lang="en-US"/>
          </a:p>
        </p:txBody>
      </p:sp>
    </p:spTree>
    <p:extLst>
      <p:ext uri="{BB962C8B-B14F-4D97-AF65-F5344CB8AC3E}">
        <p14:creationId xmlns:p14="http://schemas.microsoft.com/office/powerpoint/2010/main" val="24110875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Safety monitoring states handle the things that can go wrong during treatment.</a:t>
            </a:r>
          </a:p>
          <a:p>
            <a:r>
              <a:rPr lang="en-US" sz="1200" b="0" kern="1200" dirty="0">
                <a:solidFill>
                  <a:schemeClr val="tx1"/>
                </a:solidFill>
                <a:effectLst/>
                <a:latin typeface="+mn-lt"/>
                <a:ea typeface="+mn-ea"/>
                <a:cs typeface="+mn-cs"/>
              </a:rPr>
              <a:t>The exception states: RESISTANT_HTN always goes to PENDING_CLINICIAN for specialist referral. PENDING_CLINICIAN resolves when the clinician either approves a therapy change — AWAITING_DRUG_EFFECT — or determines no change is needed — AT_GOAL</a:t>
            </a:r>
          </a:p>
        </p:txBody>
      </p:sp>
      <p:sp>
        <p:nvSpPr>
          <p:cNvPr id="4" name="Slide Number Placeholder 3"/>
          <p:cNvSpPr>
            <a:spLocks noGrp="1"/>
          </p:cNvSpPr>
          <p:nvPr>
            <p:ph type="sldNum" sz="quarter" idx="5"/>
          </p:nvPr>
        </p:nvSpPr>
        <p:spPr/>
        <p:txBody>
          <a:bodyPr/>
          <a:lstStyle/>
          <a:p>
            <a:fld id="{5B6AE6B1-680D-AA47-8185-7F19B9E13D29}" type="slidenum">
              <a:rPr lang="en-US" smtClean="0"/>
              <a:t>18</a:t>
            </a:fld>
            <a:endParaRPr lang="en-US"/>
          </a:p>
        </p:txBody>
      </p:sp>
    </p:spTree>
    <p:extLst>
      <p:ext uri="{BB962C8B-B14F-4D97-AF65-F5344CB8AC3E}">
        <p14:creationId xmlns:p14="http://schemas.microsoft.com/office/powerpoint/2010/main" val="25061481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Crisis is a universal override — any state can transition to CRISIS when BP is at or above 180/120 or emergency symptoms are detected</a:t>
            </a:r>
          </a:p>
          <a:p>
            <a:r>
              <a:rPr lang="en-US" sz="1200" b="0" kern="1200" dirty="0">
                <a:solidFill>
                  <a:schemeClr val="tx1"/>
                </a:solidFill>
                <a:effectLst/>
                <a:latin typeface="+mn-lt"/>
                <a:ea typeface="+mn-ea"/>
                <a:cs typeface="+mn-cs"/>
              </a:rPr>
              <a:t>This is enforced deterministically: the BP classification runs on every recorded reading, and the emergency keyword scan runs on every inbound message.</a:t>
            </a:r>
          </a:p>
        </p:txBody>
      </p:sp>
      <p:sp>
        <p:nvSpPr>
          <p:cNvPr id="4" name="Slide Number Placeholder 3"/>
          <p:cNvSpPr>
            <a:spLocks noGrp="1"/>
          </p:cNvSpPr>
          <p:nvPr>
            <p:ph type="sldNum" sz="quarter" idx="5"/>
          </p:nvPr>
        </p:nvSpPr>
        <p:spPr/>
        <p:txBody>
          <a:bodyPr/>
          <a:lstStyle/>
          <a:p>
            <a:fld id="{5B6AE6B1-680D-AA47-8185-7F19B9E13D29}" type="slidenum">
              <a:rPr lang="en-US" smtClean="0"/>
              <a:t>19</a:t>
            </a:fld>
            <a:endParaRPr lang="en-US"/>
          </a:p>
        </p:txBody>
      </p:sp>
    </p:spTree>
    <p:extLst>
      <p:ext uri="{BB962C8B-B14F-4D97-AF65-F5344CB8AC3E}">
        <p14:creationId xmlns:p14="http://schemas.microsoft.com/office/powerpoint/2010/main" val="16598751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 state machine captures the reality that hypertension management is non-linear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Green for stable/goal states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blue for entry and active treatment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yellow for assessment and confirming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orange for safety monitoring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red for exception and escalation states.</a:t>
            </a:r>
          </a:p>
          <a:p>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20</a:t>
            </a:fld>
            <a:endParaRPr lang="en-US"/>
          </a:p>
        </p:txBody>
      </p:sp>
    </p:spTree>
    <p:extLst>
      <p:ext uri="{BB962C8B-B14F-4D97-AF65-F5344CB8AC3E}">
        <p14:creationId xmlns:p14="http://schemas.microsoft.com/office/powerpoint/2010/main" val="15437303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summarizes the proposed decision-tree mechanics from architecture.md, Sections 2 and 13. Care state selects the entry tree. Each node records its evidence and answer. Unresolved decisions route to retrieval with citations or clinician review. This is a design specification, not a validated clinical protocol.</a:t>
            </a:r>
          </a:p>
        </p:txBody>
      </p:sp>
      <p:sp>
        <p:nvSpPr>
          <p:cNvPr id="4" name="Slide Number Placeholder 3"/>
          <p:cNvSpPr>
            <a:spLocks noGrp="1"/>
          </p:cNvSpPr>
          <p:nvPr>
            <p:ph type="sldNum" sz="quarter" idx="5"/>
          </p:nvPr>
        </p:nvSpPr>
        <p:spPr/>
        <p:txBody>
          <a:bodyPr/>
          <a:lstStyle/>
          <a:p>
            <a:fld id="{5B6AE6B1-680D-AA47-8185-7F19B9E13D29}" type="slidenum">
              <a:rPr lang="en-US" smtClean="0"/>
              <a:t>21</a:t>
            </a:fld>
            <a:endParaRPr lang="en-US"/>
          </a:p>
        </p:txBody>
      </p:sp>
    </p:spTree>
    <p:extLst>
      <p:ext uri="{BB962C8B-B14F-4D97-AF65-F5344CB8AC3E}">
        <p14:creationId xmlns:p14="http://schemas.microsoft.com/office/powerpoint/2010/main" val="27283955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summarizes architecture.md, Sections 3, 4, 13, and 14. The proposed pipeline separates class selection, medication and dose resolution, safety checks, authorization, execution, and follow-up. Staged autonomy is a design assumption, not evidence of clinical validation or prescribing authority.</a:t>
            </a:r>
          </a:p>
        </p:txBody>
      </p:sp>
      <p:sp>
        <p:nvSpPr>
          <p:cNvPr id="4" name="Slide Number Placeholder 3"/>
          <p:cNvSpPr>
            <a:spLocks noGrp="1"/>
          </p:cNvSpPr>
          <p:nvPr>
            <p:ph type="sldNum" sz="quarter" idx="5"/>
          </p:nvPr>
        </p:nvSpPr>
        <p:spPr/>
        <p:txBody>
          <a:bodyPr/>
          <a:lstStyle/>
          <a:p>
            <a:fld id="{5B6AE6B1-680D-AA47-8185-7F19B9E13D29}" type="slidenum">
              <a:rPr lang="en-US" smtClean="0"/>
              <a:t>22</a:t>
            </a:fld>
            <a:endParaRPr lang="en-US"/>
          </a:p>
        </p:txBody>
      </p:sp>
    </p:spTree>
    <p:extLst>
      <p:ext uri="{BB962C8B-B14F-4D97-AF65-F5344CB8AC3E}">
        <p14:creationId xmlns:p14="http://schemas.microsoft.com/office/powerpoint/2010/main" val="1462738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Decision Trees</a:t>
            </a:r>
            <a:r>
              <a:rPr lang="en-US" sz="1200" b="0" kern="1200" dirty="0">
                <a:solidFill>
                  <a:schemeClr val="tx1"/>
                </a:solidFill>
                <a:effectLst/>
                <a:latin typeface="+mn-lt"/>
                <a:ea typeface="+mn-ea"/>
                <a:cs typeface="+mn-cs"/>
              </a:rPr>
              <a:t> — designed to handle about 80% of cases. </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tree is traversed node by node. If all nodes resolve via data lookup with confidence above 0.95, the recommendation is AUTO_APPROVABLE If some nodes required contextual bypasses and confidence is between 0.70 and 0.95, it goes to CLINICIAN_REVIEW.</a:t>
            </a:r>
          </a:p>
          <a:p>
            <a:r>
              <a:rPr lang="en-US" sz="1200" kern="1200" dirty="0">
                <a:solidFill>
                  <a:schemeClr val="tx1"/>
                </a:solidFill>
                <a:effectLst/>
                <a:latin typeface="+mn-lt"/>
                <a:ea typeface="+mn-ea"/>
                <a:cs typeface="+mn-cs"/>
              </a:rPr>
              <a:t>A </a:t>
            </a:r>
            <a:r>
              <a:rPr lang="en-US" sz="1200" b="0" kern="1200" dirty="0">
                <a:solidFill>
                  <a:schemeClr val="tx1"/>
                </a:solidFill>
                <a:effectLst/>
                <a:latin typeface="+mn-lt"/>
                <a:ea typeface="+mn-ea"/>
                <a:cs typeface="+mn-cs"/>
              </a:rPr>
              <a:t>0.70 confidence means: the tree asked a question (e.g., "Does this patient have heart failure?"), there was no HF diagnosis in the EHR, but the patient is o</a:t>
            </a:r>
            <a:r>
              <a:rPr lang="en-US" sz="1200" kern="1200" dirty="0">
                <a:solidFill>
                  <a:schemeClr val="tx1"/>
                </a:solidFill>
                <a:effectLst/>
                <a:latin typeface="+mn-lt"/>
                <a:ea typeface="+mn-ea"/>
                <a:cs typeface="+mn-cs"/>
              </a:rPr>
              <a:t>lder with risk factors — so we're </a:t>
            </a:r>
            <a:r>
              <a:rPr lang="en-US" sz="1200" i="1" kern="1200" dirty="0">
                <a:solidFill>
                  <a:schemeClr val="tx1"/>
                </a:solidFill>
                <a:effectLst/>
                <a:latin typeface="+mn-lt"/>
                <a:ea typeface="+mn-ea"/>
                <a:cs typeface="+mn-cs"/>
              </a:rPr>
              <a:t>probably</a:t>
            </a:r>
            <a:r>
              <a:rPr lang="en-US" sz="1200" kern="1200" dirty="0">
                <a:solidFill>
                  <a:schemeClr val="tx1"/>
                </a:solidFill>
                <a:effectLst/>
                <a:latin typeface="+mn-lt"/>
                <a:ea typeface="+mn-ea"/>
                <a:cs typeface="+mn-cs"/>
              </a:rPr>
              <a:t> right that the answer is "no," but we're not confident enough to act autonomously on it.</a:t>
            </a:r>
            <a:br>
              <a:rPr lang="en-US" sz="1200" b="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Every contextual bypass node in the tree would need its own explicit rule set defining what "high risk" means </a:t>
            </a:r>
            <a:r>
              <a:rPr lang="en-US" sz="1200" b="1" kern="1200" dirty="0">
                <a:solidFill>
                  <a:schemeClr val="tx1"/>
                </a:solidFill>
                <a:effectLst/>
                <a:latin typeface="+mn-lt"/>
                <a:ea typeface="+mn-ea"/>
                <a:cs typeface="+mn-cs"/>
              </a:rPr>
              <a:t>for</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that</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specific</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question</a:t>
            </a:r>
            <a:r>
              <a:rPr lang="en-US" sz="1200" kern="1200" dirty="0">
                <a:solidFill>
                  <a:schemeClr val="tx1"/>
                </a:solidFill>
                <a:effectLst/>
                <a:latin typeface="+mn-lt"/>
                <a:ea typeface="+mn-ea"/>
                <a:cs typeface="+mn-cs"/>
              </a:rPr>
              <a:t>. The criteria for  "probably no HF" are different from "probably no renal artery stenosis" or "probably no pheochromocytoma."</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Absence of evidence is not evidence of </a:t>
            </a:r>
            <a:r>
              <a:rPr lang="en-US" sz="1200" kern="1200" dirty="0" err="1">
                <a:solidFill>
                  <a:schemeClr val="tx1"/>
                </a:solidFill>
                <a:effectLst/>
                <a:latin typeface="+mn-lt"/>
                <a:ea typeface="+mn-ea"/>
                <a:cs typeface="+mn-cs"/>
              </a:rPr>
              <a:t>absense</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B6AE6B1-680D-AA47-8185-7F19B9E13D29}" type="slidenum">
              <a:rPr lang="en-US" smtClean="0"/>
              <a:t>23</a:t>
            </a:fld>
            <a:endParaRPr lang="en-US"/>
          </a:p>
        </p:txBody>
      </p:sp>
    </p:spTree>
    <p:extLst>
      <p:ext uri="{BB962C8B-B14F-4D97-AF65-F5344CB8AC3E}">
        <p14:creationId xmlns:p14="http://schemas.microsoft.com/office/powerpoint/2010/main" val="371888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Communication uses RAG in every layer — even when the decision tree made the choice, the agent still retrieves guidelines to explain why. Clinical reasoning only happens in Layer 2.</a:t>
            </a:r>
          </a:p>
        </p:txBody>
      </p:sp>
      <p:sp>
        <p:nvSpPr>
          <p:cNvPr id="4" name="Slide Number Placeholder 3"/>
          <p:cNvSpPr>
            <a:spLocks noGrp="1"/>
          </p:cNvSpPr>
          <p:nvPr>
            <p:ph type="sldNum" sz="quarter" idx="5"/>
          </p:nvPr>
        </p:nvSpPr>
        <p:spPr/>
        <p:txBody>
          <a:bodyPr/>
          <a:lstStyle/>
          <a:p>
            <a:fld id="{5B6AE6B1-680D-AA47-8185-7F19B9E13D29}" type="slidenum">
              <a:rPr lang="en-US" smtClean="0"/>
              <a:t>24</a:t>
            </a:fld>
            <a:endParaRPr lang="en-US"/>
          </a:p>
        </p:txBody>
      </p:sp>
    </p:spTree>
    <p:extLst>
      <p:ext uri="{BB962C8B-B14F-4D97-AF65-F5344CB8AC3E}">
        <p14:creationId xmlns:p14="http://schemas.microsoft.com/office/powerpoint/2010/main" val="23202366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These constraints prevent the most dangerous failure mode for a RAG system — hallucinated or unsourced clinical recommendations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All citations are verified against the retrieved chunks before output. If the model claims a guideline says something, the system checks that the retrieved text actually says it.</a:t>
            </a:r>
          </a:p>
        </p:txBody>
      </p:sp>
      <p:sp>
        <p:nvSpPr>
          <p:cNvPr id="4" name="Slide Number Placeholder 3"/>
          <p:cNvSpPr>
            <a:spLocks noGrp="1"/>
          </p:cNvSpPr>
          <p:nvPr>
            <p:ph type="sldNum" sz="quarter" idx="5"/>
          </p:nvPr>
        </p:nvSpPr>
        <p:spPr/>
        <p:txBody>
          <a:bodyPr/>
          <a:lstStyle/>
          <a:p>
            <a:fld id="{5B6AE6B1-680D-AA47-8185-7F19B9E13D29}" type="slidenum">
              <a:rPr lang="en-US" smtClean="0"/>
              <a:t>25</a:t>
            </a:fld>
            <a:endParaRPr lang="en-US"/>
          </a:p>
        </p:txBody>
      </p:sp>
    </p:spTree>
    <p:extLst>
      <p:ext uri="{BB962C8B-B14F-4D97-AF65-F5344CB8AC3E}">
        <p14:creationId xmlns:p14="http://schemas.microsoft.com/office/powerpoint/2010/main" val="8513232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26</a:t>
            </a:fld>
            <a:endParaRPr lang="en-US"/>
          </a:p>
        </p:txBody>
      </p:sp>
    </p:spTree>
    <p:extLst>
      <p:ext uri="{BB962C8B-B14F-4D97-AF65-F5344CB8AC3E}">
        <p14:creationId xmlns:p14="http://schemas.microsoft.com/office/powerpoint/2010/main" val="20764754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Residual risk is LOW. The most likely failure scenario — patient uses non-standard phrasing, LLM misclassifies, re-scan doesn't catch it — is mitigated by the keyword list being continuously expanded from real conversations</a:t>
            </a:r>
          </a:p>
        </p:txBody>
      </p:sp>
      <p:sp>
        <p:nvSpPr>
          <p:cNvPr id="4" name="Slide Number Placeholder 3"/>
          <p:cNvSpPr>
            <a:spLocks noGrp="1"/>
          </p:cNvSpPr>
          <p:nvPr>
            <p:ph type="sldNum" sz="quarter" idx="5"/>
          </p:nvPr>
        </p:nvSpPr>
        <p:spPr/>
        <p:txBody>
          <a:bodyPr/>
          <a:lstStyle/>
          <a:p>
            <a:fld id="{5B6AE6B1-680D-AA47-8185-7F19B9E13D29}" type="slidenum">
              <a:rPr lang="en-US" smtClean="0"/>
              <a:t>27</a:t>
            </a:fld>
            <a:endParaRPr lang="en-US"/>
          </a:p>
        </p:txBody>
      </p:sp>
    </p:spTree>
    <p:extLst>
      <p:ext uri="{BB962C8B-B14F-4D97-AF65-F5344CB8AC3E}">
        <p14:creationId xmlns:p14="http://schemas.microsoft.com/office/powerpoint/2010/main" val="41359778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Adherence gating prevents the most common iatrogenic harm: adding drugs to a patient who isn't taking their current ones.</a:t>
            </a:r>
          </a:p>
        </p:txBody>
      </p:sp>
      <p:sp>
        <p:nvSpPr>
          <p:cNvPr id="4" name="Slide Number Placeholder 3"/>
          <p:cNvSpPr>
            <a:spLocks noGrp="1"/>
          </p:cNvSpPr>
          <p:nvPr>
            <p:ph type="sldNum" sz="quarter" idx="5"/>
          </p:nvPr>
        </p:nvSpPr>
        <p:spPr/>
        <p:txBody>
          <a:bodyPr/>
          <a:lstStyle/>
          <a:p>
            <a:fld id="{5B6AE6B1-680D-AA47-8185-7F19B9E13D29}" type="slidenum">
              <a:rPr lang="en-US" smtClean="0"/>
              <a:t>28</a:t>
            </a:fld>
            <a:endParaRPr lang="en-US"/>
          </a:p>
        </p:txBody>
      </p:sp>
    </p:spTree>
    <p:extLst>
      <p:ext uri="{BB962C8B-B14F-4D97-AF65-F5344CB8AC3E}">
        <p14:creationId xmlns:p14="http://schemas.microsoft.com/office/powerpoint/2010/main" val="15123774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FHIR resources</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**Operational DB**</a:t>
            </a:r>
            <a:r>
              <a:rPr lang="en-US" sz="1200" b="0" kern="1200" dirty="0">
                <a:solidFill>
                  <a:schemeClr val="tx1"/>
                </a:solidFill>
                <a:effectLst/>
                <a:latin typeface="+mn-lt"/>
                <a:ea typeface="+mn-ea"/>
                <a:cs typeface="+mn-cs"/>
              </a:rPr>
              <a:t> — the system's working memory: patient care state, conversation history with every message and tool call, decision audit logs showing every tree traversal, escalation records, follow-up schedules, and RAG reasoning logs.</a:t>
            </a:r>
          </a:p>
          <a:p>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**Reference Tables**</a:t>
            </a:r>
            <a:r>
              <a:rPr lang="en-US" sz="1200" b="0" kern="1200" dirty="0">
                <a:solidFill>
                  <a:schemeClr val="tx1"/>
                </a:solidFill>
                <a:effectLst/>
                <a:latin typeface="+mn-lt"/>
                <a:ea typeface="+mn-ea"/>
                <a:cs typeface="+mn-cs"/>
              </a:rPr>
              <a:t> — 18 lookup tables loaded in-memory at startup. These encode clinical rules: drug classification, dosing, safety thresholds, side effects, single-pill combinations, contraindications, and more. Separating clinical knowledge from code means updating a dosing recommendation doesn't require a code change — you update the table.</a:t>
            </a:r>
          </a:p>
          <a:p>
            <a:endParaRPr lang="en-US" sz="1200" b="0" kern="1200" dirty="0">
              <a:solidFill>
                <a:schemeClr val="tx1"/>
              </a:solidFill>
              <a:effectLst/>
              <a:latin typeface="+mn-lt"/>
              <a:ea typeface="+mn-ea"/>
              <a:cs typeface="+mn-cs"/>
            </a:endParaRPr>
          </a:p>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B6AE6B1-680D-AA47-8185-7F19B9E13D29}" type="slidenum">
              <a:rPr lang="en-US" smtClean="0"/>
              <a:t>29</a:t>
            </a:fld>
            <a:endParaRPr lang="en-US"/>
          </a:p>
        </p:txBody>
      </p:sp>
    </p:spTree>
    <p:extLst>
      <p:ext uri="{BB962C8B-B14F-4D97-AF65-F5344CB8AC3E}">
        <p14:creationId xmlns:p14="http://schemas.microsoft.com/office/powerpoint/2010/main" val="38302313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tier map is critical for the decision trees. When a tree asks "is the patient on a moderate or high dose?", the system looks up the tier map: lisinopril 10mg is low, 20mg is moderate, 40mg is high. This determines whether we </a:t>
            </a:r>
            <a:r>
              <a:rPr lang="en-US" sz="1200" b="0" kern="1200" dirty="0" err="1">
                <a:solidFill>
                  <a:schemeClr val="tx1"/>
                </a:solidFill>
                <a:effectLst/>
                <a:latin typeface="+mn-lt"/>
                <a:ea typeface="+mn-ea"/>
                <a:cs typeface="+mn-cs"/>
              </a:rPr>
              <a:t>uptitrate</a:t>
            </a:r>
            <a:r>
              <a:rPr lang="en-US" sz="1200" b="0" kern="1200" dirty="0">
                <a:solidFill>
                  <a:schemeClr val="tx1"/>
                </a:solidFill>
                <a:effectLst/>
                <a:latin typeface="+mn-lt"/>
                <a:ea typeface="+mn-ea"/>
                <a:cs typeface="+mn-cs"/>
              </a:rPr>
              <a:t> the current drug or add a new class.</a:t>
            </a:r>
          </a:p>
          <a:p>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 titration steps encode the exact dose escalation path: lisinopril goes 10 to 20 to 40. The system follows this deterministically — it doesn't ask the LLM what dose comes next.</a:t>
            </a:r>
          </a:p>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B6AE6B1-680D-AA47-8185-7F19B9E13D29}" type="slidenum">
              <a:rPr lang="en-US" smtClean="0"/>
              <a:t>30</a:t>
            </a:fld>
            <a:endParaRPr lang="en-US"/>
          </a:p>
        </p:txBody>
      </p:sp>
    </p:spTree>
    <p:extLst>
      <p:ext uri="{BB962C8B-B14F-4D97-AF65-F5344CB8AC3E}">
        <p14:creationId xmlns:p14="http://schemas.microsoft.com/office/powerpoint/2010/main" val="13106051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32</a:t>
            </a:fld>
            <a:endParaRPr lang="en-US"/>
          </a:p>
        </p:txBody>
      </p:sp>
    </p:spTree>
    <p:extLst>
      <p:ext uri="{BB962C8B-B14F-4D97-AF65-F5344CB8AC3E}">
        <p14:creationId xmlns:p14="http://schemas.microsoft.com/office/powerpoint/2010/main" val="14038305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33</a:t>
            </a:fld>
            <a:endParaRPr lang="en-US"/>
          </a:p>
        </p:txBody>
      </p:sp>
    </p:spTree>
    <p:extLst>
      <p:ext uri="{BB962C8B-B14F-4D97-AF65-F5344CB8AC3E}">
        <p14:creationId xmlns:p14="http://schemas.microsoft.com/office/powerpoint/2010/main" val="38376195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Actions where the risk of not acting exceeds the risk of acting are autonomous from the start.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Beyond prescribing, many agent actions are autonomous from Day 1 because they're inherently safe or deterministically controlled:</a:t>
            </a:r>
          </a:p>
          <a:p>
            <a:pPr marL="171450" indent="-171450">
              <a:buFontTx/>
              <a:buChar char="-"/>
            </a:pPr>
            <a:r>
              <a:rPr lang="en-US" sz="1200" b="0" kern="1200" dirty="0">
                <a:solidFill>
                  <a:schemeClr val="tx1"/>
                </a:solidFill>
                <a:effectLst/>
                <a:latin typeface="+mn-lt"/>
                <a:ea typeface="+mn-ea"/>
                <a:cs typeface="+mn-cs"/>
              </a:rPr>
              <a:t>Recording and classifying BP readings — deterministic rules, no clinical judgment.</a:t>
            </a:r>
          </a:p>
          <a:p>
            <a:pPr marL="171450" indent="-171450">
              <a:buFontTx/>
              <a:buChar char="-"/>
            </a:pPr>
            <a:r>
              <a:rPr lang="en-US" sz="1200" b="0" kern="1200" dirty="0">
                <a:solidFill>
                  <a:schemeClr val="tx1"/>
                </a:solidFill>
                <a:effectLst/>
                <a:latin typeface="+mn-lt"/>
                <a:ea typeface="+mn-ea"/>
                <a:cs typeface="+mn-cs"/>
              </a:rPr>
              <a:t>Lifestyle coaching — evidence-based guidance, no medication risk.</a:t>
            </a:r>
          </a:p>
          <a:p>
            <a:pPr marL="171450" indent="-171450">
              <a:buFontTx/>
              <a:buChar char="-"/>
            </a:pPr>
            <a:r>
              <a:rPr lang="en-US" sz="1200" b="0" kern="1200" dirty="0">
                <a:solidFill>
                  <a:schemeClr val="tx1"/>
                </a:solidFill>
                <a:effectLst/>
                <a:latin typeface="+mn-lt"/>
                <a:ea typeface="+mn-ea"/>
                <a:cs typeface="+mn-cs"/>
              </a:rPr>
              <a:t>Triggering crisis escalation — this is a hard-coded safety layer, the faster the better.</a:t>
            </a:r>
          </a:p>
          <a:p>
            <a:pPr marL="171450" indent="-171450">
              <a:buFontTx/>
              <a:buChar char="-"/>
            </a:pPr>
            <a:r>
              <a:rPr lang="en-US" sz="1200" b="0" kern="1200" dirty="0">
                <a:solidFill>
                  <a:schemeClr val="tx1"/>
                </a:solidFill>
                <a:effectLst/>
                <a:latin typeface="+mn-lt"/>
                <a:ea typeface="+mn-ea"/>
                <a:cs typeface="+mn-cs"/>
              </a:rPr>
              <a:t>Scheduling follow-ups — guideline-based intervals.</a:t>
            </a:r>
          </a:p>
          <a:p>
            <a:pPr marL="171450" indent="-171450">
              <a:buFontTx/>
              <a:buChar char="-"/>
            </a:pPr>
            <a:r>
              <a:rPr lang="en-US" sz="1200" b="0" kern="1200" dirty="0">
                <a:solidFill>
                  <a:schemeClr val="tx1"/>
                </a:solidFill>
                <a:effectLst/>
                <a:latin typeface="+mn-lt"/>
                <a:ea typeface="+mn-ea"/>
                <a:cs typeface="+mn-cs"/>
              </a:rPr>
              <a:t>Ordering routine monitoring labs — per drug class rules, it's more dangerous to forget the lab than to order it.</a:t>
            </a:r>
          </a:p>
          <a:p>
            <a:pPr marL="171450" indent="-171450">
              <a:buFontTx/>
              <a:buChar char="-"/>
            </a:pPr>
            <a:r>
              <a:rPr lang="en-US" sz="1200" b="0" kern="1200" dirty="0">
                <a:solidFill>
                  <a:schemeClr val="tx1"/>
                </a:solidFill>
                <a:effectLst/>
                <a:latin typeface="+mn-lt"/>
                <a:ea typeface="+mn-ea"/>
                <a:cs typeface="+mn-cs"/>
              </a:rPr>
              <a:t>Flagging monitoring gaps — deterministic date checking.</a:t>
            </a:r>
          </a:p>
          <a:p>
            <a:pPr marL="171450" indent="-171450">
              <a:buFontTx/>
              <a:buChar char="-"/>
            </a:pPr>
            <a:r>
              <a:rPr lang="en-US" sz="1200" b="0" kern="1200" dirty="0">
                <a:solidFill>
                  <a:schemeClr val="tx1"/>
                </a:solidFill>
                <a:effectLst/>
                <a:latin typeface="+mn-lt"/>
                <a:ea typeface="+mn-ea"/>
                <a:cs typeface="+mn-cs"/>
              </a:rPr>
              <a:t>Patient education — RAG over guidelines, conversational only, no prescribing implications.</a:t>
            </a:r>
          </a:p>
          <a:p>
            <a:pPr marL="171450" indent="-171450">
              <a:buFontTx/>
              <a:buChar char="-"/>
            </a:pPr>
            <a:endParaRPr lang="en-US" sz="1200" b="0" kern="1200" dirty="0">
              <a:solidFill>
                <a:schemeClr val="tx1"/>
              </a:solidFill>
              <a:effectLst/>
              <a:latin typeface="+mn-lt"/>
              <a:ea typeface="+mn-ea"/>
              <a:cs typeface="+mn-cs"/>
            </a:endParaRPr>
          </a:p>
          <a:p>
            <a:pPr marL="171450" indent="-171450">
              <a:buFontTx/>
              <a:buChar char="-"/>
            </a:pP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B6AE6B1-680D-AA47-8185-7F19B9E13D29}" type="slidenum">
              <a:rPr lang="en-US" smtClean="0"/>
              <a:t>34</a:t>
            </a:fld>
            <a:endParaRPr lang="en-US"/>
          </a:p>
        </p:txBody>
      </p:sp>
    </p:spTree>
    <p:extLst>
      <p:ext uri="{BB962C8B-B14F-4D97-AF65-F5344CB8AC3E}">
        <p14:creationId xmlns:p14="http://schemas.microsoft.com/office/powerpoint/2010/main" val="27529451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goal: a clinician should be able to review and act on a routine prescribing recommendation in under 60 seconds because the system has already done the analysis.</a:t>
            </a:r>
          </a:p>
        </p:txBody>
      </p:sp>
      <p:sp>
        <p:nvSpPr>
          <p:cNvPr id="4" name="Slide Number Placeholder 3"/>
          <p:cNvSpPr>
            <a:spLocks noGrp="1"/>
          </p:cNvSpPr>
          <p:nvPr>
            <p:ph type="sldNum" sz="quarter" idx="5"/>
          </p:nvPr>
        </p:nvSpPr>
        <p:spPr/>
        <p:txBody>
          <a:bodyPr/>
          <a:lstStyle/>
          <a:p>
            <a:fld id="{5B6AE6B1-680D-AA47-8185-7F19B9E13D29}" type="slidenum">
              <a:rPr lang="en-US" smtClean="0"/>
              <a:t>36</a:t>
            </a:fld>
            <a:endParaRPr lang="en-US"/>
          </a:p>
        </p:txBody>
      </p:sp>
    </p:spTree>
    <p:extLst>
      <p:ext uri="{BB962C8B-B14F-4D97-AF65-F5344CB8AC3E}">
        <p14:creationId xmlns:p14="http://schemas.microsoft.com/office/powerpoint/2010/main" val="38967127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system doesn't let patients fall through the cracks - Each state has a defined escalation if the patient goes silent: proactive outreach, retry, then flag for the care team. </a:t>
            </a:r>
          </a:p>
        </p:txBody>
      </p:sp>
      <p:sp>
        <p:nvSpPr>
          <p:cNvPr id="4" name="Slide Number Placeholder 3"/>
          <p:cNvSpPr>
            <a:spLocks noGrp="1"/>
          </p:cNvSpPr>
          <p:nvPr>
            <p:ph type="sldNum" sz="quarter" idx="5"/>
          </p:nvPr>
        </p:nvSpPr>
        <p:spPr/>
        <p:txBody>
          <a:bodyPr/>
          <a:lstStyle/>
          <a:p>
            <a:fld id="{5B6AE6B1-680D-AA47-8185-7F19B9E13D29}" type="slidenum">
              <a:rPr lang="en-US" smtClean="0"/>
              <a:t>37</a:t>
            </a:fld>
            <a:endParaRPr lang="en-US"/>
          </a:p>
        </p:txBody>
      </p:sp>
    </p:spTree>
    <p:extLst>
      <p:ext uri="{BB962C8B-B14F-4D97-AF65-F5344CB8AC3E}">
        <p14:creationId xmlns:p14="http://schemas.microsoft.com/office/powerpoint/2010/main" val="27244608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Zero-citation recommendation rate catches cases where the LLM made a recommendation without grounding it in guidelines — that should be rare and trending toward zero.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**Patients Like Me**</a:t>
            </a:r>
            <a:r>
              <a:rPr lang="en-US" sz="1200" b="0" kern="1200" dirty="0">
                <a:solidFill>
                  <a:schemeClr val="tx1"/>
                </a:solidFill>
                <a:effectLst/>
                <a:latin typeface="+mn-lt"/>
                <a:ea typeface="+mn-ea"/>
                <a:cs typeface="+mn-cs"/>
              </a:rPr>
              <a:t> — the long-term vision. Moves beyond guidelines toward personalized treatment selection based on real-world outcomes from similar patients.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B6AE6B1-680D-AA47-8185-7F19B9E13D29}" type="slidenum">
              <a:rPr lang="en-US" smtClean="0"/>
              <a:t>39</a:t>
            </a:fld>
            <a:endParaRPr lang="en-US"/>
          </a:p>
        </p:txBody>
      </p:sp>
    </p:spTree>
    <p:extLst>
      <p:ext uri="{BB962C8B-B14F-4D97-AF65-F5344CB8AC3E}">
        <p14:creationId xmlns:p14="http://schemas.microsoft.com/office/powerpoint/2010/main" val="36764061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At scale (1,000 patients, ~60% stable, ~30% active, ~10% complex): estimated ~$500/month in LLM costs</a:t>
            </a:r>
            <a:endParaRPr lang="en-US" dirty="0"/>
          </a:p>
        </p:txBody>
      </p:sp>
      <p:sp>
        <p:nvSpPr>
          <p:cNvPr id="4" name="Slide Number Placeholder 3"/>
          <p:cNvSpPr>
            <a:spLocks noGrp="1"/>
          </p:cNvSpPr>
          <p:nvPr>
            <p:ph type="sldNum" sz="quarter" idx="5"/>
          </p:nvPr>
        </p:nvSpPr>
        <p:spPr/>
        <p:txBody>
          <a:bodyPr/>
          <a:lstStyle/>
          <a:p>
            <a:fld id="{5B6AE6B1-680D-AA47-8185-7F19B9E13D29}" type="slidenum">
              <a:rPr lang="en-US" smtClean="0"/>
              <a:t>40</a:t>
            </a:fld>
            <a:endParaRPr lang="en-US"/>
          </a:p>
        </p:txBody>
      </p:sp>
    </p:spTree>
    <p:extLst>
      <p:ext uri="{BB962C8B-B14F-4D97-AF65-F5344CB8AC3E}">
        <p14:creationId xmlns:p14="http://schemas.microsoft.com/office/powerpoint/2010/main" val="1979662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0F5E8-E1DA-9175-7B6D-D174EF3AC3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0AA30D-1ECA-8289-A7C2-B85EC2B286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066245-1016-7034-B915-83AA15D200B3}"/>
              </a:ext>
            </a:extLst>
          </p:cNvPr>
          <p:cNvSpPr>
            <a:spLocks noGrp="1"/>
          </p:cNvSpPr>
          <p:nvPr>
            <p:ph type="dt" sz="half" idx="10"/>
          </p:nvPr>
        </p:nvSpPr>
        <p:spPr/>
        <p:txBody>
          <a:bodyPr/>
          <a:lstStyle/>
          <a:p>
            <a:fld id="{7ECAC5D0-FCCF-C34A-9692-FF94B7EB5041}" type="datetimeFigureOut">
              <a:rPr lang="en-US" smtClean="0"/>
              <a:t>2/17/26</a:t>
            </a:fld>
            <a:endParaRPr lang="en-US"/>
          </a:p>
        </p:txBody>
      </p:sp>
      <p:sp>
        <p:nvSpPr>
          <p:cNvPr id="5" name="Footer Placeholder 4">
            <a:extLst>
              <a:ext uri="{FF2B5EF4-FFF2-40B4-BE49-F238E27FC236}">
                <a16:creationId xmlns:a16="http://schemas.microsoft.com/office/drawing/2014/main" id="{97F069D5-15A5-3402-C08D-27F374C370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8E95AA-EA68-EC0E-5494-E17666CCF6A1}"/>
              </a:ext>
            </a:extLst>
          </p:cNvPr>
          <p:cNvSpPr>
            <a:spLocks noGrp="1"/>
          </p:cNvSpPr>
          <p:nvPr>
            <p:ph type="sldNum" sz="quarter" idx="12"/>
          </p:nvPr>
        </p:nvSpPr>
        <p:spPr/>
        <p:txBody>
          <a:bodyPr/>
          <a:lstStyle/>
          <a:p>
            <a:fld id="{7E904BAC-9223-6F45-9412-8EA4A33C40D5}" type="slidenum">
              <a:rPr lang="en-US" smtClean="0"/>
              <a:t>‹#›</a:t>
            </a:fld>
            <a:endParaRPr lang="en-US"/>
          </a:p>
        </p:txBody>
      </p:sp>
    </p:spTree>
    <p:extLst>
      <p:ext uri="{BB962C8B-B14F-4D97-AF65-F5344CB8AC3E}">
        <p14:creationId xmlns:p14="http://schemas.microsoft.com/office/powerpoint/2010/main" val="920996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FAF72-1AEC-B95D-6152-F31100C43C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33EBDD-FB7E-2ECE-6439-86E87BF48D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C622B0-DC77-2322-38D8-4390FF009316}"/>
              </a:ext>
            </a:extLst>
          </p:cNvPr>
          <p:cNvSpPr>
            <a:spLocks noGrp="1"/>
          </p:cNvSpPr>
          <p:nvPr>
            <p:ph type="dt" sz="half" idx="10"/>
          </p:nvPr>
        </p:nvSpPr>
        <p:spPr/>
        <p:txBody>
          <a:bodyPr/>
          <a:lstStyle/>
          <a:p>
            <a:fld id="{7ECAC5D0-FCCF-C34A-9692-FF94B7EB5041}" type="datetimeFigureOut">
              <a:rPr lang="en-US" smtClean="0"/>
              <a:t>2/17/26</a:t>
            </a:fld>
            <a:endParaRPr lang="en-US"/>
          </a:p>
        </p:txBody>
      </p:sp>
      <p:sp>
        <p:nvSpPr>
          <p:cNvPr id="5" name="Footer Placeholder 4">
            <a:extLst>
              <a:ext uri="{FF2B5EF4-FFF2-40B4-BE49-F238E27FC236}">
                <a16:creationId xmlns:a16="http://schemas.microsoft.com/office/drawing/2014/main" id="{98506C0E-11CB-F0B3-7DEC-6C75EA010E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661348-98A9-0BE1-663E-4DA0487BC4D0}"/>
              </a:ext>
            </a:extLst>
          </p:cNvPr>
          <p:cNvSpPr>
            <a:spLocks noGrp="1"/>
          </p:cNvSpPr>
          <p:nvPr>
            <p:ph type="sldNum" sz="quarter" idx="12"/>
          </p:nvPr>
        </p:nvSpPr>
        <p:spPr/>
        <p:txBody>
          <a:bodyPr/>
          <a:lstStyle/>
          <a:p>
            <a:fld id="{7E904BAC-9223-6F45-9412-8EA4A33C40D5}" type="slidenum">
              <a:rPr lang="en-US" smtClean="0"/>
              <a:t>‹#›</a:t>
            </a:fld>
            <a:endParaRPr lang="en-US"/>
          </a:p>
        </p:txBody>
      </p:sp>
    </p:spTree>
    <p:extLst>
      <p:ext uri="{BB962C8B-B14F-4D97-AF65-F5344CB8AC3E}">
        <p14:creationId xmlns:p14="http://schemas.microsoft.com/office/powerpoint/2010/main" val="3546653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9CCA4-C205-3FCD-8631-B4DD6E6B45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10E70E4-AE50-68B2-2251-65FB44510C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B2D240-ED93-1493-459B-9E4CB49E3E20}"/>
              </a:ext>
            </a:extLst>
          </p:cNvPr>
          <p:cNvSpPr>
            <a:spLocks noGrp="1"/>
          </p:cNvSpPr>
          <p:nvPr>
            <p:ph type="dt" sz="half" idx="10"/>
          </p:nvPr>
        </p:nvSpPr>
        <p:spPr/>
        <p:txBody>
          <a:bodyPr/>
          <a:lstStyle/>
          <a:p>
            <a:fld id="{7ECAC5D0-FCCF-C34A-9692-FF94B7EB5041}" type="datetimeFigureOut">
              <a:rPr lang="en-US" smtClean="0"/>
              <a:t>2/17/26</a:t>
            </a:fld>
            <a:endParaRPr lang="en-US"/>
          </a:p>
        </p:txBody>
      </p:sp>
      <p:sp>
        <p:nvSpPr>
          <p:cNvPr id="5" name="Footer Placeholder 4">
            <a:extLst>
              <a:ext uri="{FF2B5EF4-FFF2-40B4-BE49-F238E27FC236}">
                <a16:creationId xmlns:a16="http://schemas.microsoft.com/office/drawing/2014/main" id="{49E15013-3532-BD6D-7A61-D712198C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DA08CC-3E8C-CD6A-1494-B7768E8FE327}"/>
              </a:ext>
            </a:extLst>
          </p:cNvPr>
          <p:cNvSpPr>
            <a:spLocks noGrp="1"/>
          </p:cNvSpPr>
          <p:nvPr>
            <p:ph type="sldNum" sz="quarter" idx="12"/>
          </p:nvPr>
        </p:nvSpPr>
        <p:spPr/>
        <p:txBody>
          <a:bodyPr/>
          <a:lstStyle/>
          <a:p>
            <a:fld id="{7E904BAC-9223-6F45-9412-8EA4A33C40D5}" type="slidenum">
              <a:rPr lang="en-US" smtClean="0"/>
              <a:t>‹#›</a:t>
            </a:fld>
            <a:endParaRPr lang="en-US"/>
          </a:p>
        </p:txBody>
      </p:sp>
    </p:spTree>
    <p:extLst>
      <p:ext uri="{BB962C8B-B14F-4D97-AF65-F5344CB8AC3E}">
        <p14:creationId xmlns:p14="http://schemas.microsoft.com/office/powerpoint/2010/main" val="1596724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C0E38-0620-FD51-52E3-30A523FF14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64F2F9-EC65-9311-EE6D-9102E73170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DCF04C-ED31-E116-8D82-A07C176F96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1A09CFB-7C5C-0C9B-CCD5-4F2265BF7CD7}"/>
              </a:ext>
            </a:extLst>
          </p:cNvPr>
          <p:cNvSpPr>
            <a:spLocks noGrp="1"/>
          </p:cNvSpPr>
          <p:nvPr>
            <p:ph type="dt" sz="half" idx="10"/>
          </p:nvPr>
        </p:nvSpPr>
        <p:spPr/>
        <p:txBody>
          <a:bodyPr/>
          <a:lstStyle/>
          <a:p>
            <a:fld id="{7ECAC5D0-FCCF-C34A-9692-FF94B7EB5041}" type="datetimeFigureOut">
              <a:rPr lang="en-US" smtClean="0"/>
              <a:t>2/17/26</a:t>
            </a:fld>
            <a:endParaRPr lang="en-US"/>
          </a:p>
        </p:txBody>
      </p:sp>
      <p:sp>
        <p:nvSpPr>
          <p:cNvPr id="6" name="Footer Placeholder 5">
            <a:extLst>
              <a:ext uri="{FF2B5EF4-FFF2-40B4-BE49-F238E27FC236}">
                <a16:creationId xmlns:a16="http://schemas.microsoft.com/office/drawing/2014/main" id="{2A39F61C-9486-AC19-DB18-5A0301254A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88F542-D8EC-ADD3-48FB-25CD052E0A0C}"/>
              </a:ext>
            </a:extLst>
          </p:cNvPr>
          <p:cNvSpPr>
            <a:spLocks noGrp="1"/>
          </p:cNvSpPr>
          <p:nvPr>
            <p:ph type="sldNum" sz="quarter" idx="12"/>
          </p:nvPr>
        </p:nvSpPr>
        <p:spPr/>
        <p:txBody>
          <a:bodyPr/>
          <a:lstStyle/>
          <a:p>
            <a:fld id="{7E904BAC-9223-6F45-9412-8EA4A33C40D5}" type="slidenum">
              <a:rPr lang="en-US" smtClean="0"/>
              <a:t>‹#›</a:t>
            </a:fld>
            <a:endParaRPr lang="en-US"/>
          </a:p>
        </p:txBody>
      </p:sp>
    </p:spTree>
    <p:extLst>
      <p:ext uri="{BB962C8B-B14F-4D97-AF65-F5344CB8AC3E}">
        <p14:creationId xmlns:p14="http://schemas.microsoft.com/office/powerpoint/2010/main" val="2927068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74265-5994-79BA-F1F0-9CFDAC3281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0F978C-B6C6-7EB9-F44C-57E4CDBD5D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104483-33BF-8793-312C-40129187E7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62638F-43CD-43B1-6016-DC6554AFBE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998950-F57B-9F19-F38A-466E63A0D7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D01075-4786-5BB2-EAAB-88DE661AAA54}"/>
              </a:ext>
            </a:extLst>
          </p:cNvPr>
          <p:cNvSpPr>
            <a:spLocks noGrp="1"/>
          </p:cNvSpPr>
          <p:nvPr>
            <p:ph type="dt" sz="half" idx="10"/>
          </p:nvPr>
        </p:nvSpPr>
        <p:spPr/>
        <p:txBody>
          <a:bodyPr/>
          <a:lstStyle/>
          <a:p>
            <a:fld id="{7ECAC5D0-FCCF-C34A-9692-FF94B7EB5041}" type="datetimeFigureOut">
              <a:rPr lang="en-US" smtClean="0"/>
              <a:t>2/17/26</a:t>
            </a:fld>
            <a:endParaRPr lang="en-US"/>
          </a:p>
        </p:txBody>
      </p:sp>
      <p:sp>
        <p:nvSpPr>
          <p:cNvPr id="8" name="Footer Placeholder 7">
            <a:extLst>
              <a:ext uri="{FF2B5EF4-FFF2-40B4-BE49-F238E27FC236}">
                <a16:creationId xmlns:a16="http://schemas.microsoft.com/office/drawing/2014/main" id="{46F8542A-F9D1-42FB-D672-360FBDD1A1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DEEC14-B004-431C-617F-AF7EDE91A21F}"/>
              </a:ext>
            </a:extLst>
          </p:cNvPr>
          <p:cNvSpPr>
            <a:spLocks noGrp="1"/>
          </p:cNvSpPr>
          <p:nvPr>
            <p:ph type="sldNum" sz="quarter" idx="12"/>
          </p:nvPr>
        </p:nvSpPr>
        <p:spPr/>
        <p:txBody>
          <a:bodyPr/>
          <a:lstStyle/>
          <a:p>
            <a:fld id="{7E904BAC-9223-6F45-9412-8EA4A33C40D5}" type="slidenum">
              <a:rPr lang="en-US" smtClean="0"/>
              <a:t>‹#›</a:t>
            </a:fld>
            <a:endParaRPr lang="en-US"/>
          </a:p>
        </p:txBody>
      </p:sp>
    </p:spTree>
    <p:extLst>
      <p:ext uri="{BB962C8B-B14F-4D97-AF65-F5344CB8AC3E}">
        <p14:creationId xmlns:p14="http://schemas.microsoft.com/office/powerpoint/2010/main" val="35485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9EAA3-B941-0C1C-3910-E38EC8D731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C8F14D-CEA0-A268-13E0-D9912D90579D}"/>
              </a:ext>
            </a:extLst>
          </p:cNvPr>
          <p:cNvSpPr>
            <a:spLocks noGrp="1"/>
          </p:cNvSpPr>
          <p:nvPr>
            <p:ph type="dt" sz="half" idx="10"/>
          </p:nvPr>
        </p:nvSpPr>
        <p:spPr/>
        <p:txBody>
          <a:bodyPr/>
          <a:lstStyle/>
          <a:p>
            <a:fld id="{7ECAC5D0-FCCF-C34A-9692-FF94B7EB5041}" type="datetimeFigureOut">
              <a:rPr lang="en-US" smtClean="0"/>
              <a:t>2/17/26</a:t>
            </a:fld>
            <a:endParaRPr lang="en-US"/>
          </a:p>
        </p:txBody>
      </p:sp>
      <p:sp>
        <p:nvSpPr>
          <p:cNvPr id="4" name="Footer Placeholder 3">
            <a:extLst>
              <a:ext uri="{FF2B5EF4-FFF2-40B4-BE49-F238E27FC236}">
                <a16:creationId xmlns:a16="http://schemas.microsoft.com/office/drawing/2014/main" id="{D4562BA8-4B64-7681-25A2-FAEDC5C200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089ABA-AC40-7B74-6697-68BCFECB9852}"/>
              </a:ext>
            </a:extLst>
          </p:cNvPr>
          <p:cNvSpPr>
            <a:spLocks noGrp="1"/>
          </p:cNvSpPr>
          <p:nvPr>
            <p:ph type="sldNum" sz="quarter" idx="12"/>
          </p:nvPr>
        </p:nvSpPr>
        <p:spPr/>
        <p:txBody>
          <a:bodyPr/>
          <a:lstStyle/>
          <a:p>
            <a:fld id="{7E904BAC-9223-6F45-9412-8EA4A33C40D5}" type="slidenum">
              <a:rPr lang="en-US" smtClean="0"/>
              <a:t>‹#›</a:t>
            </a:fld>
            <a:endParaRPr lang="en-US"/>
          </a:p>
        </p:txBody>
      </p:sp>
    </p:spTree>
    <p:extLst>
      <p:ext uri="{BB962C8B-B14F-4D97-AF65-F5344CB8AC3E}">
        <p14:creationId xmlns:p14="http://schemas.microsoft.com/office/powerpoint/2010/main" val="4232052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F05166-737A-1239-0E3A-6301F902FE5F}"/>
              </a:ext>
            </a:extLst>
          </p:cNvPr>
          <p:cNvSpPr>
            <a:spLocks noGrp="1"/>
          </p:cNvSpPr>
          <p:nvPr>
            <p:ph type="dt" sz="half" idx="10"/>
          </p:nvPr>
        </p:nvSpPr>
        <p:spPr/>
        <p:txBody>
          <a:bodyPr/>
          <a:lstStyle/>
          <a:p>
            <a:fld id="{7ECAC5D0-FCCF-C34A-9692-FF94B7EB5041}" type="datetimeFigureOut">
              <a:rPr lang="en-US" smtClean="0"/>
              <a:t>2/17/26</a:t>
            </a:fld>
            <a:endParaRPr lang="en-US"/>
          </a:p>
        </p:txBody>
      </p:sp>
      <p:sp>
        <p:nvSpPr>
          <p:cNvPr id="3" name="Footer Placeholder 2">
            <a:extLst>
              <a:ext uri="{FF2B5EF4-FFF2-40B4-BE49-F238E27FC236}">
                <a16:creationId xmlns:a16="http://schemas.microsoft.com/office/drawing/2014/main" id="{13ADC392-7585-078F-8601-AE1A62D7B3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ABBEA1-38AC-9C88-DA4A-D407339480BA}"/>
              </a:ext>
            </a:extLst>
          </p:cNvPr>
          <p:cNvSpPr>
            <a:spLocks noGrp="1"/>
          </p:cNvSpPr>
          <p:nvPr>
            <p:ph type="sldNum" sz="quarter" idx="12"/>
          </p:nvPr>
        </p:nvSpPr>
        <p:spPr/>
        <p:txBody>
          <a:bodyPr/>
          <a:lstStyle/>
          <a:p>
            <a:fld id="{7E904BAC-9223-6F45-9412-8EA4A33C40D5}" type="slidenum">
              <a:rPr lang="en-US" smtClean="0"/>
              <a:t>‹#›</a:t>
            </a:fld>
            <a:endParaRPr lang="en-US"/>
          </a:p>
        </p:txBody>
      </p:sp>
    </p:spTree>
    <p:extLst>
      <p:ext uri="{BB962C8B-B14F-4D97-AF65-F5344CB8AC3E}">
        <p14:creationId xmlns:p14="http://schemas.microsoft.com/office/powerpoint/2010/main" val="3841635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C58EB-120E-CFB7-A0F9-A552B3373A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5EE442-FDF6-9973-DC65-629AAAD914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89B206-A13D-74B4-3655-FBC209AF5F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709EA3-4EDB-C52D-8466-0C660D563560}"/>
              </a:ext>
            </a:extLst>
          </p:cNvPr>
          <p:cNvSpPr>
            <a:spLocks noGrp="1"/>
          </p:cNvSpPr>
          <p:nvPr>
            <p:ph type="dt" sz="half" idx="10"/>
          </p:nvPr>
        </p:nvSpPr>
        <p:spPr/>
        <p:txBody>
          <a:bodyPr/>
          <a:lstStyle/>
          <a:p>
            <a:fld id="{7ECAC5D0-FCCF-C34A-9692-FF94B7EB5041}" type="datetimeFigureOut">
              <a:rPr lang="en-US" smtClean="0"/>
              <a:t>2/17/26</a:t>
            </a:fld>
            <a:endParaRPr lang="en-US"/>
          </a:p>
        </p:txBody>
      </p:sp>
      <p:sp>
        <p:nvSpPr>
          <p:cNvPr id="6" name="Footer Placeholder 5">
            <a:extLst>
              <a:ext uri="{FF2B5EF4-FFF2-40B4-BE49-F238E27FC236}">
                <a16:creationId xmlns:a16="http://schemas.microsoft.com/office/drawing/2014/main" id="{78113F87-FF60-2B61-B3EB-C355A21016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970208-DD13-C994-AA4F-235AA0E9EF8B}"/>
              </a:ext>
            </a:extLst>
          </p:cNvPr>
          <p:cNvSpPr>
            <a:spLocks noGrp="1"/>
          </p:cNvSpPr>
          <p:nvPr>
            <p:ph type="sldNum" sz="quarter" idx="12"/>
          </p:nvPr>
        </p:nvSpPr>
        <p:spPr/>
        <p:txBody>
          <a:bodyPr/>
          <a:lstStyle/>
          <a:p>
            <a:fld id="{7E904BAC-9223-6F45-9412-8EA4A33C40D5}" type="slidenum">
              <a:rPr lang="en-US" smtClean="0"/>
              <a:t>‹#›</a:t>
            </a:fld>
            <a:endParaRPr lang="en-US"/>
          </a:p>
        </p:txBody>
      </p:sp>
    </p:spTree>
    <p:extLst>
      <p:ext uri="{BB962C8B-B14F-4D97-AF65-F5344CB8AC3E}">
        <p14:creationId xmlns:p14="http://schemas.microsoft.com/office/powerpoint/2010/main" val="1695502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40868-D839-74CF-3207-3A89249FBA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A87A5B-3222-9900-8C14-0EC44F48C9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6036F2-C1DB-27BF-CFB0-EB57F26F2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C27F94-39A1-81B7-FF1D-D5F98F7DBF55}"/>
              </a:ext>
            </a:extLst>
          </p:cNvPr>
          <p:cNvSpPr>
            <a:spLocks noGrp="1"/>
          </p:cNvSpPr>
          <p:nvPr>
            <p:ph type="dt" sz="half" idx="10"/>
          </p:nvPr>
        </p:nvSpPr>
        <p:spPr/>
        <p:txBody>
          <a:bodyPr/>
          <a:lstStyle/>
          <a:p>
            <a:fld id="{7ECAC5D0-FCCF-C34A-9692-FF94B7EB5041}" type="datetimeFigureOut">
              <a:rPr lang="en-US" smtClean="0"/>
              <a:t>2/17/26</a:t>
            </a:fld>
            <a:endParaRPr lang="en-US"/>
          </a:p>
        </p:txBody>
      </p:sp>
      <p:sp>
        <p:nvSpPr>
          <p:cNvPr id="6" name="Footer Placeholder 5">
            <a:extLst>
              <a:ext uri="{FF2B5EF4-FFF2-40B4-BE49-F238E27FC236}">
                <a16:creationId xmlns:a16="http://schemas.microsoft.com/office/drawing/2014/main" id="{49C1744D-BB2D-538A-F0B9-A630A12A64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D5E093-F544-1E56-5966-448920316594}"/>
              </a:ext>
            </a:extLst>
          </p:cNvPr>
          <p:cNvSpPr>
            <a:spLocks noGrp="1"/>
          </p:cNvSpPr>
          <p:nvPr>
            <p:ph type="sldNum" sz="quarter" idx="12"/>
          </p:nvPr>
        </p:nvSpPr>
        <p:spPr/>
        <p:txBody>
          <a:bodyPr/>
          <a:lstStyle/>
          <a:p>
            <a:fld id="{7E904BAC-9223-6F45-9412-8EA4A33C40D5}" type="slidenum">
              <a:rPr lang="en-US" smtClean="0"/>
              <a:t>‹#›</a:t>
            </a:fld>
            <a:endParaRPr lang="en-US"/>
          </a:p>
        </p:txBody>
      </p:sp>
    </p:spTree>
    <p:extLst>
      <p:ext uri="{BB962C8B-B14F-4D97-AF65-F5344CB8AC3E}">
        <p14:creationId xmlns:p14="http://schemas.microsoft.com/office/powerpoint/2010/main" val="2248642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602A9-19A3-90F3-53D5-3ADEB7B0DD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F6D733-18D4-C43A-CBB1-3963CA9572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D33D7D-0484-91B7-2F93-2DBC68B5CAFE}"/>
              </a:ext>
            </a:extLst>
          </p:cNvPr>
          <p:cNvSpPr>
            <a:spLocks noGrp="1"/>
          </p:cNvSpPr>
          <p:nvPr>
            <p:ph type="dt" sz="half" idx="10"/>
          </p:nvPr>
        </p:nvSpPr>
        <p:spPr/>
        <p:txBody>
          <a:bodyPr/>
          <a:lstStyle/>
          <a:p>
            <a:fld id="{7ECAC5D0-FCCF-C34A-9692-FF94B7EB5041}" type="datetimeFigureOut">
              <a:rPr lang="en-US" smtClean="0"/>
              <a:t>2/17/26</a:t>
            </a:fld>
            <a:endParaRPr lang="en-US"/>
          </a:p>
        </p:txBody>
      </p:sp>
      <p:sp>
        <p:nvSpPr>
          <p:cNvPr id="5" name="Footer Placeholder 4">
            <a:extLst>
              <a:ext uri="{FF2B5EF4-FFF2-40B4-BE49-F238E27FC236}">
                <a16:creationId xmlns:a16="http://schemas.microsoft.com/office/drawing/2014/main" id="{5E835A5C-D150-74F1-A420-3B57E94177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F90294-BCE6-5742-E860-DD6D4B6AD58C}"/>
              </a:ext>
            </a:extLst>
          </p:cNvPr>
          <p:cNvSpPr>
            <a:spLocks noGrp="1"/>
          </p:cNvSpPr>
          <p:nvPr>
            <p:ph type="sldNum" sz="quarter" idx="12"/>
          </p:nvPr>
        </p:nvSpPr>
        <p:spPr/>
        <p:txBody>
          <a:bodyPr/>
          <a:lstStyle/>
          <a:p>
            <a:fld id="{7E904BAC-9223-6F45-9412-8EA4A33C40D5}" type="slidenum">
              <a:rPr lang="en-US" smtClean="0"/>
              <a:t>‹#›</a:t>
            </a:fld>
            <a:endParaRPr lang="en-US"/>
          </a:p>
        </p:txBody>
      </p:sp>
    </p:spTree>
    <p:extLst>
      <p:ext uri="{BB962C8B-B14F-4D97-AF65-F5344CB8AC3E}">
        <p14:creationId xmlns:p14="http://schemas.microsoft.com/office/powerpoint/2010/main" val="3794049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5F0F81-6441-CE2C-5C4E-846FA95392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E1E6F1-D4A4-BC4F-2C1E-D670CE897D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CACC0D-549C-EA6E-71D6-0A32827C7E09}"/>
              </a:ext>
            </a:extLst>
          </p:cNvPr>
          <p:cNvSpPr>
            <a:spLocks noGrp="1"/>
          </p:cNvSpPr>
          <p:nvPr>
            <p:ph type="dt" sz="half" idx="10"/>
          </p:nvPr>
        </p:nvSpPr>
        <p:spPr/>
        <p:txBody>
          <a:bodyPr/>
          <a:lstStyle/>
          <a:p>
            <a:fld id="{7ECAC5D0-FCCF-C34A-9692-FF94B7EB5041}" type="datetimeFigureOut">
              <a:rPr lang="en-US" smtClean="0"/>
              <a:t>2/17/26</a:t>
            </a:fld>
            <a:endParaRPr lang="en-US"/>
          </a:p>
        </p:txBody>
      </p:sp>
      <p:sp>
        <p:nvSpPr>
          <p:cNvPr id="5" name="Footer Placeholder 4">
            <a:extLst>
              <a:ext uri="{FF2B5EF4-FFF2-40B4-BE49-F238E27FC236}">
                <a16:creationId xmlns:a16="http://schemas.microsoft.com/office/drawing/2014/main" id="{CEC0A8A7-1FF0-F055-1235-EE09C11636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A6A106-D65B-91EA-6218-EB75C5F9F9A5}"/>
              </a:ext>
            </a:extLst>
          </p:cNvPr>
          <p:cNvSpPr>
            <a:spLocks noGrp="1"/>
          </p:cNvSpPr>
          <p:nvPr>
            <p:ph type="sldNum" sz="quarter" idx="12"/>
          </p:nvPr>
        </p:nvSpPr>
        <p:spPr/>
        <p:txBody>
          <a:bodyPr/>
          <a:lstStyle/>
          <a:p>
            <a:fld id="{7E904BAC-9223-6F45-9412-8EA4A33C40D5}" type="slidenum">
              <a:rPr lang="en-US" smtClean="0"/>
              <a:t>‹#›</a:t>
            </a:fld>
            <a:endParaRPr lang="en-US"/>
          </a:p>
        </p:txBody>
      </p:sp>
    </p:spTree>
    <p:extLst>
      <p:ext uri="{BB962C8B-B14F-4D97-AF65-F5344CB8AC3E}">
        <p14:creationId xmlns:p14="http://schemas.microsoft.com/office/powerpoint/2010/main" val="816835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4115896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FDEB48-D379-845A-558A-F033DE315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985789-7ADA-05A0-255B-ACA44856AF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847AFC-AD1E-B126-ED0E-7373371F61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CAC5D0-FCCF-C34A-9692-FF94B7EB5041}" type="datetimeFigureOut">
              <a:rPr lang="en-US" smtClean="0"/>
              <a:t>2/17/26</a:t>
            </a:fld>
            <a:endParaRPr lang="en-US"/>
          </a:p>
        </p:txBody>
      </p:sp>
      <p:sp>
        <p:nvSpPr>
          <p:cNvPr id="5" name="Footer Placeholder 4">
            <a:extLst>
              <a:ext uri="{FF2B5EF4-FFF2-40B4-BE49-F238E27FC236}">
                <a16:creationId xmlns:a16="http://schemas.microsoft.com/office/drawing/2014/main" id="{9D3CCD85-3718-F4EF-62DE-6FD42007CF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C1304DF-2BE8-3492-B2B1-05620EE697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904BAC-9223-6F45-9412-8EA4A33C40D5}" type="slidenum">
              <a:rPr lang="en-US" smtClean="0"/>
              <a:t>‹#›</a:t>
            </a:fld>
            <a:endParaRPr lang="en-US"/>
          </a:p>
        </p:txBody>
      </p:sp>
    </p:spTree>
    <p:extLst>
      <p:ext uri="{BB962C8B-B14F-4D97-AF65-F5344CB8AC3E}">
        <p14:creationId xmlns:p14="http://schemas.microsoft.com/office/powerpoint/2010/main" val="1707978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0BDBA-177B-DEBA-7754-B1C7E9A33210}"/>
              </a:ext>
            </a:extLst>
          </p:cNvPr>
          <p:cNvSpPr>
            <a:spLocks noGrp="1"/>
          </p:cNvSpPr>
          <p:nvPr>
            <p:ph type="ctrTitle"/>
          </p:nvPr>
        </p:nvSpPr>
        <p:spPr>
          <a:xfrm>
            <a:off x="1524000" y="406400"/>
            <a:ext cx="9144000" cy="2387600"/>
          </a:xfrm>
        </p:spPr>
        <p:txBody>
          <a:bodyPr/>
          <a:lstStyle/>
          <a:p>
            <a:r>
              <a:rPr lang="en-US" dirty="0"/>
              <a:t>Autonomous Hypertension Management</a:t>
            </a:r>
          </a:p>
        </p:txBody>
      </p:sp>
      <p:sp>
        <p:nvSpPr>
          <p:cNvPr id="8" name="TextBox 7">
            <a:extLst>
              <a:ext uri="{FF2B5EF4-FFF2-40B4-BE49-F238E27FC236}">
                <a16:creationId xmlns:a16="http://schemas.microsoft.com/office/drawing/2014/main" id="{BCA8DF66-BA2F-C9ED-666D-4EED3CD2DE42}"/>
              </a:ext>
            </a:extLst>
          </p:cNvPr>
          <p:cNvSpPr txBox="1"/>
          <p:nvPr/>
        </p:nvSpPr>
        <p:spPr>
          <a:xfrm>
            <a:off x="2724150" y="3602336"/>
            <a:ext cx="6743700" cy="553998"/>
          </a:xfrm>
          <a:prstGeom prst="rect">
            <a:avLst/>
          </a:prstGeom>
          <a:noFill/>
        </p:spPr>
        <p:txBody>
          <a:bodyPr wrap="square" rtlCol="0">
            <a:spAutoFit/>
          </a:bodyPr>
          <a:lstStyle/>
          <a:p>
            <a:pPr algn="ctr"/>
            <a:r>
              <a:rPr lang="en-US" sz="3000" dirty="0"/>
              <a:t>Jordan Swartz, MD, MA</a:t>
            </a:r>
          </a:p>
        </p:txBody>
      </p:sp>
    </p:spTree>
    <p:extLst>
      <p:ext uri="{BB962C8B-B14F-4D97-AF65-F5344CB8AC3E}">
        <p14:creationId xmlns:p14="http://schemas.microsoft.com/office/powerpoint/2010/main" val="2478586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BB859-9403-4EA6-298D-E7F15AFF0917}"/>
              </a:ext>
            </a:extLst>
          </p:cNvPr>
          <p:cNvSpPr>
            <a:spLocks noGrp="1"/>
          </p:cNvSpPr>
          <p:nvPr>
            <p:ph type="title"/>
          </p:nvPr>
        </p:nvSpPr>
        <p:spPr>
          <a:xfrm>
            <a:off x="838199" y="136525"/>
            <a:ext cx="10515600" cy="500289"/>
          </a:xfrm>
        </p:spPr>
        <p:txBody>
          <a:bodyPr>
            <a:normAutofit fontScale="90000"/>
          </a:bodyPr>
          <a:lstStyle/>
          <a:p>
            <a:pPr algn="ctr"/>
            <a:r>
              <a:rPr lang="en-US" dirty="0"/>
              <a:t>Design Principles</a:t>
            </a:r>
          </a:p>
        </p:txBody>
      </p:sp>
      <p:sp>
        <p:nvSpPr>
          <p:cNvPr id="4" name="TextBox 3">
            <a:extLst>
              <a:ext uri="{FF2B5EF4-FFF2-40B4-BE49-F238E27FC236}">
                <a16:creationId xmlns:a16="http://schemas.microsoft.com/office/drawing/2014/main" id="{55A4A818-829B-58F5-71C9-FB63A05FF0FB}"/>
              </a:ext>
            </a:extLst>
          </p:cNvPr>
          <p:cNvSpPr txBox="1"/>
          <p:nvPr/>
        </p:nvSpPr>
        <p:spPr>
          <a:xfrm>
            <a:off x="650421" y="865414"/>
            <a:ext cx="10891157" cy="3293209"/>
          </a:xfrm>
          <a:prstGeom prst="rect">
            <a:avLst/>
          </a:prstGeom>
          <a:noFill/>
        </p:spPr>
        <p:txBody>
          <a:bodyPr wrap="square" rtlCol="0">
            <a:spAutoFit/>
          </a:bodyPr>
          <a:lstStyle/>
          <a:p>
            <a:pPr marL="457200" indent="-457200">
              <a:buFont typeface="+mj-lt"/>
              <a:buAutoNum type="arabicPeriod"/>
            </a:pPr>
            <a:r>
              <a:rPr lang="en-US" sz="2600" dirty="0"/>
              <a:t>Do no harm</a:t>
            </a:r>
          </a:p>
          <a:p>
            <a:pPr marL="457200" indent="-457200">
              <a:buFont typeface="+mj-lt"/>
              <a:buAutoNum type="arabicPeriod"/>
            </a:pPr>
            <a:r>
              <a:rPr lang="en-US" sz="2600" dirty="0"/>
              <a:t>Deterministic by default</a:t>
            </a:r>
          </a:p>
          <a:p>
            <a:pPr marL="457200" indent="-457200">
              <a:buFont typeface="+mj-lt"/>
              <a:buAutoNum type="arabicPeriod"/>
            </a:pPr>
            <a:r>
              <a:rPr lang="en-US" sz="2600" dirty="0"/>
              <a:t>Diverse safeguards</a:t>
            </a:r>
          </a:p>
          <a:p>
            <a:pPr marL="457200" indent="-457200">
              <a:buFont typeface="+mj-lt"/>
              <a:buAutoNum type="arabicPeriod"/>
            </a:pPr>
            <a:r>
              <a:rPr lang="en-US" sz="2600" dirty="0"/>
              <a:t>Explicit scope boundaries</a:t>
            </a:r>
          </a:p>
          <a:p>
            <a:pPr marL="457200" indent="-457200">
              <a:buFont typeface="+mj-lt"/>
              <a:buAutoNum type="arabicPeriod"/>
            </a:pPr>
            <a:r>
              <a:rPr lang="en-US" sz="2600" dirty="0"/>
              <a:t>Verification before intensification</a:t>
            </a:r>
          </a:p>
          <a:p>
            <a:pPr marL="457200" indent="-457200">
              <a:buFont typeface="+mj-lt"/>
              <a:buAutoNum type="arabicPeriod"/>
            </a:pPr>
            <a:r>
              <a:rPr lang="en-US" sz="2600" dirty="0"/>
              <a:t>Every decision is traceable</a:t>
            </a:r>
          </a:p>
          <a:p>
            <a:pPr marL="457200" indent="-457200">
              <a:buFont typeface="+mj-lt"/>
              <a:buAutoNum type="arabicPeriod"/>
            </a:pPr>
            <a:r>
              <a:rPr lang="en-US" sz="2600" dirty="0"/>
              <a:t>Earned autonomy</a:t>
            </a:r>
          </a:p>
          <a:p>
            <a:pPr marL="457200" indent="-457200">
              <a:buFont typeface="+mj-lt"/>
              <a:buAutoNum type="arabicPeriod"/>
            </a:pPr>
            <a:r>
              <a:rPr lang="en-US" sz="2600" dirty="0"/>
              <a:t>Clinician authority</a:t>
            </a:r>
          </a:p>
        </p:txBody>
      </p:sp>
    </p:spTree>
    <p:extLst>
      <p:ext uri="{BB962C8B-B14F-4D97-AF65-F5344CB8AC3E}">
        <p14:creationId xmlns:p14="http://schemas.microsoft.com/office/powerpoint/2010/main" val="1315374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4CCF2-E2B0-372A-1772-778EF7DF7F33}"/>
              </a:ext>
            </a:extLst>
          </p:cNvPr>
          <p:cNvSpPr>
            <a:spLocks noGrp="1"/>
          </p:cNvSpPr>
          <p:nvPr>
            <p:ph type="title"/>
          </p:nvPr>
        </p:nvSpPr>
        <p:spPr>
          <a:xfrm>
            <a:off x="838200" y="72930"/>
            <a:ext cx="10515600" cy="719227"/>
          </a:xfrm>
        </p:spPr>
        <p:txBody>
          <a:bodyPr/>
          <a:lstStyle/>
          <a:p>
            <a:r>
              <a:rPr lang="en-US" dirty="0"/>
              <a:t>Assumptions</a:t>
            </a:r>
          </a:p>
        </p:txBody>
      </p:sp>
      <p:graphicFrame>
        <p:nvGraphicFramePr>
          <p:cNvPr id="4" name="Content Placeholder 3">
            <a:extLst>
              <a:ext uri="{FF2B5EF4-FFF2-40B4-BE49-F238E27FC236}">
                <a16:creationId xmlns:a16="http://schemas.microsoft.com/office/drawing/2014/main" id="{A9999002-8271-6AB9-4B91-E11B3C59DE07}"/>
              </a:ext>
            </a:extLst>
          </p:cNvPr>
          <p:cNvGraphicFramePr>
            <a:graphicFrameLocks noGrp="1"/>
          </p:cNvGraphicFramePr>
          <p:nvPr>
            <p:ph idx="1"/>
            <p:extLst>
              <p:ext uri="{D42A27DB-BD31-4B8C-83A1-F6EECF244321}">
                <p14:modId xmlns:p14="http://schemas.microsoft.com/office/powerpoint/2010/main" val="2044863112"/>
              </p:ext>
            </p:extLst>
          </p:nvPr>
        </p:nvGraphicFramePr>
        <p:xfrm>
          <a:off x="838200" y="957621"/>
          <a:ext cx="10515600" cy="4457586"/>
        </p:xfrm>
        <a:graphic>
          <a:graphicData uri="http://schemas.openxmlformats.org/drawingml/2006/table">
            <a:tbl>
              <a:tblPr firstRow="1" firstCol="1" bandRow="1">
                <a:tableStyleId>{2D5ABB26-0587-4C30-8999-92F81FD0307C}</a:tableStyleId>
              </a:tblPr>
              <a:tblGrid>
                <a:gridCol w="10515600">
                  <a:extLst>
                    <a:ext uri="{9D8B030D-6E8A-4147-A177-3AD203B41FA5}">
                      <a16:colId xmlns:a16="http://schemas.microsoft.com/office/drawing/2014/main" val="3167616365"/>
                    </a:ext>
                  </a:extLst>
                </a:gridCol>
              </a:tblGrid>
              <a:tr h="636798">
                <a:tc>
                  <a:txBody>
                    <a:bodyPr/>
                    <a:lstStyle/>
                    <a:p>
                      <a:pPr marL="342900" marR="0" indent="-342900">
                        <a:buFont typeface="Arial" panose="020B0604020202020204" pitchFamily="34" charset="0"/>
                        <a:buChar char="•"/>
                      </a:pPr>
                      <a:r>
                        <a:rPr lang="en-US" sz="2600" dirty="0">
                          <a:effectLst/>
                        </a:rPr>
                        <a:t>Adult patients only (age 18+)</a:t>
                      </a:r>
                      <a:endParaRPr lang="en-US" sz="26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2159935285"/>
                  </a:ext>
                </a:extLst>
              </a:tr>
              <a:tr h="636798">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600" dirty="0">
                          <a:effectLst/>
                        </a:rPr>
                        <a:t>Primary hypertension</a:t>
                      </a:r>
                    </a:p>
                  </a:txBody>
                  <a:tcPr marL="76200" marR="76200" marT="50800" marB="50800"/>
                </a:tc>
                <a:extLst>
                  <a:ext uri="{0D108BD9-81ED-4DB2-BD59-A6C34878D82A}">
                    <a16:rowId xmlns:a16="http://schemas.microsoft.com/office/drawing/2014/main" val="2714197924"/>
                  </a:ext>
                </a:extLst>
              </a:tr>
              <a:tr h="636798">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600" dirty="0">
                          <a:effectLst/>
                        </a:rPr>
                        <a:t>Patients already diagnosed by a clinician</a:t>
                      </a:r>
                    </a:p>
                  </a:txBody>
                  <a:tcPr marL="76200" marR="76200" marT="50800" marB="50800"/>
                </a:tc>
                <a:extLst>
                  <a:ext uri="{0D108BD9-81ED-4DB2-BD59-A6C34878D82A}">
                    <a16:rowId xmlns:a16="http://schemas.microsoft.com/office/drawing/2014/main" val="3190317204"/>
                  </a:ext>
                </a:extLst>
              </a:tr>
              <a:tr h="636798">
                <a:tc>
                  <a:txBody>
                    <a:bodyPr/>
                    <a:lstStyle/>
                    <a:p>
                      <a:pPr marL="342900" marR="0" indent="-342900">
                        <a:buFont typeface="Arial" panose="020B0604020202020204" pitchFamily="34" charset="0"/>
                        <a:buChar char="•"/>
                      </a:pPr>
                      <a:r>
                        <a:rPr lang="en-US" sz="2600" dirty="0">
                          <a:effectLst/>
                        </a:rPr>
                        <a:t>English-speaking patients</a:t>
                      </a:r>
                      <a:endParaRPr lang="en-US" sz="26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2902918550"/>
                  </a:ext>
                </a:extLst>
              </a:tr>
              <a:tr h="636798">
                <a:tc>
                  <a:txBody>
                    <a:bodyPr/>
                    <a:lstStyle/>
                    <a:p>
                      <a:pPr marL="342900" marR="0" indent="-342900">
                        <a:buFont typeface="Arial" panose="020B0604020202020204" pitchFamily="34" charset="0"/>
                        <a:buChar char="•"/>
                      </a:pPr>
                      <a:r>
                        <a:rPr lang="en-US" sz="2600" dirty="0">
                          <a:effectLst/>
                        </a:rPr>
                        <a:t>Non-pregnant patients</a:t>
                      </a:r>
                      <a:endParaRPr lang="en-US" sz="26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3117429516"/>
                  </a:ext>
                </a:extLst>
              </a:tr>
              <a:tr h="636798">
                <a:tc>
                  <a:txBody>
                    <a:bodyPr/>
                    <a:lstStyle/>
                    <a:p>
                      <a:pPr marL="342900" marR="0" indent="-342900">
                        <a:buFont typeface="Arial" panose="020B0604020202020204" pitchFamily="34" charset="0"/>
                        <a:buChar char="•"/>
                      </a:pPr>
                      <a:r>
                        <a:rPr lang="en-US" sz="2600" dirty="0">
                          <a:effectLst/>
                        </a:rPr>
                        <a:t>Outpatient setting</a:t>
                      </a:r>
                      <a:endParaRPr lang="en-US" sz="26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3250583882"/>
                  </a:ext>
                </a:extLst>
              </a:tr>
              <a:tr h="636798">
                <a:tc>
                  <a:txBody>
                    <a:bodyPr/>
                    <a:lstStyle/>
                    <a:p>
                      <a:pPr marL="342900" marR="0" indent="-342900">
                        <a:buFont typeface="Arial" panose="020B0604020202020204" pitchFamily="34" charset="0"/>
                        <a:buChar char="•"/>
                      </a:pPr>
                      <a:r>
                        <a:rPr lang="en-US" sz="2600" dirty="0">
                          <a:effectLst/>
                        </a:rPr>
                        <a:t>Appropriate regulatory authorization</a:t>
                      </a:r>
                      <a:endParaRPr lang="en-US" sz="26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295318700"/>
                  </a:ext>
                </a:extLst>
              </a:tr>
            </a:tbl>
          </a:graphicData>
        </a:graphic>
      </p:graphicFrame>
    </p:spTree>
    <p:extLst>
      <p:ext uri="{BB962C8B-B14F-4D97-AF65-F5344CB8AC3E}">
        <p14:creationId xmlns:p14="http://schemas.microsoft.com/office/powerpoint/2010/main" val="859946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2331B-674B-5905-6755-D382D215D382}"/>
              </a:ext>
            </a:extLst>
          </p:cNvPr>
          <p:cNvSpPr>
            <a:spLocks noGrp="1"/>
          </p:cNvSpPr>
          <p:nvPr>
            <p:ph type="title"/>
          </p:nvPr>
        </p:nvSpPr>
        <p:spPr>
          <a:xfrm>
            <a:off x="484297" y="195497"/>
            <a:ext cx="10515600" cy="669918"/>
          </a:xfrm>
        </p:spPr>
        <p:txBody>
          <a:bodyPr>
            <a:normAutofit fontScale="90000"/>
          </a:bodyPr>
          <a:lstStyle/>
          <a:p>
            <a:r>
              <a:rPr lang="en-US" dirty="0"/>
              <a:t>Clinical Problems</a:t>
            </a:r>
          </a:p>
        </p:txBody>
      </p:sp>
      <p:graphicFrame>
        <p:nvGraphicFramePr>
          <p:cNvPr id="4" name="Content Placeholder 3">
            <a:extLst>
              <a:ext uri="{FF2B5EF4-FFF2-40B4-BE49-F238E27FC236}">
                <a16:creationId xmlns:a16="http://schemas.microsoft.com/office/drawing/2014/main" id="{0C3A29F5-0D37-8D10-6F40-E9CC799B000D}"/>
              </a:ext>
            </a:extLst>
          </p:cNvPr>
          <p:cNvGraphicFramePr>
            <a:graphicFrameLocks noGrp="1"/>
          </p:cNvGraphicFramePr>
          <p:nvPr>
            <p:ph idx="1"/>
            <p:extLst>
              <p:ext uri="{D42A27DB-BD31-4B8C-83A1-F6EECF244321}">
                <p14:modId xmlns:p14="http://schemas.microsoft.com/office/powerpoint/2010/main" val="3242200269"/>
              </p:ext>
            </p:extLst>
          </p:nvPr>
        </p:nvGraphicFramePr>
        <p:xfrm>
          <a:off x="484297" y="865415"/>
          <a:ext cx="9684735" cy="5844105"/>
        </p:xfrm>
        <a:graphic>
          <a:graphicData uri="http://schemas.openxmlformats.org/drawingml/2006/table">
            <a:tbl>
              <a:tblPr firstRow="1" firstCol="1" bandRow="1">
                <a:tableStyleId>{2D5ABB26-0587-4C30-8999-92F81FD0307C}</a:tableStyleId>
              </a:tblPr>
              <a:tblGrid>
                <a:gridCol w="9684735">
                  <a:extLst>
                    <a:ext uri="{9D8B030D-6E8A-4147-A177-3AD203B41FA5}">
                      <a16:colId xmlns:a16="http://schemas.microsoft.com/office/drawing/2014/main" val="3643397739"/>
                    </a:ext>
                  </a:extLst>
                </a:gridCol>
              </a:tblGrid>
              <a:tr h="558437">
                <a:tc>
                  <a:txBody>
                    <a:bodyPr/>
                    <a:lstStyle/>
                    <a:p>
                      <a:pPr marL="342900" marR="0" indent="-342900">
                        <a:buFont typeface="Arial" panose="020B0604020202020204" pitchFamily="34" charset="0"/>
                        <a:buChar char="•"/>
                      </a:pPr>
                      <a:r>
                        <a:rPr lang="en-US" sz="2300" dirty="0">
                          <a:effectLst/>
                        </a:rPr>
                        <a:t>Identifying and classifying hypertension</a:t>
                      </a:r>
                      <a:endParaRPr lang="en-US" sz="2300" dirty="0">
                        <a:effectLst/>
                        <a:latin typeface="Times New Roman" panose="02020603050405020304" pitchFamily="18" charset="0"/>
                        <a:ea typeface="Times New Roman" panose="02020603050405020304" pitchFamily="18" charset="0"/>
                      </a:endParaRPr>
                    </a:p>
                  </a:txBody>
                  <a:tcPr marL="87849" marR="87849" marT="58566" marB="58566"/>
                </a:tc>
                <a:extLst>
                  <a:ext uri="{0D108BD9-81ED-4DB2-BD59-A6C34878D82A}">
                    <a16:rowId xmlns:a16="http://schemas.microsoft.com/office/drawing/2014/main" val="3353258815"/>
                  </a:ext>
                </a:extLst>
              </a:tr>
              <a:tr h="558437">
                <a:tc>
                  <a:txBody>
                    <a:bodyPr/>
                    <a:lstStyle/>
                    <a:p>
                      <a:pPr marL="342900" marR="0" indent="-342900">
                        <a:buFont typeface="Arial" panose="020B0604020202020204" pitchFamily="34" charset="0"/>
                        <a:buChar char="•"/>
                      </a:pPr>
                      <a:r>
                        <a:rPr lang="en-US" sz="2300" dirty="0">
                          <a:effectLst/>
                        </a:rPr>
                        <a:t>Selecting appropriate antihypertensive therapy</a:t>
                      </a:r>
                      <a:endParaRPr lang="en-US" sz="2300" dirty="0">
                        <a:effectLst/>
                        <a:latin typeface="Times New Roman" panose="02020603050405020304" pitchFamily="18" charset="0"/>
                        <a:ea typeface="Times New Roman" panose="02020603050405020304" pitchFamily="18" charset="0"/>
                      </a:endParaRPr>
                    </a:p>
                  </a:txBody>
                  <a:tcPr marL="87849" marR="87849" marT="58566" marB="58566"/>
                </a:tc>
                <a:extLst>
                  <a:ext uri="{0D108BD9-81ED-4DB2-BD59-A6C34878D82A}">
                    <a16:rowId xmlns:a16="http://schemas.microsoft.com/office/drawing/2014/main" val="4240211943"/>
                  </a:ext>
                </a:extLst>
              </a:tr>
              <a:tr h="558437">
                <a:tc>
                  <a:txBody>
                    <a:bodyPr/>
                    <a:lstStyle/>
                    <a:p>
                      <a:pPr marL="342900" marR="0" indent="-342900">
                        <a:buFont typeface="Arial" panose="020B0604020202020204" pitchFamily="34" charset="0"/>
                        <a:buChar char="•"/>
                      </a:pPr>
                      <a:r>
                        <a:rPr lang="en-US" sz="2300">
                          <a:effectLst/>
                        </a:rPr>
                        <a:t>Titrating medications to achieve BP goals</a:t>
                      </a:r>
                      <a:endParaRPr lang="en-US" sz="2300">
                        <a:effectLst/>
                        <a:latin typeface="Times New Roman" panose="02020603050405020304" pitchFamily="18" charset="0"/>
                        <a:ea typeface="Times New Roman" panose="02020603050405020304" pitchFamily="18" charset="0"/>
                      </a:endParaRPr>
                    </a:p>
                  </a:txBody>
                  <a:tcPr marL="87849" marR="87849" marT="58566" marB="58566"/>
                </a:tc>
                <a:extLst>
                  <a:ext uri="{0D108BD9-81ED-4DB2-BD59-A6C34878D82A}">
                    <a16:rowId xmlns:a16="http://schemas.microsoft.com/office/drawing/2014/main" val="876294258"/>
                  </a:ext>
                </a:extLst>
              </a:tr>
              <a:tr h="558437">
                <a:tc>
                  <a:txBody>
                    <a:bodyPr/>
                    <a:lstStyle/>
                    <a:p>
                      <a:pPr marL="342900" marR="0" indent="-342900">
                        <a:buFont typeface="Arial" panose="020B0604020202020204" pitchFamily="34" charset="0"/>
                        <a:buChar char="•"/>
                      </a:pPr>
                      <a:r>
                        <a:rPr lang="en-US" sz="2300" dirty="0">
                          <a:effectLst/>
                        </a:rPr>
                        <a:t>Calculating cardiovascular risk to guide treatment intensity</a:t>
                      </a:r>
                      <a:endParaRPr lang="en-US" sz="2300" dirty="0">
                        <a:effectLst/>
                        <a:latin typeface="Times New Roman" panose="02020603050405020304" pitchFamily="18" charset="0"/>
                        <a:ea typeface="Times New Roman" panose="02020603050405020304" pitchFamily="18" charset="0"/>
                      </a:endParaRPr>
                    </a:p>
                  </a:txBody>
                  <a:tcPr marL="87849" marR="87849" marT="58566" marB="58566"/>
                </a:tc>
                <a:extLst>
                  <a:ext uri="{0D108BD9-81ED-4DB2-BD59-A6C34878D82A}">
                    <a16:rowId xmlns:a16="http://schemas.microsoft.com/office/drawing/2014/main" val="3109038754"/>
                  </a:ext>
                </a:extLst>
              </a:tr>
              <a:tr h="558437">
                <a:tc>
                  <a:txBody>
                    <a:bodyPr/>
                    <a:lstStyle/>
                    <a:p>
                      <a:pPr marL="342900" marR="0" indent="-342900">
                        <a:buFont typeface="Arial" panose="020B0604020202020204" pitchFamily="34" charset="0"/>
                        <a:buChar char="•"/>
                      </a:pPr>
                      <a:r>
                        <a:rPr lang="en-US" sz="2300" dirty="0">
                          <a:effectLst/>
                        </a:rPr>
                        <a:t>Detecting and managing hypertensive emergencies vs severe hypertension</a:t>
                      </a:r>
                      <a:endParaRPr lang="en-US" sz="2300" dirty="0">
                        <a:effectLst/>
                        <a:latin typeface="Times New Roman" panose="02020603050405020304" pitchFamily="18" charset="0"/>
                        <a:ea typeface="Times New Roman" panose="02020603050405020304" pitchFamily="18" charset="0"/>
                      </a:endParaRPr>
                    </a:p>
                  </a:txBody>
                  <a:tcPr marL="87849" marR="87849" marT="58566" marB="58566"/>
                </a:tc>
                <a:extLst>
                  <a:ext uri="{0D108BD9-81ED-4DB2-BD59-A6C34878D82A}">
                    <a16:rowId xmlns:a16="http://schemas.microsoft.com/office/drawing/2014/main" val="3457693924"/>
                  </a:ext>
                </a:extLst>
              </a:tr>
              <a:tr h="558437">
                <a:tc>
                  <a:txBody>
                    <a:bodyPr/>
                    <a:lstStyle/>
                    <a:p>
                      <a:pPr marL="342900" marR="0" indent="-342900">
                        <a:buFont typeface="Arial" panose="020B0604020202020204" pitchFamily="34" charset="0"/>
                        <a:buChar char="•"/>
                      </a:pPr>
                      <a:r>
                        <a:rPr lang="en-US" sz="2300" dirty="0">
                          <a:effectLst/>
                        </a:rPr>
                        <a:t>Ensuring medication adherence</a:t>
                      </a:r>
                      <a:endParaRPr lang="en-US" sz="2300" dirty="0">
                        <a:effectLst/>
                        <a:latin typeface="Times New Roman" panose="02020603050405020304" pitchFamily="18" charset="0"/>
                        <a:ea typeface="Times New Roman" panose="02020603050405020304" pitchFamily="18" charset="0"/>
                      </a:endParaRPr>
                    </a:p>
                  </a:txBody>
                  <a:tcPr marL="87849" marR="87849" marT="58566" marB="58566"/>
                </a:tc>
                <a:extLst>
                  <a:ext uri="{0D108BD9-81ED-4DB2-BD59-A6C34878D82A}">
                    <a16:rowId xmlns:a16="http://schemas.microsoft.com/office/drawing/2014/main" val="2271799852"/>
                  </a:ext>
                </a:extLst>
              </a:tr>
              <a:tr h="558437">
                <a:tc>
                  <a:txBody>
                    <a:bodyPr/>
                    <a:lstStyle/>
                    <a:p>
                      <a:pPr marL="342900" marR="0" indent="-342900">
                        <a:buFont typeface="Arial" panose="020B0604020202020204" pitchFamily="34" charset="0"/>
                        <a:buChar char="•"/>
                      </a:pPr>
                      <a:r>
                        <a:rPr lang="en-US" sz="2300" dirty="0">
                          <a:effectLst/>
                        </a:rPr>
                        <a:t>Managing medication side effects</a:t>
                      </a:r>
                      <a:endParaRPr lang="en-US" sz="2300" dirty="0">
                        <a:effectLst/>
                        <a:latin typeface="Times New Roman" panose="02020603050405020304" pitchFamily="18" charset="0"/>
                        <a:ea typeface="Times New Roman" panose="02020603050405020304" pitchFamily="18" charset="0"/>
                      </a:endParaRPr>
                    </a:p>
                  </a:txBody>
                  <a:tcPr marL="87849" marR="87849" marT="58566" marB="58566"/>
                </a:tc>
                <a:extLst>
                  <a:ext uri="{0D108BD9-81ED-4DB2-BD59-A6C34878D82A}">
                    <a16:rowId xmlns:a16="http://schemas.microsoft.com/office/drawing/2014/main" val="633573436"/>
                  </a:ext>
                </a:extLst>
              </a:tr>
              <a:tr h="558437">
                <a:tc>
                  <a:txBody>
                    <a:bodyPr/>
                    <a:lstStyle/>
                    <a:p>
                      <a:pPr marL="342900" marR="0" indent="-342900">
                        <a:buFont typeface="Arial" panose="020B0604020202020204" pitchFamily="34" charset="0"/>
                        <a:buChar char="•"/>
                      </a:pPr>
                      <a:r>
                        <a:rPr lang="en-US" sz="2300">
                          <a:effectLst/>
                        </a:rPr>
                        <a:t>Monitoring for drug-related adverse effects</a:t>
                      </a:r>
                      <a:endParaRPr lang="en-US" sz="2300">
                        <a:effectLst/>
                        <a:latin typeface="Times New Roman" panose="02020603050405020304" pitchFamily="18" charset="0"/>
                        <a:ea typeface="Times New Roman" panose="02020603050405020304" pitchFamily="18" charset="0"/>
                      </a:endParaRPr>
                    </a:p>
                  </a:txBody>
                  <a:tcPr marL="87849" marR="87849" marT="58566" marB="58566"/>
                </a:tc>
                <a:extLst>
                  <a:ext uri="{0D108BD9-81ED-4DB2-BD59-A6C34878D82A}">
                    <a16:rowId xmlns:a16="http://schemas.microsoft.com/office/drawing/2014/main" val="230181994"/>
                  </a:ext>
                </a:extLst>
              </a:tr>
              <a:tr h="558437">
                <a:tc>
                  <a:txBody>
                    <a:bodyPr/>
                    <a:lstStyle/>
                    <a:p>
                      <a:pPr marL="342900" marR="0" indent="-342900">
                        <a:buFont typeface="Arial" panose="020B0604020202020204" pitchFamily="34" charset="0"/>
                        <a:buChar char="•"/>
                      </a:pPr>
                      <a:r>
                        <a:rPr lang="en-US" sz="2300">
                          <a:effectLst/>
                        </a:rPr>
                        <a:t>Identifying resistant hypertension</a:t>
                      </a:r>
                      <a:endParaRPr lang="en-US" sz="2300">
                        <a:effectLst/>
                        <a:latin typeface="Times New Roman" panose="02020603050405020304" pitchFamily="18" charset="0"/>
                        <a:ea typeface="Times New Roman" panose="02020603050405020304" pitchFamily="18" charset="0"/>
                      </a:endParaRPr>
                    </a:p>
                  </a:txBody>
                  <a:tcPr marL="87849" marR="87849" marT="58566" marB="58566"/>
                </a:tc>
                <a:extLst>
                  <a:ext uri="{0D108BD9-81ED-4DB2-BD59-A6C34878D82A}">
                    <a16:rowId xmlns:a16="http://schemas.microsoft.com/office/drawing/2014/main" val="2751255651"/>
                  </a:ext>
                </a:extLst>
              </a:tr>
              <a:tr h="558437">
                <a:tc>
                  <a:txBody>
                    <a:bodyPr/>
                    <a:lstStyle/>
                    <a:p>
                      <a:pPr marL="342900" marR="0" indent="-342900">
                        <a:buFont typeface="Arial" panose="020B0604020202020204" pitchFamily="34" charset="0"/>
                        <a:buChar char="•"/>
                      </a:pPr>
                      <a:r>
                        <a:rPr lang="en-US" sz="2300" dirty="0">
                          <a:effectLst/>
                        </a:rPr>
                        <a:t>Screening for secondary hypertension</a:t>
                      </a:r>
                      <a:endParaRPr lang="en-US" sz="2300" dirty="0">
                        <a:effectLst/>
                        <a:latin typeface="Times New Roman" panose="02020603050405020304" pitchFamily="18" charset="0"/>
                        <a:ea typeface="Times New Roman" panose="02020603050405020304" pitchFamily="18" charset="0"/>
                      </a:endParaRPr>
                    </a:p>
                  </a:txBody>
                  <a:tcPr marL="87849" marR="87849" marT="58566" marB="58566"/>
                </a:tc>
                <a:extLst>
                  <a:ext uri="{0D108BD9-81ED-4DB2-BD59-A6C34878D82A}">
                    <a16:rowId xmlns:a16="http://schemas.microsoft.com/office/drawing/2014/main" val="2411697606"/>
                  </a:ext>
                </a:extLst>
              </a:tr>
            </a:tbl>
          </a:graphicData>
        </a:graphic>
      </p:graphicFrame>
    </p:spTree>
    <p:extLst>
      <p:ext uri="{BB962C8B-B14F-4D97-AF65-F5344CB8AC3E}">
        <p14:creationId xmlns:p14="http://schemas.microsoft.com/office/powerpoint/2010/main" val="1814176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0987861-B0B0-3098-CB3A-AD7C729F0B73}"/>
              </a:ext>
            </a:extLst>
          </p:cNvPr>
          <p:cNvGraphicFramePr>
            <a:graphicFrameLocks noGrp="1"/>
          </p:cNvGraphicFramePr>
          <p:nvPr>
            <p:extLst>
              <p:ext uri="{D42A27DB-BD31-4B8C-83A1-F6EECF244321}">
                <p14:modId xmlns:p14="http://schemas.microsoft.com/office/powerpoint/2010/main" val="2810922052"/>
              </p:ext>
            </p:extLst>
          </p:nvPr>
        </p:nvGraphicFramePr>
        <p:xfrm>
          <a:off x="322029" y="1000126"/>
          <a:ext cx="11581176" cy="5229459"/>
        </p:xfrm>
        <a:graphic>
          <a:graphicData uri="http://schemas.openxmlformats.org/drawingml/2006/table">
            <a:tbl>
              <a:tblPr firstRow="1" bandRow="1">
                <a:tableStyleId>{5940675A-B579-460E-94D1-54222C63F5DA}</a:tableStyleId>
              </a:tblPr>
              <a:tblGrid>
                <a:gridCol w="3094939">
                  <a:extLst>
                    <a:ext uri="{9D8B030D-6E8A-4147-A177-3AD203B41FA5}">
                      <a16:colId xmlns:a16="http://schemas.microsoft.com/office/drawing/2014/main" val="705892601"/>
                    </a:ext>
                  </a:extLst>
                </a:gridCol>
                <a:gridCol w="2695649">
                  <a:extLst>
                    <a:ext uri="{9D8B030D-6E8A-4147-A177-3AD203B41FA5}">
                      <a16:colId xmlns:a16="http://schemas.microsoft.com/office/drawing/2014/main" val="2240701529"/>
                    </a:ext>
                  </a:extLst>
                </a:gridCol>
                <a:gridCol w="2895294">
                  <a:extLst>
                    <a:ext uri="{9D8B030D-6E8A-4147-A177-3AD203B41FA5}">
                      <a16:colId xmlns:a16="http://schemas.microsoft.com/office/drawing/2014/main" val="415212086"/>
                    </a:ext>
                  </a:extLst>
                </a:gridCol>
                <a:gridCol w="2895294">
                  <a:extLst>
                    <a:ext uri="{9D8B030D-6E8A-4147-A177-3AD203B41FA5}">
                      <a16:colId xmlns:a16="http://schemas.microsoft.com/office/drawing/2014/main" val="1041068816"/>
                    </a:ext>
                  </a:extLst>
                </a:gridCol>
              </a:tblGrid>
              <a:tr h="491790">
                <a:tc>
                  <a:txBody>
                    <a:bodyPr/>
                    <a:lstStyle/>
                    <a:p>
                      <a:pPr algn="ctr" fontAlgn="b">
                        <a:buNone/>
                      </a:pPr>
                      <a:r>
                        <a:rPr lang="en-US" sz="2100" b="1" u="none" strike="noStrike" dirty="0">
                          <a:solidFill>
                            <a:srgbClr val="000000"/>
                          </a:solidFill>
                          <a:effectLst/>
                        </a:rPr>
                        <a:t>Failure</a:t>
                      </a:r>
                      <a:endParaRPr lang="en-US" sz="2100" b="1" i="0" u="none" strike="noStrike" dirty="0">
                        <a:solidFill>
                          <a:srgbClr val="000000"/>
                        </a:solidFill>
                        <a:effectLst/>
                        <a:latin typeface="Helvetica Neue" panose="02000503000000020004" pitchFamily="2" charset="0"/>
                      </a:endParaRPr>
                    </a:p>
                  </a:txBody>
                  <a:tcPr marL="12427" marR="12427" marT="12427" marB="0" anchor="ctr"/>
                </a:tc>
                <a:tc>
                  <a:txBody>
                    <a:bodyPr/>
                    <a:lstStyle/>
                    <a:p>
                      <a:pPr algn="ctr" fontAlgn="b">
                        <a:buNone/>
                      </a:pPr>
                      <a:r>
                        <a:rPr lang="en-US" sz="2100" b="1" u="none" strike="noStrike">
                          <a:solidFill>
                            <a:srgbClr val="000000"/>
                          </a:solidFill>
                          <a:effectLst/>
                        </a:rPr>
                        <a:t>Defenses</a:t>
                      </a:r>
                      <a:endParaRPr lang="en-US" sz="2100" b="1" i="0" u="none" strike="noStrike">
                        <a:solidFill>
                          <a:srgbClr val="000000"/>
                        </a:solidFill>
                        <a:effectLst/>
                        <a:latin typeface="Helvetica Neue" panose="02000503000000020004" pitchFamily="2" charset="0"/>
                      </a:endParaRPr>
                    </a:p>
                  </a:txBody>
                  <a:tcPr marL="12427" marR="12427" marT="12427" marB="0" anchor="ctr"/>
                </a:tc>
                <a:tc>
                  <a:txBody>
                    <a:bodyPr/>
                    <a:lstStyle/>
                    <a:p>
                      <a:pPr algn="ctr" fontAlgn="b">
                        <a:buNone/>
                      </a:pPr>
                      <a:r>
                        <a:rPr lang="en-US" sz="2100" b="1" u="none" strike="noStrike">
                          <a:solidFill>
                            <a:srgbClr val="000000"/>
                          </a:solidFill>
                          <a:effectLst/>
                        </a:rPr>
                        <a:t>Deterministic</a:t>
                      </a:r>
                      <a:endParaRPr lang="en-US" sz="2100" b="1" i="0" u="none" strike="noStrike">
                        <a:solidFill>
                          <a:srgbClr val="000000"/>
                        </a:solidFill>
                        <a:effectLst/>
                        <a:latin typeface="Helvetica Neue" panose="02000503000000020004" pitchFamily="2" charset="0"/>
                      </a:endParaRPr>
                    </a:p>
                  </a:txBody>
                  <a:tcPr marL="12427" marR="12427" marT="12427" marB="0" anchor="ctr"/>
                </a:tc>
                <a:tc>
                  <a:txBody>
                    <a:bodyPr/>
                    <a:lstStyle/>
                    <a:p>
                      <a:pPr algn="ctr" fontAlgn="b">
                        <a:buNone/>
                      </a:pPr>
                      <a:r>
                        <a:rPr lang="en-US" sz="2100" b="1" u="none" strike="noStrike">
                          <a:solidFill>
                            <a:srgbClr val="000000"/>
                          </a:solidFill>
                          <a:effectLst/>
                        </a:rPr>
                        <a:t>Residual</a:t>
                      </a:r>
                      <a:endParaRPr lang="en-US" sz="2100" b="1" i="0" u="none" strike="noStrike">
                        <a:solidFill>
                          <a:srgbClr val="000000"/>
                        </a:solidFill>
                        <a:effectLst/>
                        <a:latin typeface="Helvetica Neue" panose="02000503000000020004" pitchFamily="2" charset="0"/>
                      </a:endParaRPr>
                    </a:p>
                  </a:txBody>
                  <a:tcPr marL="12427" marR="12427" marT="12427" marB="0" anchor="ctr"/>
                </a:tc>
                <a:extLst>
                  <a:ext uri="{0D108BD9-81ED-4DB2-BD59-A6C34878D82A}">
                    <a16:rowId xmlns:a16="http://schemas.microsoft.com/office/drawing/2014/main" val="3553146244"/>
                  </a:ext>
                </a:extLst>
              </a:tr>
              <a:tr h="786693">
                <a:tc>
                  <a:txBody>
                    <a:bodyPr/>
                    <a:lstStyle/>
                    <a:p>
                      <a:pPr algn="ctr" fontAlgn="b">
                        <a:buNone/>
                      </a:pPr>
                      <a:r>
                        <a:rPr lang="en-US" sz="2100" b="0" u="none" strike="noStrike" dirty="0">
                          <a:solidFill>
                            <a:srgbClr val="333333"/>
                          </a:solidFill>
                          <a:effectLst/>
                        </a:rPr>
                        <a:t>Missed emergency</a:t>
                      </a:r>
                      <a:endParaRPr lang="en-US" sz="2100" b="0" i="0" u="none" strike="noStrike" dirty="0">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dirty="0">
                          <a:solidFill>
                            <a:srgbClr val="333333"/>
                          </a:solidFill>
                          <a:effectLst/>
                        </a:rPr>
                        <a:t>5 layers</a:t>
                      </a:r>
                      <a:endParaRPr lang="en-US" sz="2100" b="0" i="0" u="none" strike="noStrike" dirty="0">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dirty="0">
                          <a:solidFill>
                            <a:srgbClr val="333333"/>
                          </a:solidFill>
                          <a:effectLst/>
                        </a:rPr>
                        <a:t>3/5</a:t>
                      </a:r>
                      <a:endParaRPr lang="en-US" sz="2100" b="0" i="0" u="none" strike="noStrike" dirty="0">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dirty="0">
                          <a:solidFill>
                            <a:srgbClr val="333333"/>
                          </a:solidFill>
                          <a:effectLst/>
                        </a:rPr>
                        <a:t>LOW</a:t>
                      </a:r>
                      <a:endParaRPr lang="en-US" sz="2100" b="0" i="0" u="none" strike="noStrike" dirty="0">
                        <a:solidFill>
                          <a:srgbClr val="333333"/>
                        </a:solidFill>
                        <a:effectLst/>
                        <a:latin typeface="Helvetica Neue" panose="02000503000000020004" pitchFamily="2" charset="0"/>
                      </a:endParaRPr>
                    </a:p>
                  </a:txBody>
                  <a:tcPr marL="12427" marR="12427" marT="12427" marB="0" anchor="ctr"/>
                </a:tc>
                <a:extLst>
                  <a:ext uri="{0D108BD9-81ED-4DB2-BD59-A6C34878D82A}">
                    <a16:rowId xmlns:a16="http://schemas.microsoft.com/office/drawing/2014/main" val="4285682777"/>
                  </a:ext>
                </a:extLst>
              </a:tr>
              <a:tr h="1054761">
                <a:tc>
                  <a:txBody>
                    <a:bodyPr/>
                    <a:lstStyle/>
                    <a:p>
                      <a:pPr algn="ctr" fontAlgn="b">
                        <a:buNone/>
                      </a:pPr>
                      <a:r>
                        <a:rPr lang="en-US" sz="2100" b="0" u="none" strike="noStrike" dirty="0">
                          <a:solidFill>
                            <a:srgbClr val="333333"/>
                          </a:solidFill>
                          <a:effectLst/>
                        </a:rPr>
                        <a:t>Overtreatment → fall</a:t>
                      </a:r>
                      <a:endParaRPr lang="en-US" sz="2100" b="0" i="0" u="none" strike="noStrike" dirty="0">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dirty="0">
                          <a:solidFill>
                            <a:srgbClr val="333333"/>
                          </a:solidFill>
                          <a:effectLst/>
                        </a:rPr>
                        <a:t>6 layers</a:t>
                      </a:r>
                      <a:endParaRPr lang="en-US" sz="2100" b="0" i="0" u="none" strike="noStrike" dirty="0">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dirty="0">
                          <a:solidFill>
                            <a:srgbClr val="333333"/>
                          </a:solidFill>
                          <a:effectLst/>
                        </a:rPr>
                        <a:t>3/6</a:t>
                      </a:r>
                      <a:endParaRPr lang="en-US" sz="2100" b="0" i="0" u="none" strike="noStrike" dirty="0">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dirty="0">
                          <a:solidFill>
                            <a:srgbClr val="333333"/>
                          </a:solidFill>
                          <a:effectLst/>
                        </a:rPr>
                        <a:t>MODERATE</a:t>
                      </a:r>
                      <a:endParaRPr lang="en-US" sz="2100" b="0" i="0" u="none" strike="noStrike" dirty="0">
                        <a:solidFill>
                          <a:srgbClr val="333333"/>
                        </a:solidFill>
                        <a:effectLst/>
                        <a:latin typeface="Helvetica Neue" panose="02000503000000020004" pitchFamily="2" charset="0"/>
                      </a:endParaRPr>
                    </a:p>
                  </a:txBody>
                  <a:tcPr marL="12427" marR="12427" marT="12427" marB="0" anchor="ctr"/>
                </a:tc>
                <a:extLst>
                  <a:ext uri="{0D108BD9-81ED-4DB2-BD59-A6C34878D82A}">
                    <a16:rowId xmlns:a16="http://schemas.microsoft.com/office/drawing/2014/main" val="2422252320"/>
                  </a:ext>
                </a:extLst>
              </a:tr>
              <a:tr h="1054761">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100" b="0" u="none" strike="noStrike" dirty="0">
                          <a:solidFill>
                            <a:srgbClr val="333333"/>
                          </a:solidFill>
                          <a:effectLst/>
                        </a:rPr>
                        <a:t>Wrong drug in pregnancy</a:t>
                      </a:r>
                      <a:endParaRPr lang="en-US" sz="2100" b="0" i="0" u="none" strike="noStrike" dirty="0">
                        <a:solidFill>
                          <a:srgbClr val="333333"/>
                        </a:solidFill>
                        <a:effectLst/>
                        <a:latin typeface="Helvetica Neue" panose="02000503000000020004" pitchFamily="2" charset="0"/>
                      </a:endParaRPr>
                    </a:p>
                    <a:p>
                      <a:pPr algn="ctr" fontAlgn="b">
                        <a:buNone/>
                      </a:pPr>
                      <a:endParaRPr lang="en-US" sz="2100" b="0" i="0" u="none" strike="noStrike" dirty="0">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a:solidFill>
                            <a:srgbClr val="333333"/>
                          </a:solidFill>
                          <a:effectLst/>
                        </a:rPr>
                        <a:t>6 layers</a:t>
                      </a:r>
                      <a:endParaRPr lang="en-US" sz="2100" b="0" i="0" u="none" strike="noStrike">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dirty="0">
                          <a:solidFill>
                            <a:srgbClr val="333333"/>
                          </a:solidFill>
                          <a:effectLst/>
                        </a:rPr>
                        <a:t>3/6</a:t>
                      </a:r>
                      <a:endParaRPr lang="en-US" sz="2100" b="0" i="0" u="none" strike="noStrike" dirty="0">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a:solidFill>
                            <a:srgbClr val="333333"/>
                          </a:solidFill>
                          <a:effectLst/>
                        </a:rPr>
                        <a:t>LOW</a:t>
                      </a:r>
                      <a:endParaRPr lang="en-US" sz="2100" b="0" i="0" u="none" strike="noStrike">
                        <a:solidFill>
                          <a:srgbClr val="333333"/>
                        </a:solidFill>
                        <a:effectLst/>
                        <a:latin typeface="Helvetica Neue" panose="02000503000000020004" pitchFamily="2" charset="0"/>
                      </a:endParaRPr>
                    </a:p>
                  </a:txBody>
                  <a:tcPr marL="12427" marR="12427" marT="12427" marB="0" anchor="ctr"/>
                </a:tc>
                <a:extLst>
                  <a:ext uri="{0D108BD9-81ED-4DB2-BD59-A6C34878D82A}">
                    <a16:rowId xmlns:a16="http://schemas.microsoft.com/office/drawing/2014/main" val="3907528789"/>
                  </a:ext>
                </a:extLst>
              </a:tr>
              <a:tr h="1054761">
                <a:tc>
                  <a:txBody>
                    <a:bodyPr/>
                    <a:lstStyle/>
                    <a:p>
                      <a:pPr algn="ctr" fontAlgn="b">
                        <a:buNone/>
                      </a:pPr>
                      <a:r>
                        <a:rPr lang="en-US" sz="2100" b="0" u="none" strike="noStrike" dirty="0">
                          <a:solidFill>
                            <a:srgbClr val="333333"/>
                          </a:solidFill>
                          <a:effectLst/>
                        </a:rPr>
                        <a:t>Electrolyte abnormality  post-</a:t>
                      </a:r>
                      <a:r>
                        <a:rPr lang="en-US" sz="2100" b="0" u="none" strike="noStrike" dirty="0" err="1">
                          <a:solidFill>
                            <a:srgbClr val="333333"/>
                          </a:solidFill>
                          <a:effectLst/>
                        </a:rPr>
                        <a:t>uptitration</a:t>
                      </a:r>
                      <a:r>
                        <a:rPr lang="en-US" sz="2100" b="0" u="none" strike="noStrike" dirty="0">
                          <a:solidFill>
                            <a:srgbClr val="333333"/>
                          </a:solidFill>
                          <a:effectLst/>
                        </a:rPr>
                        <a:t>/new drug</a:t>
                      </a:r>
                      <a:endParaRPr lang="en-US" sz="2100" b="0" i="0" u="none" strike="noStrike" dirty="0">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dirty="0">
                          <a:solidFill>
                            <a:srgbClr val="333333"/>
                          </a:solidFill>
                          <a:effectLst/>
                        </a:rPr>
                        <a:t>6 layers</a:t>
                      </a:r>
                      <a:endParaRPr lang="en-US" sz="2100" b="0" i="0" u="none" strike="noStrike" dirty="0">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dirty="0">
                          <a:solidFill>
                            <a:srgbClr val="000000"/>
                          </a:solidFill>
                          <a:effectLst/>
                        </a:rPr>
                        <a:t>6/6</a:t>
                      </a:r>
                      <a:endParaRPr lang="en-US" sz="2100" b="0" i="0" u="none" strike="noStrike" dirty="0">
                        <a:solidFill>
                          <a:srgbClr val="000000"/>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dirty="0">
                          <a:solidFill>
                            <a:srgbClr val="333333"/>
                          </a:solidFill>
                          <a:effectLst/>
                        </a:rPr>
                        <a:t>VERY LOW</a:t>
                      </a:r>
                      <a:endParaRPr lang="en-US" sz="2100" b="0" i="0" u="none" strike="noStrike" dirty="0">
                        <a:solidFill>
                          <a:srgbClr val="333333"/>
                        </a:solidFill>
                        <a:effectLst/>
                        <a:latin typeface="Helvetica Neue" panose="02000503000000020004" pitchFamily="2" charset="0"/>
                      </a:endParaRPr>
                    </a:p>
                  </a:txBody>
                  <a:tcPr marL="12427" marR="12427" marT="12427" marB="0" anchor="ctr"/>
                </a:tc>
                <a:extLst>
                  <a:ext uri="{0D108BD9-81ED-4DB2-BD59-A6C34878D82A}">
                    <a16:rowId xmlns:a16="http://schemas.microsoft.com/office/drawing/2014/main" val="4070594246"/>
                  </a:ext>
                </a:extLst>
              </a:tr>
              <a:tr h="786693">
                <a:tc>
                  <a:txBody>
                    <a:bodyPr/>
                    <a:lstStyle/>
                    <a:p>
                      <a:pPr algn="ctr" fontAlgn="b">
                        <a:buNone/>
                      </a:pPr>
                      <a:r>
                        <a:rPr lang="en-US" sz="2100" b="0" u="none" strike="noStrike" dirty="0">
                          <a:solidFill>
                            <a:srgbClr val="333333"/>
                          </a:solidFill>
                          <a:effectLst/>
                        </a:rPr>
                        <a:t>Missed secondary HTN</a:t>
                      </a:r>
                      <a:endParaRPr lang="en-US" sz="2100" b="0" i="0" u="none" strike="noStrike" dirty="0">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dirty="0">
                          <a:solidFill>
                            <a:srgbClr val="333333"/>
                          </a:solidFill>
                          <a:effectLst/>
                        </a:rPr>
                        <a:t>6 layers</a:t>
                      </a:r>
                      <a:endParaRPr lang="en-US" sz="2100" b="0" i="0" u="none" strike="noStrike" dirty="0">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dirty="0">
                          <a:solidFill>
                            <a:srgbClr val="333333"/>
                          </a:solidFill>
                          <a:effectLst/>
                        </a:rPr>
                        <a:t>4/6</a:t>
                      </a:r>
                      <a:endParaRPr lang="en-US" sz="2100" b="0" i="0" u="none" strike="noStrike" dirty="0">
                        <a:solidFill>
                          <a:srgbClr val="333333"/>
                        </a:solidFill>
                        <a:effectLst/>
                        <a:latin typeface="Helvetica Neue" panose="02000503000000020004" pitchFamily="2" charset="0"/>
                      </a:endParaRPr>
                    </a:p>
                  </a:txBody>
                  <a:tcPr marL="12427" marR="12427" marT="12427" marB="0" anchor="ctr"/>
                </a:tc>
                <a:tc>
                  <a:txBody>
                    <a:bodyPr/>
                    <a:lstStyle/>
                    <a:p>
                      <a:pPr algn="ctr" fontAlgn="b">
                        <a:buNone/>
                      </a:pPr>
                      <a:r>
                        <a:rPr lang="en-US" sz="2100" b="0" u="none" strike="noStrike" dirty="0">
                          <a:solidFill>
                            <a:srgbClr val="333333"/>
                          </a:solidFill>
                          <a:effectLst/>
                        </a:rPr>
                        <a:t>MODERATE</a:t>
                      </a:r>
                      <a:endParaRPr lang="en-US" sz="2100" b="0" i="0" u="none" strike="noStrike" dirty="0">
                        <a:solidFill>
                          <a:srgbClr val="333333"/>
                        </a:solidFill>
                        <a:effectLst/>
                        <a:latin typeface="Helvetica Neue" panose="02000503000000020004" pitchFamily="2" charset="0"/>
                      </a:endParaRPr>
                    </a:p>
                  </a:txBody>
                  <a:tcPr marL="12427" marR="12427" marT="12427" marB="0" anchor="ctr"/>
                </a:tc>
                <a:extLst>
                  <a:ext uri="{0D108BD9-81ED-4DB2-BD59-A6C34878D82A}">
                    <a16:rowId xmlns:a16="http://schemas.microsoft.com/office/drawing/2014/main" val="838690896"/>
                  </a:ext>
                </a:extLst>
              </a:tr>
            </a:tbl>
          </a:graphicData>
        </a:graphic>
      </p:graphicFrame>
      <p:sp>
        <p:nvSpPr>
          <p:cNvPr id="7" name="Title 1">
            <a:extLst>
              <a:ext uri="{FF2B5EF4-FFF2-40B4-BE49-F238E27FC236}">
                <a16:creationId xmlns:a16="http://schemas.microsoft.com/office/drawing/2014/main" id="{EC31D6F9-F5A0-07B7-DA77-9323075CA998}"/>
              </a:ext>
            </a:extLst>
          </p:cNvPr>
          <p:cNvSpPr>
            <a:spLocks noGrp="1"/>
          </p:cNvSpPr>
          <p:nvPr>
            <p:ph type="title"/>
          </p:nvPr>
        </p:nvSpPr>
        <p:spPr>
          <a:xfrm>
            <a:off x="320841" y="18256"/>
            <a:ext cx="11662611" cy="981870"/>
          </a:xfrm>
        </p:spPr>
        <p:txBody>
          <a:bodyPr>
            <a:normAutofit/>
          </a:bodyPr>
          <a:lstStyle/>
          <a:p>
            <a:r>
              <a:rPr lang="en-US" sz="3600" dirty="0"/>
              <a:t>Safety Failure Modes – 5 most likely causes of severe harm</a:t>
            </a:r>
          </a:p>
        </p:txBody>
      </p:sp>
    </p:spTree>
    <p:extLst>
      <p:ext uri="{BB962C8B-B14F-4D97-AF65-F5344CB8AC3E}">
        <p14:creationId xmlns:p14="http://schemas.microsoft.com/office/powerpoint/2010/main" val="1562247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F0539909-F78A-E40D-28CF-BBF5E9EEE40D}"/>
              </a:ext>
            </a:extLst>
          </p:cNvPr>
          <p:cNvSpPr/>
          <p:nvPr/>
        </p:nvSpPr>
        <p:spPr>
          <a:xfrm>
            <a:off x="62120" y="632045"/>
            <a:ext cx="9923091" cy="249825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6" name="Rounded Rectangle 5">
            <a:extLst>
              <a:ext uri="{FF2B5EF4-FFF2-40B4-BE49-F238E27FC236}">
                <a16:creationId xmlns:a16="http://schemas.microsoft.com/office/drawing/2014/main" id="{9386F72D-2784-BAA9-4788-7511548C56D1}"/>
              </a:ext>
            </a:extLst>
          </p:cNvPr>
          <p:cNvSpPr/>
          <p:nvPr/>
        </p:nvSpPr>
        <p:spPr>
          <a:xfrm>
            <a:off x="180130" y="4221555"/>
            <a:ext cx="1314293"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State Machine</a:t>
            </a:r>
          </a:p>
        </p:txBody>
      </p:sp>
      <p:sp>
        <p:nvSpPr>
          <p:cNvPr id="7" name="Rounded Rectangle 6">
            <a:extLst>
              <a:ext uri="{FF2B5EF4-FFF2-40B4-BE49-F238E27FC236}">
                <a16:creationId xmlns:a16="http://schemas.microsoft.com/office/drawing/2014/main" id="{1CF813BA-8E68-4463-21CF-B2ED17BD6C86}"/>
              </a:ext>
            </a:extLst>
          </p:cNvPr>
          <p:cNvSpPr/>
          <p:nvPr/>
        </p:nvSpPr>
        <p:spPr>
          <a:xfrm>
            <a:off x="1733643" y="4233332"/>
            <a:ext cx="1314293"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Decision Trees</a:t>
            </a:r>
          </a:p>
        </p:txBody>
      </p:sp>
      <p:sp>
        <p:nvSpPr>
          <p:cNvPr id="8" name="Rounded Rectangle 7">
            <a:extLst>
              <a:ext uri="{FF2B5EF4-FFF2-40B4-BE49-F238E27FC236}">
                <a16:creationId xmlns:a16="http://schemas.microsoft.com/office/drawing/2014/main" id="{14660F92-4751-7279-7F47-BC7ED39CAE00}"/>
              </a:ext>
            </a:extLst>
          </p:cNvPr>
          <p:cNvSpPr/>
          <p:nvPr/>
        </p:nvSpPr>
        <p:spPr>
          <a:xfrm>
            <a:off x="3244970" y="4268023"/>
            <a:ext cx="1314293"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RAG Reasoning</a:t>
            </a:r>
          </a:p>
        </p:txBody>
      </p:sp>
      <p:sp>
        <p:nvSpPr>
          <p:cNvPr id="12" name="TextBox 11">
            <a:extLst>
              <a:ext uri="{FF2B5EF4-FFF2-40B4-BE49-F238E27FC236}">
                <a16:creationId xmlns:a16="http://schemas.microsoft.com/office/drawing/2014/main" id="{96347563-4349-6598-6EAA-19D757CB9FE9}"/>
              </a:ext>
            </a:extLst>
          </p:cNvPr>
          <p:cNvSpPr txBox="1"/>
          <p:nvPr/>
        </p:nvSpPr>
        <p:spPr>
          <a:xfrm>
            <a:off x="288900" y="3551502"/>
            <a:ext cx="3839541" cy="369332"/>
          </a:xfrm>
          <a:prstGeom prst="rect">
            <a:avLst/>
          </a:prstGeom>
          <a:noFill/>
        </p:spPr>
        <p:txBody>
          <a:bodyPr wrap="square" rtlCol="0">
            <a:spAutoFit/>
          </a:bodyPr>
          <a:lstStyle/>
          <a:p>
            <a:r>
              <a:rPr lang="en-US" dirty="0"/>
              <a:t>System Orchestrator</a:t>
            </a:r>
          </a:p>
        </p:txBody>
      </p:sp>
      <p:sp>
        <p:nvSpPr>
          <p:cNvPr id="13" name="Rounded Rectangle 12">
            <a:extLst>
              <a:ext uri="{FF2B5EF4-FFF2-40B4-BE49-F238E27FC236}">
                <a16:creationId xmlns:a16="http://schemas.microsoft.com/office/drawing/2014/main" id="{C133771C-2BFA-94B6-13F0-1C90EA733268}"/>
              </a:ext>
            </a:extLst>
          </p:cNvPr>
          <p:cNvSpPr/>
          <p:nvPr/>
        </p:nvSpPr>
        <p:spPr>
          <a:xfrm>
            <a:off x="4682965" y="4268023"/>
            <a:ext cx="1314293"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Safety Pipeline</a:t>
            </a:r>
          </a:p>
        </p:txBody>
      </p:sp>
      <p:sp>
        <p:nvSpPr>
          <p:cNvPr id="14" name="Rounded Rectangle 13">
            <a:extLst>
              <a:ext uri="{FF2B5EF4-FFF2-40B4-BE49-F238E27FC236}">
                <a16:creationId xmlns:a16="http://schemas.microsoft.com/office/drawing/2014/main" id="{6B21DC4E-FACE-C07F-0D1B-77CC89B02B40}"/>
              </a:ext>
            </a:extLst>
          </p:cNvPr>
          <p:cNvSpPr/>
          <p:nvPr/>
        </p:nvSpPr>
        <p:spPr>
          <a:xfrm>
            <a:off x="109066" y="1163975"/>
            <a:ext cx="1581150"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Conversation</a:t>
            </a:r>
          </a:p>
        </p:txBody>
      </p:sp>
      <p:sp>
        <p:nvSpPr>
          <p:cNvPr id="17" name="Rounded Rectangle 16">
            <a:extLst>
              <a:ext uri="{FF2B5EF4-FFF2-40B4-BE49-F238E27FC236}">
                <a16:creationId xmlns:a16="http://schemas.microsoft.com/office/drawing/2014/main" id="{88E80562-5105-F006-18A2-7A14D6BDD13C}"/>
              </a:ext>
            </a:extLst>
          </p:cNvPr>
          <p:cNvSpPr/>
          <p:nvPr/>
        </p:nvSpPr>
        <p:spPr>
          <a:xfrm>
            <a:off x="1742499" y="1170926"/>
            <a:ext cx="1427160"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Tool calling</a:t>
            </a:r>
          </a:p>
        </p:txBody>
      </p:sp>
      <p:sp>
        <p:nvSpPr>
          <p:cNvPr id="18" name="Rounded Rectangle 17">
            <a:extLst>
              <a:ext uri="{FF2B5EF4-FFF2-40B4-BE49-F238E27FC236}">
                <a16:creationId xmlns:a16="http://schemas.microsoft.com/office/drawing/2014/main" id="{1AE1A6BA-1A3B-FCD0-E1F0-B88CA52151F0}"/>
              </a:ext>
            </a:extLst>
          </p:cNvPr>
          <p:cNvSpPr/>
          <p:nvPr/>
        </p:nvSpPr>
        <p:spPr>
          <a:xfrm>
            <a:off x="3257269" y="1198482"/>
            <a:ext cx="1427160"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Clinical education</a:t>
            </a:r>
          </a:p>
        </p:txBody>
      </p:sp>
      <p:sp>
        <p:nvSpPr>
          <p:cNvPr id="19" name="Rounded Rectangle 18">
            <a:extLst>
              <a:ext uri="{FF2B5EF4-FFF2-40B4-BE49-F238E27FC236}">
                <a16:creationId xmlns:a16="http://schemas.microsoft.com/office/drawing/2014/main" id="{D8DF7D57-65E5-49D6-A43B-83C6E1621284}"/>
              </a:ext>
            </a:extLst>
          </p:cNvPr>
          <p:cNvSpPr/>
          <p:nvPr/>
        </p:nvSpPr>
        <p:spPr>
          <a:xfrm>
            <a:off x="4861137" y="1198482"/>
            <a:ext cx="1427160"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Symptom recognition</a:t>
            </a:r>
          </a:p>
        </p:txBody>
      </p:sp>
      <p:sp>
        <p:nvSpPr>
          <p:cNvPr id="21" name="Rounded Rectangle 20">
            <a:extLst>
              <a:ext uri="{FF2B5EF4-FFF2-40B4-BE49-F238E27FC236}">
                <a16:creationId xmlns:a16="http://schemas.microsoft.com/office/drawing/2014/main" id="{0FC2313C-7DEC-5E94-E4E2-16276F1BC6A4}"/>
              </a:ext>
            </a:extLst>
          </p:cNvPr>
          <p:cNvSpPr/>
          <p:nvPr/>
        </p:nvSpPr>
        <p:spPr>
          <a:xfrm>
            <a:off x="6465005" y="1198482"/>
            <a:ext cx="1619551"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Adherence assessment</a:t>
            </a:r>
          </a:p>
        </p:txBody>
      </p:sp>
      <p:sp>
        <p:nvSpPr>
          <p:cNvPr id="22" name="Rounded Rectangle 21">
            <a:extLst>
              <a:ext uri="{FF2B5EF4-FFF2-40B4-BE49-F238E27FC236}">
                <a16:creationId xmlns:a16="http://schemas.microsoft.com/office/drawing/2014/main" id="{D81EAE18-569F-D69D-1EAC-0133623B50F2}"/>
              </a:ext>
            </a:extLst>
          </p:cNvPr>
          <p:cNvSpPr/>
          <p:nvPr/>
        </p:nvSpPr>
        <p:spPr>
          <a:xfrm>
            <a:off x="1706641" y="2158781"/>
            <a:ext cx="2569527"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Reproductive safety screening</a:t>
            </a:r>
          </a:p>
        </p:txBody>
      </p:sp>
      <p:sp>
        <p:nvSpPr>
          <p:cNvPr id="23" name="Rounded Rectangle 22">
            <a:extLst>
              <a:ext uri="{FF2B5EF4-FFF2-40B4-BE49-F238E27FC236}">
                <a16:creationId xmlns:a16="http://schemas.microsoft.com/office/drawing/2014/main" id="{5AC00FC2-6738-1C11-98ED-ED7D707A517A}"/>
              </a:ext>
            </a:extLst>
          </p:cNvPr>
          <p:cNvSpPr/>
          <p:nvPr/>
        </p:nvSpPr>
        <p:spPr>
          <a:xfrm>
            <a:off x="136357" y="2126036"/>
            <a:ext cx="1442527"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Emergency response</a:t>
            </a:r>
          </a:p>
        </p:txBody>
      </p:sp>
      <p:sp>
        <p:nvSpPr>
          <p:cNvPr id="24" name="Rounded Rectangle 23">
            <a:extLst>
              <a:ext uri="{FF2B5EF4-FFF2-40B4-BE49-F238E27FC236}">
                <a16:creationId xmlns:a16="http://schemas.microsoft.com/office/drawing/2014/main" id="{FDB0557C-C983-2145-4C54-8DC47D282EEB}"/>
              </a:ext>
            </a:extLst>
          </p:cNvPr>
          <p:cNvSpPr/>
          <p:nvPr/>
        </p:nvSpPr>
        <p:spPr>
          <a:xfrm>
            <a:off x="7587957" y="2227688"/>
            <a:ext cx="2189567"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Conversation scope enforcement</a:t>
            </a:r>
          </a:p>
        </p:txBody>
      </p:sp>
      <p:sp>
        <p:nvSpPr>
          <p:cNvPr id="25" name="TextBox 24">
            <a:extLst>
              <a:ext uri="{FF2B5EF4-FFF2-40B4-BE49-F238E27FC236}">
                <a16:creationId xmlns:a16="http://schemas.microsoft.com/office/drawing/2014/main" id="{60836823-54F4-9B03-E2CD-94A746D3E5A6}"/>
              </a:ext>
            </a:extLst>
          </p:cNvPr>
          <p:cNvSpPr txBox="1"/>
          <p:nvPr/>
        </p:nvSpPr>
        <p:spPr>
          <a:xfrm>
            <a:off x="131308" y="669966"/>
            <a:ext cx="3839541" cy="369332"/>
          </a:xfrm>
          <a:prstGeom prst="rect">
            <a:avLst/>
          </a:prstGeom>
          <a:noFill/>
        </p:spPr>
        <p:txBody>
          <a:bodyPr wrap="square" rtlCol="0">
            <a:spAutoFit/>
          </a:bodyPr>
          <a:lstStyle/>
          <a:p>
            <a:r>
              <a:rPr lang="en-US" dirty="0"/>
              <a:t>Main agent - LLM</a:t>
            </a:r>
          </a:p>
        </p:txBody>
      </p:sp>
      <p:sp>
        <p:nvSpPr>
          <p:cNvPr id="26" name="Rounded Rectangle 25">
            <a:extLst>
              <a:ext uri="{FF2B5EF4-FFF2-40B4-BE49-F238E27FC236}">
                <a16:creationId xmlns:a16="http://schemas.microsoft.com/office/drawing/2014/main" id="{855F4309-004F-853C-7CCB-E96E789D64DF}"/>
              </a:ext>
            </a:extLst>
          </p:cNvPr>
          <p:cNvSpPr/>
          <p:nvPr/>
        </p:nvSpPr>
        <p:spPr>
          <a:xfrm>
            <a:off x="67156" y="3331899"/>
            <a:ext cx="6119222" cy="294321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8" name="Rounded Rectangle 27">
            <a:extLst>
              <a:ext uri="{FF2B5EF4-FFF2-40B4-BE49-F238E27FC236}">
                <a16:creationId xmlns:a16="http://schemas.microsoft.com/office/drawing/2014/main" id="{AFD4F13B-042E-B7C4-B54B-F90F37E716EB}"/>
              </a:ext>
            </a:extLst>
          </p:cNvPr>
          <p:cNvSpPr/>
          <p:nvPr/>
        </p:nvSpPr>
        <p:spPr>
          <a:xfrm>
            <a:off x="6376185" y="3286550"/>
            <a:ext cx="5526915" cy="3521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30" name="Rounded Rectangle 29">
            <a:extLst>
              <a:ext uri="{FF2B5EF4-FFF2-40B4-BE49-F238E27FC236}">
                <a16:creationId xmlns:a16="http://schemas.microsoft.com/office/drawing/2014/main" id="{9FE460AD-FE4E-3BC3-0AAB-D221714CCCC1}"/>
              </a:ext>
            </a:extLst>
          </p:cNvPr>
          <p:cNvSpPr/>
          <p:nvPr/>
        </p:nvSpPr>
        <p:spPr>
          <a:xfrm>
            <a:off x="6499887" y="4440463"/>
            <a:ext cx="1582313" cy="123354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Pre and post processing layers (LLM + rules)</a:t>
            </a:r>
          </a:p>
        </p:txBody>
      </p:sp>
      <p:sp>
        <p:nvSpPr>
          <p:cNvPr id="31" name="Rounded Rectangle 30">
            <a:extLst>
              <a:ext uri="{FF2B5EF4-FFF2-40B4-BE49-F238E27FC236}">
                <a16:creationId xmlns:a16="http://schemas.microsoft.com/office/drawing/2014/main" id="{FC2E7CB4-D852-A83C-8CC5-C0B82574AE90}"/>
              </a:ext>
            </a:extLst>
          </p:cNvPr>
          <p:cNvSpPr/>
          <p:nvPr/>
        </p:nvSpPr>
        <p:spPr>
          <a:xfrm>
            <a:off x="9995913" y="4449185"/>
            <a:ext cx="1315527" cy="12161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Note generator</a:t>
            </a:r>
          </a:p>
        </p:txBody>
      </p:sp>
      <p:sp>
        <p:nvSpPr>
          <p:cNvPr id="32" name="Rounded Rectangle 31">
            <a:extLst>
              <a:ext uri="{FF2B5EF4-FFF2-40B4-BE49-F238E27FC236}">
                <a16:creationId xmlns:a16="http://schemas.microsoft.com/office/drawing/2014/main" id="{8F0B3F06-4907-4D1B-2CEF-910F7A429970}"/>
              </a:ext>
            </a:extLst>
          </p:cNvPr>
          <p:cNvSpPr/>
          <p:nvPr/>
        </p:nvSpPr>
        <p:spPr>
          <a:xfrm>
            <a:off x="8284320" y="4457906"/>
            <a:ext cx="1315527" cy="121610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LLM-as-judge</a:t>
            </a:r>
          </a:p>
        </p:txBody>
      </p:sp>
      <p:sp>
        <p:nvSpPr>
          <p:cNvPr id="33" name="Rounded Rectangle 32">
            <a:extLst>
              <a:ext uri="{FF2B5EF4-FFF2-40B4-BE49-F238E27FC236}">
                <a16:creationId xmlns:a16="http://schemas.microsoft.com/office/drawing/2014/main" id="{141A0DAA-83C3-E634-3A31-0C437EAB3D1D}"/>
              </a:ext>
            </a:extLst>
          </p:cNvPr>
          <p:cNvSpPr/>
          <p:nvPr/>
        </p:nvSpPr>
        <p:spPr>
          <a:xfrm>
            <a:off x="6499888" y="3571772"/>
            <a:ext cx="5403212"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Ingestion services:  </a:t>
            </a:r>
            <a:r>
              <a:rPr lang="en-US" dirty="0" err="1">
                <a:solidFill>
                  <a:schemeClr val="tx1"/>
                </a:solidFill>
              </a:rPr>
              <a:t>Withings</a:t>
            </a:r>
            <a:r>
              <a:rPr lang="en-US" dirty="0">
                <a:solidFill>
                  <a:schemeClr val="tx1"/>
                </a:solidFill>
              </a:rPr>
              <a:t>, </a:t>
            </a:r>
            <a:r>
              <a:rPr lang="en-US" dirty="0" err="1">
                <a:solidFill>
                  <a:schemeClr val="tx1"/>
                </a:solidFill>
              </a:rPr>
              <a:t>Surecripts</a:t>
            </a:r>
            <a:r>
              <a:rPr lang="en-US" dirty="0">
                <a:solidFill>
                  <a:schemeClr val="tx1"/>
                </a:solidFill>
              </a:rPr>
              <a:t>, </a:t>
            </a:r>
            <a:r>
              <a:rPr lang="en-US" dirty="0" err="1">
                <a:solidFill>
                  <a:schemeClr val="tx1"/>
                </a:solidFill>
              </a:rPr>
              <a:t>OpenFDA</a:t>
            </a:r>
            <a:r>
              <a:rPr lang="en-US" dirty="0">
                <a:solidFill>
                  <a:schemeClr val="tx1"/>
                </a:solidFill>
              </a:rPr>
              <a:t> </a:t>
            </a:r>
            <a:r>
              <a:rPr lang="en-US" dirty="0" err="1">
                <a:solidFill>
                  <a:schemeClr val="tx1"/>
                </a:solidFill>
              </a:rPr>
              <a:t>HealthGorilla</a:t>
            </a:r>
            <a:r>
              <a:rPr lang="en-US" dirty="0">
                <a:solidFill>
                  <a:schemeClr val="tx1"/>
                </a:solidFill>
              </a:rPr>
              <a:t>, </a:t>
            </a:r>
            <a:r>
              <a:rPr lang="en-US" dirty="0" err="1">
                <a:solidFill>
                  <a:schemeClr val="tx1"/>
                </a:solidFill>
              </a:rPr>
              <a:t>RxNorm</a:t>
            </a:r>
            <a:r>
              <a:rPr lang="en-US" dirty="0">
                <a:solidFill>
                  <a:schemeClr val="tx1"/>
                </a:solidFill>
              </a:rPr>
              <a:t>, external clinical notes</a:t>
            </a:r>
          </a:p>
        </p:txBody>
      </p:sp>
      <p:sp>
        <p:nvSpPr>
          <p:cNvPr id="34" name="Rounded Rectangle 33">
            <a:extLst>
              <a:ext uri="{FF2B5EF4-FFF2-40B4-BE49-F238E27FC236}">
                <a16:creationId xmlns:a16="http://schemas.microsoft.com/office/drawing/2014/main" id="{B0D3A15A-B0E0-E0D7-4C53-5FE83F59C1F0}"/>
              </a:ext>
            </a:extLst>
          </p:cNvPr>
          <p:cNvSpPr/>
          <p:nvPr/>
        </p:nvSpPr>
        <p:spPr>
          <a:xfrm>
            <a:off x="6552308" y="5788738"/>
            <a:ext cx="1529893"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Session summarizer</a:t>
            </a:r>
          </a:p>
        </p:txBody>
      </p:sp>
      <p:sp>
        <p:nvSpPr>
          <p:cNvPr id="35" name="Rounded Rectangle 34">
            <a:extLst>
              <a:ext uri="{FF2B5EF4-FFF2-40B4-BE49-F238E27FC236}">
                <a16:creationId xmlns:a16="http://schemas.microsoft.com/office/drawing/2014/main" id="{6CB035E8-1A55-DBED-C258-A722165FFD6A}"/>
              </a:ext>
            </a:extLst>
          </p:cNvPr>
          <p:cNvSpPr/>
          <p:nvPr/>
        </p:nvSpPr>
        <p:spPr>
          <a:xfrm>
            <a:off x="10030009" y="5788738"/>
            <a:ext cx="1346262"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Clinician dashboard</a:t>
            </a:r>
          </a:p>
        </p:txBody>
      </p:sp>
      <p:sp>
        <p:nvSpPr>
          <p:cNvPr id="36" name="Rounded Rectangle 35">
            <a:extLst>
              <a:ext uri="{FF2B5EF4-FFF2-40B4-BE49-F238E27FC236}">
                <a16:creationId xmlns:a16="http://schemas.microsoft.com/office/drawing/2014/main" id="{71932D9C-7685-87E4-8B31-61825A601E0C}"/>
              </a:ext>
            </a:extLst>
          </p:cNvPr>
          <p:cNvSpPr/>
          <p:nvPr/>
        </p:nvSpPr>
        <p:spPr>
          <a:xfrm>
            <a:off x="8247223" y="5781392"/>
            <a:ext cx="1409978"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Follow-up scheduler</a:t>
            </a:r>
          </a:p>
        </p:txBody>
      </p:sp>
      <p:sp>
        <p:nvSpPr>
          <p:cNvPr id="37" name="TextBox 36">
            <a:extLst>
              <a:ext uri="{FF2B5EF4-FFF2-40B4-BE49-F238E27FC236}">
                <a16:creationId xmlns:a16="http://schemas.microsoft.com/office/drawing/2014/main" id="{471651FC-6560-7A7B-4436-79B9D26B3BAD}"/>
              </a:ext>
            </a:extLst>
          </p:cNvPr>
          <p:cNvSpPr txBox="1"/>
          <p:nvPr/>
        </p:nvSpPr>
        <p:spPr>
          <a:xfrm>
            <a:off x="6649504" y="3259930"/>
            <a:ext cx="758422" cy="369332"/>
          </a:xfrm>
          <a:prstGeom prst="rect">
            <a:avLst/>
          </a:prstGeom>
          <a:noFill/>
        </p:spPr>
        <p:txBody>
          <a:bodyPr wrap="square" rtlCol="0">
            <a:spAutoFit/>
          </a:bodyPr>
          <a:lstStyle/>
          <a:p>
            <a:r>
              <a:rPr lang="en-US" dirty="0"/>
              <a:t>Other</a:t>
            </a:r>
          </a:p>
        </p:txBody>
      </p:sp>
      <p:sp>
        <p:nvSpPr>
          <p:cNvPr id="38" name="Title 1">
            <a:extLst>
              <a:ext uri="{FF2B5EF4-FFF2-40B4-BE49-F238E27FC236}">
                <a16:creationId xmlns:a16="http://schemas.microsoft.com/office/drawing/2014/main" id="{852D43F9-B026-EC28-7D2F-B817BD010D22}"/>
              </a:ext>
            </a:extLst>
          </p:cNvPr>
          <p:cNvSpPr>
            <a:spLocks noGrp="1"/>
          </p:cNvSpPr>
          <p:nvPr>
            <p:ph type="title"/>
          </p:nvPr>
        </p:nvSpPr>
        <p:spPr>
          <a:xfrm>
            <a:off x="4702843" y="-237937"/>
            <a:ext cx="4125356" cy="1091683"/>
          </a:xfrm>
        </p:spPr>
        <p:txBody>
          <a:bodyPr>
            <a:normAutofit/>
          </a:bodyPr>
          <a:lstStyle/>
          <a:p>
            <a:r>
              <a:rPr lang="en-US" sz="3800" dirty="0"/>
              <a:t>Architecture</a:t>
            </a:r>
          </a:p>
        </p:txBody>
      </p:sp>
      <p:sp>
        <p:nvSpPr>
          <p:cNvPr id="2" name="Rounded Rectangle 1">
            <a:extLst>
              <a:ext uri="{FF2B5EF4-FFF2-40B4-BE49-F238E27FC236}">
                <a16:creationId xmlns:a16="http://schemas.microsoft.com/office/drawing/2014/main" id="{9B38DCE8-F1BB-3D73-0FB4-6FDB7B598EE8}"/>
              </a:ext>
            </a:extLst>
          </p:cNvPr>
          <p:cNvSpPr/>
          <p:nvPr/>
        </p:nvSpPr>
        <p:spPr>
          <a:xfrm>
            <a:off x="8261264" y="1216799"/>
            <a:ext cx="1619551"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Side effect mapping</a:t>
            </a:r>
          </a:p>
        </p:txBody>
      </p:sp>
      <p:sp>
        <p:nvSpPr>
          <p:cNvPr id="3" name="Rounded Rectangle 2">
            <a:extLst>
              <a:ext uri="{FF2B5EF4-FFF2-40B4-BE49-F238E27FC236}">
                <a16:creationId xmlns:a16="http://schemas.microsoft.com/office/drawing/2014/main" id="{9AE8FEE9-B6DF-2E11-BA2A-32ABE8A923B3}"/>
              </a:ext>
            </a:extLst>
          </p:cNvPr>
          <p:cNvSpPr/>
          <p:nvPr/>
        </p:nvSpPr>
        <p:spPr>
          <a:xfrm>
            <a:off x="4404925" y="2191054"/>
            <a:ext cx="1498358"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Lifestyle coaching</a:t>
            </a:r>
          </a:p>
        </p:txBody>
      </p:sp>
      <p:sp>
        <p:nvSpPr>
          <p:cNvPr id="5" name="Rounded Rectangle 4">
            <a:extLst>
              <a:ext uri="{FF2B5EF4-FFF2-40B4-BE49-F238E27FC236}">
                <a16:creationId xmlns:a16="http://schemas.microsoft.com/office/drawing/2014/main" id="{994D3DA3-7EF9-CF27-F854-43BB954CC487}"/>
              </a:ext>
            </a:extLst>
          </p:cNvPr>
          <p:cNvSpPr/>
          <p:nvPr/>
        </p:nvSpPr>
        <p:spPr>
          <a:xfrm>
            <a:off x="6032040" y="2231633"/>
            <a:ext cx="1427160"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Interpret ambiguity</a:t>
            </a:r>
          </a:p>
        </p:txBody>
      </p:sp>
      <p:sp>
        <p:nvSpPr>
          <p:cNvPr id="9" name="Rounded Rectangle 8">
            <a:extLst>
              <a:ext uri="{FF2B5EF4-FFF2-40B4-BE49-F238E27FC236}">
                <a16:creationId xmlns:a16="http://schemas.microsoft.com/office/drawing/2014/main" id="{25BBCF6B-4209-8692-4A07-4ED861AA91A5}"/>
              </a:ext>
            </a:extLst>
          </p:cNvPr>
          <p:cNvSpPr/>
          <p:nvPr/>
        </p:nvSpPr>
        <p:spPr>
          <a:xfrm>
            <a:off x="10054892" y="472873"/>
            <a:ext cx="2028097" cy="25478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0" name="TextBox 9">
            <a:extLst>
              <a:ext uri="{FF2B5EF4-FFF2-40B4-BE49-F238E27FC236}">
                <a16:creationId xmlns:a16="http://schemas.microsoft.com/office/drawing/2014/main" id="{083E15AF-CDA3-8E33-3312-96AC75D46BDC}"/>
              </a:ext>
            </a:extLst>
          </p:cNvPr>
          <p:cNvSpPr txBox="1"/>
          <p:nvPr/>
        </p:nvSpPr>
        <p:spPr>
          <a:xfrm>
            <a:off x="10431446" y="599406"/>
            <a:ext cx="1347357" cy="369332"/>
          </a:xfrm>
          <a:prstGeom prst="rect">
            <a:avLst/>
          </a:prstGeom>
          <a:noFill/>
        </p:spPr>
        <p:txBody>
          <a:bodyPr wrap="none" rtlCol="0">
            <a:spAutoFit/>
          </a:bodyPr>
          <a:lstStyle/>
          <a:p>
            <a:r>
              <a:rPr lang="en-US" dirty="0"/>
              <a:t>Data Stores</a:t>
            </a:r>
          </a:p>
        </p:txBody>
      </p:sp>
      <p:sp>
        <p:nvSpPr>
          <p:cNvPr id="11" name="Rounded Rectangle 10">
            <a:extLst>
              <a:ext uri="{FF2B5EF4-FFF2-40B4-BE49-F238E27FC236}">
                <a16:creationId xmlns:a16="http://schemas.microsoft.com/office/drawing/2014/main" id="{12DA0A67-BA82-D937-4AAF-A82D63B0D2B7}"/>
              </a:ext>
            </a:extLst>
          </p:cNvPr>
          <p:cNvSpPr/>
          <p:nvPr/>
        </p:nvSpPr>
        <p:spPr>
          <a:xfrm>
            <a:off x="10150733" y="1033817"/>
            <a:ext cx="776826"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EHR</a:t>
            </a:r>
          </a:p>
        </p:txBody>
      </p:sp>
      <p:sp>
        <p:nvSpPr>
          <p:cNvPr id="15" name="Rounded Rectangle 14">
            <a:extLst>
              <a:ext uri="{FF2B5EF4-FFF2-40B4-BE49-F238E27FC236}">
                <a16:creationId xmlns:a16="http://schemas.microsoft.com/office/drawing/2014/main" id="{62AE4717-A2B4-2CD8-7E59-92021D1553FA}"/>
              </a:ext>
            </a:extLst>
          </p:cNvPr>
          <p:cNvSpPr/>
          <p:nvPr/>
        </p:nvSpPr>
        <p:spPr>
          <a:xfrm>
            <a:off x="10390835" y="1917935"/>
            <a:ext cx="1428581" cy="3693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Operational</a:t>
            </a:r>
          </a:p>
        </p:txBody>
      </p:sp>
      <p:sp>
        <p:nvSpPr>
          <p:cNvPr id="20" name="Rounded Rectangle 19">
            <a:extLst>
              <a:ext uri="{FF2B5EF4-FFF2-40B4-BE49-F238E27FC236}">
                <a16:creationId xmlns:a16="http://schemas.microsoft.com/office/drawing/2014/main" id="{8C865D5A-5E6D-B5D1-768D-8E597B27CBF9}"/>
              </a:ext>
            </a:extLst>
          </p:cNvPr>
          <p:cNvSpPr/>
          <p:nvPr/>
        </p:nvSpPr>
        <p:spPr>
          <a:xfrm>
            <a:off x="11023168" y="1033817"/>
            <a:ext cx="952955"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Vector</a:t>
            </a:r>
          </a:p>
        </p:txBody>
      </p:sp>
      <p:sp>
        <p:nvSpPr>
          <p:cNvPr id="27" name="Rounded Rectangle 26">
            <a:extLst>
              <a:ext uri="{FF2B5EF4-FFF2-40B4-BE49-F238E27FC236}">
                <a16:creationId xmlns:a16="http://schemas.microsoft.com/office/drawing/2014/main" id="{6863B415-3730-31BD-DD7F-F8C96DC4CE2A}"/>
              </a:ext>
            </a:extLst>
          </p:cNvPr>
          <p:cNvSpPr/>
          <p:nvPr/>
        </p:nvSpPr>
        <p:spPr>
          <a:xfrm>
            <a:off x="10399413" y="2417425"/>
            <a:ext cx="1464767" cy="51071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Reference tables</a:t>
            </a:r>
          </a:p>
        </p:txBody>
      </p:sp>
    </p:spTree>
    <p:extLst>
      <p:ext uri="{BB962C8B-B14F-4D97-AF65-F5344CB8AC3E}">
        <p14:creationId xmlns:p14="http://schemas.microsoft.com/office/powerpoint/2010/main" val="43048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E6C502E-EB13-B5A4-62C7-EA647A8DA53A}"/>
              </a:ext>
            </a:extLst>
          </p:cNvPr>
          <p:cNvSpPr txBox="1"/>
          <p:nvPr/>
        </p:nvSpPr>
        <p:spPr>
          <a:xfrm>
            <a:off x="0" y="793632"/>
            <a:ext cx="12192000" cy="5946676"/>
          </a:xfrm>
          <a:prstGeom prst="rect">
            <a:avLst/>
          </a:prstGeom>
          <a:noFill/>
        </p:spPr>
        <p:txBody>
          <a:bodyPr wrap="square" numCol="2">
            <a:spAutoFit/>
          </a:bodyPr>
          <a:lstStyle/>
          <a:p>
            <a:r>
              <a:rPr lang="en-US" sz="1800" dirty="0">
                <a:effectLst/>
                <a:latin typeface="Courier New" panose="02070309020205020404" pitchFamily="49" charset="0"/>
                <a:ea typeface="Courier New" panose="02070309020205020404" pitchFamily="49" charset="0"/>
              </a:rPr>
              <a:t>## Current Patient Context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Name: Jane Smith | Age: 58 | Sex: F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Care State: AWAITING_DRUG_EFFECT (since 2026-01-28, 15 days)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BP Goal: &lt;130/80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Current Medications: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 Lisinopril 20mg daily (</a:t>
            </a:r>
            <a:r>
              <a:rPr lang="en-US" sz="1800" dirty="0" err="1">
                <a:effectLst/>
                <a:latin typeface="Courier New" panose="02070309020205020404" pitchFamily="49" charset="0"/>
                <a:ea typeface="Courier New" panose="02070309020205020404" pitchFamily="49" charset="0"/>
              </a:rPr>
              <a:t>ACEi</a:t>
            </a:r>
            <a:r>
              <a:rPr lang="en-US" sz="1800" dirty="0">
                <a:effectLst/>
                <a:latin typeface="Courier New" panose="02070309020205020404" pitchFamily="49" charset="0"/>
                <a:ea typeface="Courier New" panose="02070309020205020404" pitchFamily="49" charset="0"/>
              </a:rPr>
              <a:t>, high dose) — started 2024-03-15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 Amlodipine 5mg daily (DHP-CCB, low dose) — started 2026-01-28 ← NEW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Last 3 BP Readings: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- 2026-02-10: 142/88 (home)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- 2026-02-07: 138/86 (home)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- 2026-02-03: 151/94 (home)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Adherence: Low risk (screener 0, fills on schedule)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CVD 10yr (PREVENT): 14.2%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Pending Actions: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 Follow-up BP check due: 2026-02-25 (4 weeks post amlodipine start)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 Recheck labs (K+, Cr) due: 2026-02-11 ← OVERDUE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Active Alerts: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 Lab recheck overdue (1 day)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Conditions: Essential HTN, Type 2 DM    </a:t>
            </a:r>
            <a:br>
              <a:rPr lang="en-US" sz="2800" dirty="0">
                <a:effectLst/>
                <a:latin typeface="Times New Roman" panose="02020603050405020304" pitchFamily="18" charset="0"/>
                <a:ea typeface="Times New Roman" panose="02020603050405020304" pitchFamily="18" charset="0"/>
              </a:rPr>
            </a:br>
            <a:r>
              <a:rPr lang="en-US" sz="1800" dirty="0">
                <a:effectLst/>
                <a:latin typeface="Courier New" panose="02070309020205020404" pitchFamily="49" charset="0"/>
                <a:ea typeface="Courier New" panose="02070309020205020404" pitchFamily="49" charset="0"/>
              </a:rPr>
              <a:t>    Allergies: None documented </a:t>
            </a:r>
            <a:endParaRPr lang="en-US" dirty="0"/>
          </a:p>
        </p:txBody>
      </p:sp>
      <p:sp>
        <p:nvSpPr>
          <p:cNvPr id="2" name="Title 1">
            <a:extLst>
              <a:ext uri="{FF2B5EF4-FFF2-40B4-BE49-F238E27FC236}">
                <a16:creationId xmlns:a16="http://schemas.microsoft.com/office/drawing/2014/main" id="{4FB852CA-DEEE-4867-710C-EBF62BD14AD4}"/>
              </a:ext>
            </a:extLst>
          </p:cNvPr>
          <p:cNvSpPr>
            <a:spLocks noGrp="1"/>
          </p:cNvSpPr>
          <p:nvPr>
            <p:ph type="title"/>
          </p:nvPr>
        </p:nvSpPr>
        <p:spPr>
          <a:xfrm>
            <a:off x="3408392" y="22669"/>
            <a:ext cx="5375215" cy="793630"/>
          </a:xfrm>
        </p:spPr>
        <p:txBody>
          <a:bodyPr>
            <a:normAutofit fontScale="90000"/>
          </a:bodyPr>
          <a:lstStyle/>
          <a:p>
            <a:r>
              <a:rPr lang="en-US" dirty="0"/>
              <a:t>Patient Context Injection</a:t>
            </a:r>
          </a:p>
        </p:txBody>
      </p:sp>
    </p:spTree>
    <p:extLst>
      <p:ext uri="{BB962C8B-B14F-4D97-AF65-F5344CB8AC3E}">
        <p14:creationId xmlns:p14="http://schemas.microsoft.com/office/powerpoint/2010/main" val="308519824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FD8138-E572-3E15-97B3-59F18ADEFB3F}"/>
              </a:ext>
            </a:extLst>
          </p:cNvPr>
          <p:cNvSpPr>
            <a:spLocks noGrp="1"/>
          </p:cNvSpPr>
          <p:nvPr>
            <p:ph idx="1"/>
          </p:nvPr>
        </p:nvSpPr>
        <p:spPr>
          <a:xfrm>
            <a:off x="838200" y="825500"/>
            <a:ext cx="10515600" cy="5351463"/>
          </a:xfrm>
        </p:spPr>
        <p:txBody>
          <a:bodyPr/>
          <a:lstStyle/>
          <a:p>
            <a:r>
              <a:rPr lang="en-US" dirty="0"/>
              <a:t>Agent uses tools, the results of the tool use are used by the system orchestrator to handle state machine changes, tree traversal, RAG reasoning, and safety pipeline</a:t>
            </a:r>
            <a:endParaRPr lang="en-US" u="sng" dirty="0"/>
          </a:p>
        </p:txBody>
      </p:sp>
      <p:sp>
        <p:nvSpPr>
          <p:cNvPr id="4" name="Title 1">
            <a:extLst>
              <a:ext uri="{FF2B5EF4-FFF2-40B4-BE49-F238E27FC236}">
                <a16:creationId xmlns:a16="http://schemas.microsoft.com/office/drawing/2014/main" id="{3543FF2B-00E3-29F3-A878-9E0C8B7FDD90}"/>
              </a:ext>
            </a:extLst>
          </p:cNvPr>
          <p:cNvSpPr>
            <a:spLocks noGrp="1"/>
          </p:cNvSpPr>
          <p:nvPr>
            <p:ph type="title"/>
          </p:nvPr>
        </p:nvSpPr>
        <p:spPr>
          <a:xfrm>
            <a:off x="4844429" y="62734"/>
            <a:ext cx="1780961" cy="712561"/>
          </a:xfrm>
        </p:spPr>
        <p:txBody>
          <a:bodyPr>
            <a:normAutofit/>
          </a:bodyPr>
          <a:lstStyle/>
          <a:p>
            <a:r>
              <a:rPr lang="en-US" dirty="0"/>
              <a:t>Tools</a:t>
            </a:r>
          </a:p>
        </p:txBody>
      </p:sp>
      <p:sp>
        <p:nvSpPr>
          <p:cNvPr id="2" name="Rounded Rectangle 1">
            <a:extLst>
              <a:ext uri="{FF2B5EF4-FFF2-40B4-BE49-F238E27FC236}">
                <a16:creationId xmlns:a16="http://schemas.microsoft.com/office/drawing/2014/main" id="{7803C3C9-C817-A998-8070-CAF3F47377B6}"/>
              </a:ext>
            </a:extLst>
          </p:cNvPr>
          <p:cNvSpPr/>
          <p:nvPr/>
        </p:nvSpPr>
        <p:spPr>
          <a:xfrm>
            <a:off x="3156590" y="2858852"/>
            <a:ext cx="1314293"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State Machine</a:t>
            </a:r>
          </a:p>
        </p:txBody>
      </p:sp>
      <p:sp>
        <p:nvSpPr>
          <p:cNvPr id="5" name="Rounded Rectangle 4">
            <a:extLst>
              <a:ext uri="{FF2B5EF4-FFF2-40B4-BE49-F238E27FC236}">
                <a16:creationId xmlns:a16="http://schemas.microsoft.com/office/drawing/2014/main" id="{2680B23E-B30F-2D70-BBCB-7D5E13A907C3}"/>
              </a:ext>
            </a:extLst>
          </p:cNvPr>
          <p:cNvSpPr/>
          <p:nvPr/>
        </p:nvSpPr>
        <p:spPr>
          <a:xfrm>
            <a:off x="4710103" y="2870629"/>
            <a:ext cx="1314293"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Decision Trees</a:t>
            </a:r>
          </a:p>
        </p:txBody>
      </p:sp>
      <p:sp>
        <p:nvSpPr>
          <p:cNvPr id="6" name="Rounded Rectangle 5">
            <a:extLst>
              <a:ext uri="{FF2B5EF4-FFF2-40B4-BE49-F238E27FC236}">
                <a16:creationId xmlns:a16="http://schemas.microsoft.com/office/drawing/2014/main" id="{D7A53764-22FB-635A-6248-CBBAD282BFC3}"/>
              </a:ext>
            </a:extLst>
          </p:cNvPr>
          <p:cNvSpPr/>
          <p:nvPr/>
        </p:nvSpPr>
        <p:spPr>
          <a:xfrm>
            <a:off x="6221430" y="2905320"/>
            <a:ext cx="1314293"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RAG Reasoning</a:t>
            </a:r>
          </a:p>
        </p:txBody>
      </p:sp>
      <p:sp>
        <p:nvSpPr>
          <p:cNvPr id="7" name="TextBox 6">
            <a:extLst>
              <a:ext uri="{FF2B5EF4-FFF2-40B4-BE49-F238E27FC236}">
                <a16:creationId xmlns:a16="http://schemas.microsoft.com/office/drawing/2014/main" id="{492545F8-7760-B3AE-2015-CE53094EBCA5}"/>
              </a:ext>
            </a:extLst>
          </p:cNvPr>
          <p:cNvSpPr txBox="1"/>
          <p:nvPr/>
        </p:nvSpPr>
        <p:spPr>
          <a:xfrm>
            <a:off x="3316160" y="2315926"/>
            <a:ext cx="3839541" cy="369332"/>
          </a:xfrm>
          <a:prstGeom prst="rect">
            <a:avLst/>
          </a:prstGeom>
          <a:noFill/>
        </p:spPr>
        <p:txBody>
          <a:bodyPr wrap="square" rtlCol="0">
            <a:spAutoFit/>
          </a:bodyPr>
          <a:lstStyle/>
          <a:p>
            <a:r>
              <a:rPr lang="en-US" dirty="0"/>
              <a:t>System Orchestrator</a:t>
            </a:r>
          </a:p>
        </p:txBody>
      </p:sp>
      <p:sp>
        <p:nvSpPr>
          <p:cNvPr id="8" name="Rounded Rectangle 7">
            <a:extLst>
              <a:ext uri="{FF2B5EF4-FFF2-40B4-BE49-F238E27FC236}">
                <a16:creationId xmlns:a16="http://schemas.microsoft.com/office/drawing/2014/main" id="{401F8A2E-8B28-A1D8-0FB8-3BB2C31B0B61}"/>
              </a:ext>
            </a:extLst>
          </p:cNvPr>
          <p:cNvSpPr/>
          <p:nvPr/>
        </p:nvSpPr>
        <p:spPr>
          <a:xfrm>
            <a:off x="7679303" y="2930867"/>
            <a:ext cx="1314293"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Safety Pipeline</a:t>
            </a:r>
          </a:p>
        </p:txBody>
      </p:sp>
      <p:sp>
        <p:nvSpPr>
          <p:cNvPr id="9" name="Rounded Rectangle 8">
            <a:extLst>
              <a:ext uri="{FF2B5EF4-FFF2-40B4-BE49-F238E27FC236}">
                <a16:creationId xmlns:a16="http://schemas.microsoft.com/office/drawing/2014/main" id="{0517EC75-7982-243F-61B1-A89CC13ED180}"/>
              </a:ext>
            </a:extLst>
          </p:cNvPr>
          <p:cNvSpPr/>
          <p:nvPr/>
        </p:nvSpPr>
        <p:spPr>
          <a:xfrm>
            <a:off x="3036389" y="2188799"/>
            <a:ext cx="6119222" cy="35096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Tree>
    <p:extLst>
      <p:ext uri="{BB962C8B-B14F-4D97-AF65-F5344CB8AC3E}">
        <p14:creationId xmlns:p14="http://schemas.microsoft.com/office/powerpoint/2010/main" val="1743410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04A34-94BD-C275-4510-570F07D70D38}"/>
              </a:ext>
            </a:extLst>
          </p:cNvPr>
          <p:cNvSpPr>
            <a:spLocks noGrp="1"/>
          </p:cNvSpPr>
          <p:nvPr>
            <p:ph type="title"/>
          </p:nvPr>
        </p:nvSpPr>
        <p:spPr>
          <a:xfrm>
            <a:off x="838200" y="157162"/>
            <a:ext cx="10515600" cy="523875"/>
          </a:xfrm>
        </p:spPr>
        <p:txBody>
          <a:bodyPr>
            <a:normAutofit fontScale="90000"/>
          </a:bodyPr>
          <a:lstStyle/>
          <a:p>
            <a:r>
              <a:rPr lang="en-US" dirty="0"/>
              <a:t>Tools - Deterministic</a:t>
            </a:r>
          </a:p>
        </p:txBody>
      </p:sp>
      <p:sp>
        <p:nvSpPr>
          <p:cNvPr id="3" name="Content Placeholder 2">
            <a:extLst>
              <a:ext uri="{FF2B5EF4-FFF2-40B4-BE49-F238E27FC236}">
                <a16:creationId xmlns:a16="http://schemas.microsoft.com/office/drawing/2014/main" id="{4B4247B4-5023-F779-1878-D1F511C727DF}"/>
              </a:ext>
            </a:extLst>
          </p:cNvPr>
          <p:cNvSpPr>
            <a:spLocks noGrp="1"/>
          </p:cNvSpPr>
          <p:nvPr>
            <p:ph idx="1"/>
          </p:nvPr>
        </p:nvSpPr>
        <p:spPr>
          <a:xfrm>
            <a:off x="116306" y="747378"/>
            <a:ext cx="6845968" cy="5637380"/>
          </a:xfrm>
        </p:spPr>
        <p:txBody>
          <a:bodyPr>
            <a:noAutofit/>
          </a:bodyPr>
          <a:lstStyle/>
          <a:p>
            <a:r>
              <a:rPr lang="en-US" sz="2000" dirty="0" err="1"/>
              <a:t>record_bp_reading</a:t>
            </a:r>
            <a:endParaRPr lang="en-US" sz="2000" dirty="0"/>
          </a:p>
          <a:p>
            <a:pPr lvl="1"/>
            <a:r>
              <a:rPr lang="en-US" sz="2000" dirty="0" err="1"/>
              <a:t>validate_bp_reading</a:t>
            </a:r>
            <a:endParaRPr lang="en-US" sz="2000" dirty="0"/>
          </a:p>
          <a:p>
            <a:pPr lvl="1"/>
            <a:r>
              <a:rPr lang="en-US" sz="2000" dirty="0" err="1"/>
              <a:t>add_bp_observation</a:t>
            </a:r>
            <a:endParaRPr lang="en-US" sz="2000" dirty="0"/>
          </a:p>
          <a:p>
            <a:pPr lvl="1"/>
            <a:r>
              <a:rPr lang="en-US" sz="2000" dirty="0" err="1"/>
              <a:t>classify_bp</a:t>
            </a:r>
            <a:r>
              <a:rPr lang="en-US" sz="2000" dirty="0"/>
              <a:t>(systolic, diastolic)</a:t>
            </a:r>
          </a:p>
          <a:p>
            <a:pPr lvl="1"/>
            <a:r>
              <a:rPr lang="en-US" sz="2000" dirty="0" err="1"/>
              <a:t>db.get_patient_state</a:t>
            </a:r>
            <a:r>
              <a:rPr lang="en-US" sz="2000" dirty="0"/>
              <a:t>   </a:t>
            </a:r>
            <a:r>
              <a:rPr lang="en-US" sz="2000" b="1" dirty="0"/>
              <a:t>--- retrieves from state machine</a:t>
            </a:r>
          </a:p>
          <a:p>
            <a:pPr lvl="1"/>
            <a:r>
              <a:rPr lang="en-US" sz="2000" dirty="0"/>
              <a:t>fhir.get_bp_goal</a:t>
            </a:r>
          </a:p>
          <a:p>
            <a:pPr lvl="1"/>
            <a:r>
              <a:rPr lang="en-US" sz="2000" dirty="0" err="1"/>
              <a:t>fhir.get_recent_bps</a:t>
            </a:r>
            <a:r>
              <a:rPr lang="en-US" sz="2000" dirty="0"/>
              <a:t>("pt-123", limit=3)</a:t>
            </a:r>
          </a:p>
          <a:p>
            <a:pPr lvl="1"/>
            <a:r>
              <a:rPr lang="en-US" sz="2000" dirty="0" err="1"/>
              <a:t>is_at_goal</a:t>
            </a:r>
            <a:r>
              <a:rPr lang="en-US" sz="2000" dirty="0"/>
              <a:t>(</a:t>
            </a:r>
            <a:r>
              <a:rPr lang="en-US" sz="2000" dirty="0" err="1"/>
              <a:t>recent_readings</a:t>
            </a:r>
            <a:r>
              <a:rPr lang="en-US" sz="2000" dirty="0"/>
              <a:t>, </a:t>
            </a:r>
            <a:r>
              <a:rPr lang="en-US" sz="2000" dirty="0" err="1"/>
              <a:t>bp_goal</a:t>
            </a:r>
            <a:r>
              <a:rPr lang="en-US" sz="2000" dirty="0"/>
              <a:t>, </a:t>
            </a:r>
            <a:r>
              <a:rPr lang="en-US" sz="2000" dirty="0" err="1"/>
              <a:t>min_readings</a:t>
            </a:r>
            <a:r>
              <a:rPr lang="en-US" sz="2000" dirty="0"/>
              <a:t>=3)</a:t>
            </a:r>
          </a:p>
          <a:p>
            <a:pPr lvl="1"/>
            <a:r>
              <a:rPr lang="en-US" sz="2000" dirty="0"/>
              <a:t>if </a:t>
            </a:r>
            <a:r>
              <a:rPr lang="en-US" sz="2000" dirty="0" err="1"/>
              <a:t>current_state</a:t>
            </a:r>
            <a:r>
              <a:rPr lang="en-US" sz="2000" dirty="0"/>
              <a:t> == "AWAITING_DRUG_EFFECT":</a:t>
            </a:r>
          </a:p>
          <a:p>
            <a:pPr lvl="1"/>
            <a:r>
              <a:rPr lang="en-US" sz="2000" dirty="0"/>
              <a:t>      </a:t>
            </a:r>
            <a:r>
              <a:rPr lang="en-US" sz="2000" dirty="0" err="1"/>
              <a:t>days_since_change</a:t>
            </a:r>
            <a:r>
              <a:rPr lang="en-US" sz="2000" dirty="0"/>
              <a:t> = (now() - </a:t>
            </a:r>
            <a:r>
              <a:rPr lang="en-US" sz="2000" dirty="0" err="1"/>
              <a:t>state_metadata</a:t>
            </a:r>
            <a:r>
              <a:rPr lang="en-US" sz="2000" dirty="0"/>
              <a:t>["</a:t>
            </a:r>
            <a:r>
              <a:rPr lang="en-US" sz="2000" dirty="0" err="1"/>
              <a:t>therapy_change_date</a:t>
            </a:r>
            <a:r>
              <a:rPr lang="en-US" sz="2000" dirty="0"/>
              <a:t>"]).days</a:t>
            </a:r>
          </a:p>
          <a:p>
            <a:pPr lvl="2"/>
            <a:r>
              <a:rPr lang="en-US" dirty="0"/>
              <a:t>if </a:t>
            </a:r>
            <a:r>
              <a:rPr lang="en-US" dirty="0" err="1"/>
              <a:t>at_goal</a:t>
            </a:r>
            <a:r>
              <a:rPr lang="en-US" dirty="0"/>
              <a:t> and </a:t>
            </a:r>
            <a:r>
              <a:rPr lang="en-US" dirty="0" err="1"/>
              <a:t>days_since_change</a:t>
            </a:r>
            <a:r>
              <a:rPr lang="en-US" dirty="0"/>
              <a:t> &gt;= 14:</a:t>
            </a:r>
          </a:p>
          <a:p>
            <a:pPr lvl="1"/>
            <a:r>
              <a:rPr lang="en-US" sz="2000" dirty="0"/>
              <a:t>          	</a:t>
            </a:r>
            <a:r>
              <a:rPr lang="en-US" sz="2000" dirty="0" err="1"/>
              <a:t>new_state</a:t>
            </a:r>
            <a:r>
              <a:rPr lang="en-US" sz="2000" dirty="0"/>
              <a:t> = "AT_GOAL" </a:t>
            </a:r>
            <a:r>
              <a:rPr lang="en-US" sz="2000" b="1" dirty="0"/>
              <a:t> --- state transition</a:t>
            </a:r>
          </a:p>
          <a:p>
            <a:pPr lvl="2"/>
            <a:r>
              <a:rPr lang="en-US" dirty="0" err="1"/>
              <a:t>elif</a:t>
            </a:r>
            <a:r>
              <a:rPr lang="en-US" dirty="0"/>
              <a:t> not </a:t>
            </a:r>
            <a:r>
              <a:rPr lang="en-US" dirty="0" err="1"/>
              <a:t>at_goal</a:t>
            </a:r>
            <a:r>
              <a:rPr lang="en-US" dirty="0"/>
              <a:t> and </a:t>
            </a:r>
            <a:r>
              <a:rPr lang="en-US" dirty="0" err="1"/>
              <a:t>days_since_change</a:t>
            </a:r>
            <a:r>
              <a:rPr lang="en-US" dirty="0"/>
              <a:t> &gt;= 28:</a:t>
            </a:r>
          </a:p>
          <a:p>
            <a:pPr lvl="1"/>
            <a:r>
              <a:rPr lang="en-US" sz="2000" dirty="0"/>
              <a:t>          	</a:t>
            </a:r>
            <a:r>
              <a:rPr lang="en-US" sz="2000" dirty="0" err="1"/>
              <a:t>new_state</a:t>
            </a:r>
            <a:r>
              <a:rPr lang="en-US" sz="2000" dirty="0"/>
              <a:t> = "CONFIRMING_UNCONTROL" </a:t>
            </a:r>
          </a:p>
          <a:p>
            <a:endParaRPr lang="en-US" sz="1400" dirty="0"/>
          </a:p>
        </p:txBody>
      </p:sp>
      <p:sp>
        <p:nvSpPr>
          <p:cNvPr id="4" name="TextBox 3">
            <a:extLst>
              <a:ext uri="{FF2B5EF4-FFF2-40B4-BE49-F238E27FC236}">
                <a16:creationId xmlns:a16="http://schemas.microsoft.com/office/drawing/2014/main" id="{2A667802-13DF-0EBA-9535-ACEA63D1DE2F}"/>
              </a:ext>
            </a:extLst>
          </p:cNvPr>
          <p:cNvSpPr txBox="1"/>
          <p:nvPr/>
        </p:nvSpPr>
        <p:spPr>
          <a:xfrm>
            <a:off x="7957590" y="157162"/>
            <a:ext cx="4118104" cy="5940088"/>
          </a:xfrm>
          <a:prstGeom prst="rect">
            <a:avLst/>
          </a:prstGeom>
          <a:noFill/>
        </p:spPr>
        <p:txBody>
          <a:bodyPr wrap="square">
            <a:spAutoFit/>
          </a:bodyPr>
          <a:lstStyle/>
          <a:p>
            <a:pPr>
              <a:buNone/>
            </a:pPr>
            <a:r>
              <a:rPr lang="en-US" sz="2000" dirty="0">
                <a:effectLst/>
                <a:latin typeface="Aptos" panose="020B0004020202020204" pitchFamily="34" charset="0"/>
                <a:ea typeface="Courier New" panose="02070309020205020404" pitchFamily="49" charset="0"/>
              </a:rPr>
              <a:t>         </a:t>
            </a:r>
            <a:br>
              <a:rPr lang="en-US" sz="2000" dirty="0">
                <a:effectLst/>
                <a:latin typeface="Aptos" panose="020B0004020202020204" pitchFamily="34" charset="0"/>
                <a:ea typeface="Times New Roman" panose="02020603050405020304" pitchFamily="18" charset="0"/>
              </a:rPr>
            </a:br>
            <a:r>
              <a:rPr lang="en-US" sz="2000" dirty="0">
                <a:effectLst/>
                <a:latin typeface="Aptos" panose="020B0004020202020204" pitchFamily="34" charset="0"/>
                <a:ea typeface="Courier New" panose="02070309020205020404" pitchFamily="49" charset="0"/>
              </a:rPr>
              <a:t>    {    </a:t>
            </a:r>
            <a:br>
              <a:rPr lang="en-US" sz="2000" dirty="0">
                <a:effectLst/>
                <a:latin typeface="Aptos" panose="020B0004020202020204" pitchFamily="34" charset="0"/>
                <a:ea typeface="Times New Roman" panose="02020603050405020304" pitchFamily="18" charset="0"/>
              </a:rPr>
            </a:br>
            <a:r>
              <a:rPr lang="en-US" sz="2000" dirty="0">
                <a:effectLst/>
                <a:latin typeface="Aptos" panose="020B0004020202020204" pitchFamily="34" charset="0"/>
                <a:ea typeface="Courier New" panose="02070309020205020404" pitchFamily="49" charset="0"/>
              </a:rPr>
              <a:t>        "state": "AWAITING_DRUG_EFFECT",    </a:t>
            </a:r>
            <a:br>
              <a:rPr lang="en-US" sz="2000" dirty="0">
                <a:effectLst/>
                <a:latin typeface="Aptos" panose="020B0004020202020204" pitchFamily="34" charset="0"/>
                <a:ea typeface="Times New Roman" panose="02020603050405020304" pitchFamily="18" charset="0"/>
              </a:rPr>
            </a:br>
            <a:r>
              <a:rPr lang="en-US" sz="2000" dirty="0">
                <a:effectLst/>
                <a:latin typeface="Aptos" panose="020B0004020202020204" pitchFamily="34" charset="0"/>
                <a:ea typeface="Courier New" panose="02070309020205020404" pitchFamily="49" charset="0"/>
              </a:rPr>
              <a:t>        "</a:t>
            </a:r>
            <a:r>
              <a:rPr lang="en-US" sz="2000" dirty="0" err="1">
                <a:effectLst/>
                <a:latin typeface="Aptos" panose="020B0004020202020204" pitchFamily="34" charset="0"/>
                <a:ea typeface="Courier New" panose="02070309020205020404" pitchFamily="49" charset="0"/>
              </a:rPr>
              <a:t>entered_at</a:t>
            </a:r>
            <a:r>
              <a:rPr lang="en-US" sz="2000" dirty="0">
                <a:effectLst/>
                <a:latin typeface="Aptos" panose="020B0004020202020204" pitchFamily="34" charset="0"/>
                <a:ea typeface="Courier New" panose="02070309020205020404" pitchFamily="49" charset="0"/>
              </a:rPr>
              <a:t>": "2026-02-15T14:30:00Z",    </a:t>
            </a:r>
            <a:br>
              <a:rPr lang="en-US" sz="2000" dirty="0">
                <a:effectLst/>
                <a:latin typeface="Aptos" panose="020B0004020202020204" pitchFamily="34" charset="0"/>
                <a:ea typeface="Times New Roman" panose="02020603050405020304" pitchFamily="18" charset="0"/>
              </a:rPr>
            </a:br>
            <a:r>
              <a:rPr lang="en-US" sz="2000" dirty="0">
                <a:effectLst/>
                <a:latin typeface="Aptos" panose="020B0004020202020204" pitchFamily="34" charset="0"/>
                <a:ea typeface="Courier New" panose="02070309020205020404" pitchFamily="49" charset="0"/>
              </a:rPr>
              <a:t>        "trigger": "</a:t>
            </a:r>
            <a:r>
              <a:rPr lang="en-US" sz="2000" dirty="0" err="1">
                <a:effectLst/>
                <a:latin typeface="Aptos" panose="020B0004020202020204" pitchFamily="34" charset="0"/>
                <a:ea typeface="Courier New" panose="02070309020205020404" pitchFamily="49" charset="0"/>
              </a:rPr>
              <a:t>therapy_change</a:t>
            </a:r>
            <a:r>
              <a:rPr lang="en-US" sz="2000" dirty="0">
                <a:effectLst/>
                <a:latin typeface="Aptos" panose="020B0004020202020204" pitchFamily="34" charset="0"/>
                <a:ea typeface="Courier New" panose="02070309020205020404" pitchFamily="49" charset="0"/>
              </a:rPr>
              <a:t>",    </a:t>
            </a:r>
            <a:br>
              <a:rPr lang="en-US" sz="2000" dirty="0">
                <a:effectLst/>
                <a:latin typeface="Aptos" panose="020B0004020202020204" pitchFamily="34" charset="0"/>
                <a:ea typeface="Times New Roman" panose="02020603050405020304" pitchFamily="18" charset="0"/>
              </a:rPr>
            </a:br>
            <a:r>
              <a:rPr lang="en-US" sz="2000" dirty="0">
                <a:effectLst/>
                <a:latin typeface="Aptos" panose="020B0004020202020204" pitchFamily="34" charset="0"/>
                <a:ea typeface="Courier New" panose="02070309020205020404" pitchFamily="49" charset="0"/>
              </a:rPr>
              <a:t>        "context": {    </a:t>
            </a:r>
            <a:br>
              <a:rPr lang="en-US" sz="2000" dirty="0">
                <a:effectLst/>
                <a:latin typeface="Aptos" panose="020B0004020202020204" pitchFamily="34" charset="0"/>
                <a:ea typeface="Times New Roman" panose="02020603050405020304" pitchFamily="18" charset="0"/>
              </a:rPr>
            </a:br>
            <a:r>
              <a:rPr lang="en-US" sz="2000" dirty="0">
                <a:effectLst/>
                <a:latin typeface="Aptos" panose="020B0004020202020204" pitchFamily="34" charset="0"/>
                <a:ea typeface="Courier New" panose="02070309020205020404" pitchFamily="49" charset="0"/>
              </a:rPr>
              <a:t>            "</a:t>
            </a:r>
            <a:r>
              <a:rPr lang="en-US" sz="2000" dirty="0" err="1">
                <a:effectLst/>
                <a:latin typeface="Aptos" panose="020B0004020202020204" pitchFamily="34" charset="0"/>
                <a:ea typeface="Courier New" panose="02070309020205020404" pitchFamily="49" charset="0"/>
              </a:rPr>
              <a:t>therapy_change_date</a:t>
            </a:r>
            <a:r>
              <a:rPr lang="en-US" sz="2000" dirty="0">
                <a:effectLst/>
                <a:latin typeface="Aptos" panose="020B0004020202020204" pitchFamily="34" charset="0"/>
                <a:ea typeface="Courier New" panose="02070309020205020404" pitchFamily="49" charset="0"/>
              </a:rPr>
              <a:t>": "2026-02-15",    </a:t>
            </a:r>
            <a:br>
              <a:rPr lang="en-US" sz="2000" dirty="0">
                <a:effectLst/>
                <a:latin typeface="Aptos" panose="020B0004020202020204" pitchFamily="34" charset="0"/>
                <a:ea typeface="Times New Roman" panose="02020603050405020304" pitchFamily="18" charset="0"/>
              </a:rPr>
            </a:br>
            <a:r>
              <a:rPr lang="en-US" sz="2000" dirty="0">
                <a:effectLst/>
                <a:latin typeface="Aptos" panose="020B0004020202020204" pitchFamily="34" charset="0"/>
                <a:ea typeface="Courier New" panose="02070309020205020404" pitchFamily="49" charset="0"/>
              </a:rPr>
              <a:t>            "</a:t>
            </a:r>
            <a:r>
              <a:rPr lang="en-US" sz="2000" dirty="0" err="1">
                <a:effectLst/>
                <a:latin typeface="Aptos" panose="020B0004020202020204" pitchFamily="34" charset="0"/>
                <a:ea typeface="Courier New" panose="02070309020205020404" pitchFamily="49" charset="0"/>
              </a:rPr>
              <a:t>changed_medications</a:t>
            </a:r>
            <a:r>
              <a:rPr lang="en-US" sz="2000" dirty="0">
                <a:effectLst/>
                <a:latin typeface="Aptos" panose="020B0004020202020204" pitchFamily="34" charset="0"/>
                <a:ea typeface="Courier New" panose="02070309020205020404" pitchFamily="49" charset="0"/>
              </a:rPr>
              <a:t>": ["lisinopril 10mg -&gt; 20mg"],    </a:t>
            </a:r>
            <a:br>
              <a:rPr lang="en-US" sz="2000" dirty="0">
                <a:effectLst/>
                <a:latin typeface="Aptos" panose="020B0004020202020204" pitchFamily="34" charset="0"/>
                <a:ea typeface="Times New Roman" panose="02020603050405020304" pitchFamily="18" charset="0"/>
              </a:rPr>
            </a:br>
            <a:r>
              <a:rPr lang="en-US" sz="2000" dirty="0">
                <a:effectLst/>
                <a:latin typeface="Aptos" panose="020B0004020202020204" pitchFamily="34" charset="0"/>
                <a:ea typeface="Courier New" panose="02070309020205020404" pitchFamily="49" charset="0"/>
              </a:rPr>
              <a:t>            "</a:t>
            </a:r>
            <a:r>
              <a:rPr lang="en-US" sz="2000" dirty="0" err="1">
                <a:effectLst/>
                <a:latin typeface="Aptos" panose="020B0004020202020204" pitchFamily="34" charset="0"/>
                <a:ea typeface="Courier New" panose="02070309020205020404" pitchFamily="49" charset="0"/>
              </a:rPr>
              <a:t>decision_tree_run_id</a:t>
            </a:r>
            <a:r>
              <a:rPr lang="en-US" sz="2000" dirty="0">
                <a:effectLst/>
                <a:latin typeface="Aptos" panose="020B0004020202020204" pitchFamily="34" charset="0"/>
                <a:ea typeface="Courier New" panose="02070309020205020404" pitchFamily="49" charset="0"/>
              </a:rPr>
              <a:t>": "dt-run-42",    </a:t>
            </a:r>
            <a:br>
              <a:rPr lang="en-US" sz="2000" dirty="0">
                <a:effectLst/>
                <a:latin typeface="Aptos" panose="020B0004020202020204" pitchFamily="34" charset="0"/>
                <a:ea typeface="Times New Roman" panose="02020603050405020304" pitchFamily="18" charset="0"/>
              </a:rPr>
            </a:br>
            <a:r>
              <a:rPr lang="en-US" sz="2000" dirty="0">
                <a:effectLst/>
                <a:latin typeface="Aptos" panose="020B0004020202020204" pitchFamily="34" charset="0"/>
                <a:ea typeface="Courier New" panose="02070309020205020404" pitchFamily="49" charset="0"/>
              </a:rPr>
              <a:t>            "</a:t>
            </a:r>
            <a:r>
              <a:rPr lang="en-US" sz="2000" dirty="0" err="1">
                <a:effectLst/>
                <a:latin typeface="Aptos" panose="020B0004020202020204" pitchFamily="34" charset="0"/>
                <a:ea typeface="Courier New" panose="02070309020205020404" pitchFamily="49" charset="0"/>
              </a:rPr>
              <a:t>follow_up_due</a:t>
            </a:r>
            <a:r>
              <a:rPr lang="en-US" sz="2000" dirty="0">
                <a:effectLst/>
                <a:latin typeface="Aptos" panose="020B0004020202020204" pitchFamily="34" charset="0"/>
                <a:ea typeface="Courier New" panose="02070309020205020404" pitchFamily="49" charset="0"/>
              </a:rPr>
              <a:t>": "2026-03-15",    </a:t>
            </a:r>
            <a:br>
              <a:rPr lang="en-US" sz="2000" dirty="0">
                <a:effectLst/>
                <a:latin typeface="Aptos" panose="020B0004020202020204" pitchFamily="34" charset="0"/>
                <a:ea typeface="Times New Roman" panose="02020603050405020304" pitchFamily="18" charset="0"/>
              </a:rPr>
            </a:br>
            <a:r>
              <a:rPr lang="en-US" sz="2000" dirty="0">
                <a:effectLst/>
                <a:latin typeface="Aptos" panose="020B0004020202020204" pitchFamily="34" charset="0"/>
                <a:ea typeface="Courier New" panose="02070309020205020404" pitchFamily="49" charset="0"/>
              </a:rPr>
              <a:t>            "</a:t>
            </a:r>
            <a:r>
              <a:rPr lang="en-US" sz="2000" dirty="0" err="1">
                <a:effectLst/>
                <a:latin typeface="Aptos" panose="020B0004020202020204" pitchFamily="34" charset="0"/>
                <a:ea typeface="Courier New" panose="02070309020205020404" pitchFamily="49" charset="0"/>
              </a:rPr>
              <a:t>readings_since_change</a:t>
            </a:r>
            <a:r>
              <a:rPr lang="en-US" sz="2000" dirty="0">
                <a:effectLst/>
                <a:latin typeface="Aptos" panose="020B0004020202020204" pitchFamily="34" charset="0"/>
                <a:ea typeface="Courier New" panose="02070309020205020404" pitchFamily="49" charset="0"/>
              </a:rPr>
              <a:t>": 3    </a:t>
            </a:r>
            <a:br>
              <a:rPr lang="en-US" sz="2000" dirty="0">
                <a:effectLst/>
                <a:latin typeface="Aptos" panose="020B0004020202020204" pitchFamily="34" charset="0"/>
                <a:ea typeface="Times New Roman" panose="02020603050405020304" pitchFamily="18" charset="0"/>
              </a:rPr>
            </a:br>
            <a:r>
              <a:rPr lang="en-US" sz="2000" dirty="0">
                <a:effectLst/>
                <a:latin typeface="Aptos" panose="020B0004020202020204" pitchFamily="34" charset="0"/>
                <a:ea typeface="Courier New" panose="02070309020205020404" pitchFamily="49" charset="0"/>
              </a:rPr>
              <a:t>        }    </a:t>
            </a:r>
            <a:br>
              <a:rPr lang="en-US" sz="2000" dirty="0">
                <a:effectLst/>
                <a:latin typeface="Aptos" panose="020B0004020202020204" pitchFamily="34" charset="0"/>
                <a:ea typeface="Times New Roman" panose="02020603050405020304" pitchFamily="18" charset="0"/>
              </a:rPr>
            </a:br>
            <a:r>
              <a:rPr lang="en-US" sz="2000" dirty="0">
                <a:effectLst/>
                <a:latin typeface="Aptos" panose="020B0004020202020204" pitchFamily="34" charset="0"/>
                <a:ea typeface="Courier New" panose="02070309020205020404" pitchFamily="49" charset="0"/>
              </a:rPr>
              <a:t>    } </a:t>
            </a:r>
            <a:endParaRPr lang="en-US" sz="2000" dirty="0">
              <a:latin typeface="Aptos" panose="020B0004020202020204" pitchFamily="34" charset="0"/>
            </a:endParaRPr>
          </a:p>
        </p:txBody>
      </p:sp>
      <p:cxnSp>
        <p:nvCxnSpPr>
          <p:cNvPr id="6" name="Straight Arrow Connector 5">
            <a:extLst>
              <a:ext uri="{FF2B5EF4-FFF2-40B4-BE49-F238E27FC236}">
                <a16:creationId xmlns:a16="http://schemas.microsoft.com/office/drawing/2014/main" id="{56429524-E594-2160-9765-D5659864E975}"/>
              </a:ext>
            </a:extLst>
          </p:cNvPr>
          <p:cNvCxnSpPr>
            <a:cxnSpLocks/>
          </p:cNvCxnSpPr>
          <p:nvPr/>
        </p:nvCxnSpPr>
        <p:spPr>
          <a:xfrm>
            <a:off x="5935579" y="2294021"/>
            <a:ext cx="2197768"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11E8F62-C86B-B26B-312A-37C03CA3F818}"/>
              </a:ext>
            </a:extLst>
          </p:cNvPr>
          <p:cNvCxnSpPr/>
          <p:nvPr/>
        </p:nvCxnSpPr>
        <p:spPr>
          <a:xfrm>
            <a:off x="7764379" y="157162"/>
            <a:ext cx="0" cy="624363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TextBox 9">
            <a:extLst>
              <a:ext uri="{FF2B5EF4-FFF2-40B4-BE49-F238E27FC236}">
                <a16:creationId xmlns:a16="http://schemas.microsoft.com/office/drawing/2014/main" id="{DDF939E0-4590-C640-8CAE-1418228B9F06}"/>
              </a:ext>
            </a:extLst>
          </p:cNvPr>
          <p:cNvSpPr txBox="1"/>
          <p:nvPr/>
        </p:nvSpPr>
        <p:spPr>
          <a:xfrm>
            <a:off x="8742947" y="157162"/>
            <a:ext cx="3332747" cy="430887"/>
          </a:xfrm>
          <a:prstGeom prst="rect">
            <a:avLst/>
          </a:prstGeom>
          <a:noFill/>
        </p:spPr>
        <p:txBody>
          <a:bodyPr wrap="square" rtlCol="0">
            <a:spAutoFit/>
          </a:bodyPr>
          <a:lstStyle/>
          <a:p>
            <a:r>
              <a:rPr lang="en-US" sz="2200" b="1" dirty="0"/>
              <a:t>Patient State</a:t>
            </a:r>
          </a:p>
        </p:txBody>
      </p:sp>
    </p:spTree>
    <p:extLst>
      <p:ext uri="{BB962C8B-B14F-4D97-AF65-F5344CB8AC3E}">
        <p14:creationId xmlns:p14="http://schemas.microsoft.com/office/powerpoint/2010/main" val="3990579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65B161-34B9-C48C-F940-30D22B8294F4}"/>
              </a:ext>
            </a:extLst>
          </p:cNvPr>
          <p:cNvSpPr>
            <a:spLocks noGrp="1"/>
          </p:cNvSpPr>
          <p:nvPr>
            <p:ph idx="1"/>
          </p:nvPr>
        </p:nvSpPr>
        <p:spPr>
          <a:xfrm>
            <a:off x="838200" y="666687"/>
            <a:ext cx="9165336" cy="6034150"/>
          </a:xfrm>
        </p:spPr>
        <p:txBody>
          <a:bodyPr numCol="2">
            <a:noAutofit/>
          </a:bodyPr>
          <a:lstStyle/>
          <a:p>
            <a:pPr marL="0" indent="0">
              <a:buNone/>
            </a:pPr>
            <a:r>
              <a:rPr lang="en-US" sz="2000" dirty="0"/>
              <a:t>Side Effect Management</a:t>
            </a:r>
          </a:p>
          <a:p>
            <a:r>
              <a:rPr lang="en-US" sz="2000" dirty="0" err="1"/>
              <a:t>assess_symptom</a:t>
            </a:r>
            <a:endParaRPr lang="en-US" sz="2000" dirty="0"/>
          </a:p>
          <a:p>
            <a:pPr marL="0" indent="0">
              <a:buNone/>
            </a:pPr>
            <a:r>
              <a:rPr lang="en-US" sz="2000" dirty="0"/>
              <a:t>Therapy</a:t>
            </a:r>
          </a:p>
          <a:p>
            <a:r>
              <a:rPr lang="en-US" sz="2000" dirty="0" err="1"/>
              <a:t>evaluate_therapy</a:t>
            </a:r>
            <a:endParaRPr lang="en-US" sz="2000" dirty="0"/>
          </a:p>
          <a:p>
            <a:r>
              <a:rPr lang="en-US" sz="2000" dirty="0" err="1"/>
              <a:t>execute_prescription</a:t>
            </a:r>
            <a:endParaRPr lang="en-US" sz="2000" dirty="0"/>
          </a:p>
          <a:p>
            <a:r>
              <a:rPr lang="en-US" sz="2000" dirty="0" err="1"/>
              <a:t>stop_medication</a:t>
            </a:r>
            <a:r>
              <a:rPr lang="en-US" sz="2000" dirty="0"/>
              <a:t> </a:t>
            </a:r>
          </a:p>
          <a:p>
            <a:pPr marL="0" indent="0">
              <a:buNone/>
            </a:pPr>
            <a:r>
              <a:rPr lang="en-US" sz="2000" dirty="0"/>
              <a:t>Orders</a:t>
            </a:r>
          </a:p>
          <a:p>
            <a:r>
              <a:rPr lang="en-US" sz="2000" dirty="0" err="1"/>
              <a:t>order_labs</a:t>
            </a:r>
            <a:r>
              <a:rPr lang="en-US" sz="2000" dirty="0"/>
              <a:t> </a:t>
            </a:r>
          </a:p>
          <a:p>
            <a:pPr marL="0" indent="0">
              <a:buNone/>
            </a:pPr>
            <a:r>
              <a:rPr lang="en-US" sz="2000" dirty="0"/>
              <a:t>Data Retrieval</a:t>
            </a:r>
          </a:p>
          <a:p>
            <a:r>
              <a:rPr lang="en-US" sz="2000" dirty="0" err="1"/>
              <a:t>get_patient_summary</a:t>
            </a:r>
            <a:endParaRPr lang="en-US" sz="2000" dirty="0"/>
          </a:p>
          <a:p>
            <a:r>
              <a:rPr lang="en-US" sz="2000" dirty="0" err="1"/>
              <a:t>get_bp_history</a:t>
            </a:r>
            <a:r>
              <a:rPr lang="en-US" sz="2000" dirty="0"/>
              <a:t> </a:t>
            </a:r>
            <a:r>
              <a:rPr lang="en-US" sz="2000" dirty="0" err="1"/>
              <a:t>get_lab_results</a:t>
            </a:r>
            <a:endParaRPr lang="en-US" sz="2000" dirty="0"/>
          </a:p>
          <a:p>
            <a:r>
              <a:rPr lang="en-US" sz="2000" dirty="0"/>
              <a:t> </a:t>
            </a:r>
            <a:r>
              <a:rPr lang="en-US" sz="2000" dirty="0" err="1"/>
              <a:t>get_medication_details</a:t>
            </a:r>
            <a:endParaRPr lang="en-US" sz="2000" dirty="0"/>
          </a:p>
          <a:p>
            <a:pPr marL="0" indent="0">
              <a:buNone/>
            </a:pPr>
            <a:r>
              <a:rPr lang="en-US" sz="2000" dirty="0"/>
              <a:t>Knowledge</a:t>
            </a:r>
          </a:p>
          <a:p>
            <a:r>
              <a:rPr lang="en-US" sz="2000" dirty="0" err="1"/>
              <a:t>search_guidelines</a:t>
            </a:r>
            <a:endParaRPr lang="en-US" sz="2000" dirty="0"/>
          </a:p>
          <a:p>
            <a:r>
              <a:rPr lang="en-US" sz="2000" dirty="0" err="1"/>
              <a:t>check_drug_interaction</a:t>
            </a:r>
            <a:endParaRPr lang="en-US" sz="2000" dirty="0"/>
          </a:p>
          <a:p>
            <a:pPr marL="0" indent="0">
              <a:buNone/>
            </a:pPr>
            <a:r>
              <a:rPr lang="en-US" sz="2000" dirty="0"/>
              <a:t>Escalation</a:t>
            </a:r>
          </a:p>
          <a:p>
            <a:r>
              <a:rPr lang="en-US" sz="2000" dirty="0"/>
              <a:t>escalate</a:t>
            </a:r>
          </a:p>
          <a:p>
            <a:r>
              <a:rPr lang="en-US" sz="2000" dirty="0" err="1"/>
              <a:t>send_to_clinician</a:t>
            </a:r>
            <a:endParaRPr lang="en-US" sz="2000" dirty="0"/>
          </a:p>
          <a:p>
            <a:pPr marL="0" indent="0">
              <a:buNone/>
            </a:pPr>
            <a:endParaRPr lang="en-US" sz="2000" dirty="0"/>
          </a:p>
          <a:p>
            <a:pPr marL="0" indent="0">
              <a:buNone/>
            </a:pPr>
            <a:r>
              <a:rPr lang="en-US" sz="2000" dirty="0"/>
              <a:t>Adherence</a:t>
            </a:r>
          </a:p>
          <a:p>
            <a:r>
              <a:rPr lang="en-US" sz="2000" dirty="0" err="1"/>
              <a:t>administer_adherence_screener</a:t>
            </a:r>
            <a:br>
              <a:rPr lang="en-US" sz="2000" dirty="0"/>
            </a:br>
            <a:endParaRPr lang="en-US" sz="2000" dirty="0"/>
          </a:p>
          <a:p>
            <a:pPr marL="0" indent="0">
              <a:buNone/>
            </a:pPr>
            <a:r>
              <a:rPr lang="en-US" sz="2000" dirty="0"/>
              <a:t>Scheduling</a:t>
            </a:r>
          </a:p>
          <a:p>
            <a:r>
              <a:rPr lang="en-US" sz="2000" dirty="0" err="1"/>
              <a:t>schedule_follow_up</a:t>
            </a:r>
            <a:endParaRPr lang="en-US" sz="2000" dirty="0"/>
          </a:p>
          <a:p>
            <a:pPr marL="0" indent="0">
              <a:buNone/>
            </a:pPr>
            <a:r>
              <a:rPr lang="en-US" sz="2000" dirty="0"/>
              <a:t>State</a:t>
            </a:r>
          </a:p>
          <a:p>
            <a:r>
              <a:rPr lang="en-US" sz="2000" dirty="0" err="1"/>
              <a:t>update_care_state</a:t>
            </a:r>
            <a:br>
              <a:rPr lang="en-US" sz="2000" dirty="0"/>
            </a:br>
            <a:endParaRPr lang="en-US" sz="2000" dirty="0"/>
          </a:p>
          <a:p>
            <a:pPr marL="0" indent="0">
              <a:buNone/>
            </a:pPr>
            <a:r>
              <a:rPr lang="en-US" sz="2000" dirty="0"/>
              <a:t>Screening</a:t>
            </a:r>
          </a:p>
          <a:p>
            <a:r>
              <a:rPr lang="en-US" sz="2000" dirty="0" err="1"/>
              <a:t>flag_secondary_htn_clue</a:t>
            </a:r>
            <a:endParaRPr lang="en-US" sz="2000" dirty="0"/>
          </a:p>
        </p:txBody>
      </p:sp>
      <p:sp>
        <p:nvSpPr>
          <p:cNvPr id="4" name="Title 1">
            <a:extLst>
              <a:ext uri="{FF2B5EF4-FFF2-40B4-BE49-F238E27FC236}">
                <a16:creationId xmlns:a16="http://schemas.microsoft.com/office/drawing/2014/main" id="{1A4FDB7B-273E-BA2C-F72F-F0E13E0C33F2}"/>
              </a:ext>
            </a:extLst>
          </p:cNvPr>
          <p:cNvSpPr txBox="1">
            <a:spLocks/>
          </p:cNvSpPr>
          <p:nvPr/>
        </p:nvSpPr>
        <p:spPr>
          <a:xfrm>
            <a:off x="838200" y="157163"/>
            <a:ext cx="10515600" cy="3521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t>Tools (additional)</a:t>
            </a:r>
          </a:p>
        </p:txBody>
      </p:sp>
    </p:spTree>
    <p:extLst>
      <p:ext uri="{BB962C8B-B14F-4D97-AF65-F5344CB8AC3E}">
        <p14:creationId xmlns:p14="http://schemas.microsoft.com/office/powerpoint/2010/main" val="2886658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321B7-3301-3114-C4C4-3CE894B8B40E}"/>
              </a:ext>
            </a:extLst>
          </p:cNvPr>
          <p:cNvSpPr>
            <a:spLocks noGrp="1"/>
          </p:cNvSpPr>
          <p:nvPr>
            <p:ph type="title"/>
          </p:nvPr>
        </p:nvSpPr>
        <p:spPr>
          <a:xfrm>
            <a:off x="3910212" y="161365"/>
            <a:ext cx="5858329" cy="712561"/>
          </a:xfrm>
        </p:spPr>
        <p:txBody>
          <a:bodyPr>
            <a:normAutofit/>
          </a:bodyPr>
          <a:lstStyle/>
          <a:p>
            <a:r>
              <a:rPr lang="en-US" dirty="0"/>
              <a:t>Agent cannot</a:t>
            </a:r>
          </a:p>
        </p:txBody>
      </p:sp>
      <p:sp>
        <p:nvSpPr>
          <p:cNvPr id="5" name="TextBox 4">
            <a:extLst>
              <a:ext uri="{FF2B5EF4-FFF2-40B4-BE49-F238E27FC236}">
                <a16:creationId xmlns:a16="http://schemas.microsoft.com/office/drawing/2014/main" id="{FA9E17E9-0D0A-7CB3-7372-16179FD36724}"/>
              </a:ext>
            </a:extLst>
          </p:cNvPr>
          <p:cNvSpPr txBox="1"/>
          <p:nvPr/>
        </p:nvSpPr>
        <p:spPr>
          <a:xfrm>
            <a:off x="669471" y="1120322"/>
            <a:ext cx="11250386" cy="3046988"/>
          </a:xfrm>
          <a:prstGeom prst="rect">
            <a:avLst/>
          </a:prstGeom>
          <a:noFill/>
        </p:spPr>
        <p:txBody>
          <a:bodyPr wrap="square" rtlCol="0">
            <a:spAutoFit/>
          </a:bodyPr>
          <a:lstStyle/>
          <a:p>
            <a:pPr marL="342900" lvl="0" indent="-342900">
              <a:buFont typeface="+mj-lt"/>
              <a:buAutoNum type="arabicPeriod"/>
            </a:pPr>
            <a:r>
              <a:rPr lang="en-US" sz="2400" dirty="0"/>
              <a:t>Directly write to FHIR (must go through tools)</a:t>
            </a:r>
          </a:p>
          <a:p>
            <a:pPr marL="342900" lvl="0" indent="-342900">
              <a:buFont typeface="+mj-lt"/>
              <a:buAutoNum type="arabicPeriod"/>
            </a:pPr>
            <a:r>
              <a:rPr lang="en-US" sz="2400" dirty="0"/>
              <a:t>Skip safety checks (</a:t>
            </a:r>
            <a:r>
              <a:rPr lang="en-US" sz="2400" dirty="0" err="1"/>
              <a:t>execute_prescription</a:t>
            </a:r>
            <a:r>
              <a:rPr lang="en-US" sz="2400" dirty="0"/>
              <a:t> validates them)</a:t>
            </a:r>
          </a:p>
          <a:p>
            <a:pPr marL="342900" lvl="0" indent="-342900">
              <a:buFont typeface="+mj-lt"/>
              <a:buAutoNum type="arabicPeriod"/>
            </a:pPr>
            <a:r>
              <a:rPr lang="en-US" sz="2400" dirty="0"/>
              <a:t>Stop a medication autonomously (always clinician approval)</a:t>
            </a:r>
          </a:p>
          <a:p>
            <a:pPr marL="342900" lvl="0" indent="-342900">
              <a:buFont typeface="+mj-lt"/>
              <a:buAutoNum type="arabicPeriod"/>
            </a:pPr>
            <a:r>
              <a:rPr lang="en-US" sz="2400" dirty="0"/>
              <a:t>Override a clinician rejection</a:t>
            </a:r>
          </a:p>
          <a:p>
            <a:pPr marL="342900" lvl="0" indent="-342900">
              <a:buFont typeface="+mj-lt"/>
              <a:buAutoNum type="arabicPeriod"/>
            </a:pPr>
            <a:r>
              <a:rPr lang="en-US" sz="2400" dirty="0"/>
              <a:t>Prescribe outside the recommendation pipeline</a:t>
            </a:r>
          </a:p>
          <a:p>
            <a:pPr marL="342900" lvl="0" indent="-342900">
              <a:buFont typeface="+mj-lt"/>
              <a:buAutoNum type="arabicPeriod"/>
            </a:pPr>
            <a:r>
              <a:rPr lang="en-US" sz="2400" dirty="0"/>
              <a:t>Change care state directly (only via </a:t>
            </a:r>
            <a:r>
              <a:rPr lang="en-US" sz="2400" dirty="0" err="1"/>
              <a:t>update_care_state</a:t>
            </a:r>
            <a:r>
              <a:rPr lang="en-US" sz="2400" dirty="0"/>
              <a:t> with specific update types)</a:t>
            </a:r>
          </a:p>
          <a:p>
            <a:pPr marL="342900" lvl="0" indent="-342900">
              <a:buFont typeface="+mj-lt"/>
              <a:buAutoNum type="arabicPeriod"/>
            </a:pPr>
            <a:r>
              <a:rPr lang="en-US" sz="2400" dirty="0"/>
              <a:t>Access other patients' data</a:t>
            </a:r>
          </a:p>
          <a:p>
            <a:pPr marL="342900" lvl="0" indent="-342900">
              <a:buFont typeface="+mj-lt"/>
              <a:buAutoNum type="arabicPeriod"/>
            </a:pPr>
            <a:r>
              <a:rPr lang="en-US" sz="2400" dirty="0"/>
              <a:t>Delete clinical records</a:t>
            </a:r>
            <a:endParaRPr lang="en-US" sz="1950" dirty="0"/>
          </a:p>
        </p:txBody>
      </p:sp>
    </p:spTree>
    <p:extLst>
      <p:ext uri="{BB962C8B-B14F-4D97-AF65-F5344CB8AC3E}">
        <p14:creationId xmlns:p14="http://schemas.microsoft.com/office/powerpoint/2010/main" val="2413964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6DDEC-5F96-8448-B1B2-4E8D30C514E6}"/>
              </a:ext>
            </a:extLst>
          </p:cNvPr>
          <p:cNvSpPr>
            <a:spLocks noGrp="1"/>
          </p:cNvSpPr>
          <p:nvPr>
            <p:ph type="title"/>
          </p:nvPr>
        </p:nvSpPr>
        <p:spPr>
          <a:xfrm>
            <a:off x="4175185" y="-71715"/>
            <a:ext cx="2725947" cy="793630"/>
          </a:xfrm>
        </p:spPr>
        <p:txBody>
          <a:bodyPr/>
          <a:lstStyle/>
          <a:p>
            <a:r>
              <a:rPr lang="en-US" dirty="0"/>
              <a:t>LLM Roles</a:t>
            </a:r>
          </a:p>
        </p:txBody>
      </p:sp>
      <p:graphicFrame>
        <p:nvGraphicFramePr>
          <p:cNvPr id="4" name="Content Placeholder 3">
            <a:extLst>
              <a:ext uri="{FF2B5EF4-FFF2-40B4-BE49-F238E27FC236}">
                <a16:creationId xmlns:a16="http://schemas.microsoft.com/office/drawing/2014/main" id="{791D88D5-D91A-5F9E-D505-813A64F9CF84}"/>
              </a:ext>
            </a:extLst>
          </p:cNvPr>
          <p:cNvGraphicFramePr>
            <a:graphicFrameLocks noGrp="1"/>
          </p:cNvGraphicFramePr>
          <p:nvPr>
            <p:ph idx="1"/>
            <p:extLst>
              <p:ext uri="{D42A27DB-BD31-4B8C-83A1-F6EECF244321}">
                <p14:modId xmlns:p14="http://schemas.microsoft.com/office/powerpoint/2010/main" val="2427875993"/>
              </p:ext>
            </p:extLst>
          </p:nvPr>
        </p:nvGraphicFramePr>
        <p:xfrm>
          <a:off x="200924" y="602249"/>
          <a:ext cx="11790152" cy="6112316"/>
        </p:xfrm>
        <a:graphic>
          <a:graphicData uri="http://schemas.openxmlformats.org/drawingml/2006/table">
            <a:tbl>
              <a:tblPr firstRow="1" firstCol="1" bandRow="1">
                <a:tableStyleId>{5C22544A-7EE6-4342-B048-85BDC9FD1C3A}</a:tableStyleId>
              </a:tblPr>
              <a:tblGrid>
                <a:gridCol w="2331578">
                  <a:extLst>
                    <a:ext uri="{9D8B030D-6E8A-4147-A177-3AD203B41FA5}">
                      <a16:colId xmlns:a16="http://schemas.microsoft.com/office/drawing/2014/main" val="418496270"/>
                    </a:ext>
                  </a:extLst>
                </a:gridCol>
                <a:gridCol w="2203096">
                  <a:extLst>
                    <a:ext uri="{9D8B030D-6E8A-4147-A177-3AD203B41FA5}">
                      <a16:colId xmlns:a16="http://schemas.microsoft.com/office/drawing/2014/main" val="2070535517"/>
                    </a:ext>
                  </a:extLst>
                </a:gridCol>
                <a:gridCol w="7255478">
                  <a:extLst>
                    <a:ext uri="{9D8B030D-6E8A-4147-A177-3AD203B41FA5}">
                      <a16:colId xmlns:a16="http://schemas.microsoft.com/office/drawing/2014/main" val="4143996644"/>
                    </a:ext>
                  </a:extLst>
                </a:gridCol>
              </a:tblGrid>
              <a:tr h="461080">
                <a:tc>
                  <a:txBody>
                    <a:bodyPr/>
                    <a:lstStyle/>
                    <a:p>
                      <a:pPr marL="0" marR="0">
                        <a:buNone/>
                      </a:pPr>
                      <a:r>
                        <a:rPr lang="en-US" sz="1900">
                          <a:effectLst/>
                        </a:rPr>
                        <a:t>Role</a:t>
                      </a:r>
                      <a:endParaRPr lang="en-US" sz="19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dirty="0">
                          <a:effectLst/>
                        </a:rPr>
                        <a:t>Model</a:t>
                      </a:r>
                      <a:endParaRPr lang="en-US" sz="19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dirty="0">
                          <a:effectLst/>
                        </a:rPr>
                        <a:t>Reasoning</a:t>
                      </a:r>
                      <a:endParaRPr lang="en-US" sz="19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2200512927"/>
                  </a:ext>
                </a:extLst>
              </a:tr>
              <a:tr h="757489">
                <a:tc>
                  <a:txBody>
                    <a:bodyPr/>
                    <a:lstStyle/>
                    <a:p>
                      <a:pPr marL="0" marR="0">
                        <a:buNone/>
                      </a:pPr>
                      <a:r>
                        <a:rPr lang="en-US" sz="1900" dirty="0">
                          <a:effectLst/>
                        </a:rPr>
                        <a:t>Main Agent</a:t>
                      </a:r>
                      <a:endParaRPr lang="en-US" sz="19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a:effectLst/>
                        </a:rPr>
                        <a:t>GPT-4o</a:t>
                      </a:r>
                      <a:endParaRPr lang="en-US" sz="19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dirty="0">
                          <a:effectLst/>
                        </a:rPr>
                        <a:t>Best tool-calling, fast, empathetic tone, reliable function calling. Patient-facing. Focused prompt</a:t>
                      </a:r>
                      <a:endParaRPr lang="en-US" sz="19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3146955672"/>
                  </a:ext>
                </a:extLst>
              </a:tr>
              <a:tr h="757489">
                <a:tc>
                  <a:txBody>
                    <a:bodyPr/>
                    <a:lstStyle/>
                    <a:p>
                      <a:pPr marL="0" marR="0">
                        <a:buNone/>
                      </a:pPr>
                      <a:r>
                        <a:rPr lang="en-US" sz="1900">
                          <a:effectLst/>
                        </a:rPr>
                        <a:t>LLM-as-Judge</a:t>
                      </a:r>
                      <a:endParaRPr lang="en-US" sz="19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a:effectLst/>
                        </a:rPr>
                        <a:t>Claude Sonnet 4.5</a:t>
                      </a:r>
                      <a:endParaRPr lang="en-US" sz="19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dirty="0">
                          <a:effectLst/>
                        </a:rPr>
                        <a:t>DIFFERENT PROVIDER for model diversity. If GPT-4o has a blind spot, Claude may catch it. Strong structured evaluation. Not speed-critical.</a:t>
                      </a:r>
                      <a:endParaRPr lang="en-US" sz="19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254634655"/>
                  </a:ext>
                </a:extLst>
              </a:tr>
              <a:tr h="757489">
                <a:tc>
                  <a:txBody>
                    <a:bodyPr/>
                    <a:lstStyle/>
                    <a:p>
                      <a:pPr marL="0" marR="0">
                        <a:buNone/>
                      </a:pPr>
                      <a:r>
                        <a:rPr lang="en-US" sz="1900">
                          <a:effectLst/>
                        </a:rPr>
                        <a:t>RAG Reasoner</a:t>
                      </a:r>
                      <a:endParaRPr lang="en-US" sz="19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a:effectLst/>
                        </a:rPr>
                        <a:t>GPT-4o</a:t>
                      </a:r>
                      <a:endParaRPr lang="en-US" sz="19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dirty="0">
                          <a:effectLst/>
                        </a:rPr>
                        <a:t>Same model as agent (shares prompt patterns). Strong citation grounding. Separate system prompt.</a:t>
                      </a:r>
                      <a:endParaRPr lang="en-US" sz="19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1593904271"/>
                  </a:ext>
                </a:extLst>
              </a:tr>
              <a:tr h="653888">
                <a:tc>
                  <a:txBody>
                    <a:bodyPr/>
                    <a:lstStyle/>
                    <a:p>
                      <a:pPr marL="0" marR="0">
                        <a:buNone/>
                      </a:pPr>
                      <a:r>
                        <a:rPr lang="en-US" sz="1900">
                          <a:effectLst/>
                        </a:rPr>
                        <a:t>Note Generator</a:t>
                      </a:r>
                      <a:endParaRPr lang="en-US" sz="19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a:effectLst/>
                        </a:rPr>
                        <a:t>GPT-4o-mini</a:t>
                      </a:r>
                      <a:endParaRPr lang="en-US" sz="19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a:effectLst/>
                        </a:rPr>
                        <a:t>Structured input -&gt; structured output. Template-guided. Runs async. Lower cost for high volume.</a:t>
                      </a:r>
                      <a:endParaRPr lang="en-US" sz="19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3718770071"/>
                  </a:ext>
                </a:extLst>
              </a:tr>
              <a:tr h="461080">
                <a:tc>
                  <a:txBody>
                    <a:bodyPr/>
                    <a:lstStyle/>
                    <a:p>
                      <a:pPr marL="0" marR="0">
                        <a:buNone/>
                      </a:pPr>
                      <a:r>
                        <a:rPr lang="en-US" sz="1900">
                          <a:effectLst/>
                        </a:rPr>
                        <a:t>Intake Classifier</a:t>
                      </a:r>
                      <a:endParaRPr lang="en-US" sz="19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a:effectLst/>
                        </a:rPr>
                        <a:t>GPT-4o-mini</a:t>
                      </a:r>
                      <a:endParaRPr lang="en-US" sz="19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a:effectLst/>
                        </a:rPr>
                        <a:t>Simple classification task. Fastest, cheapest.</a:t>
                      </a:r>
                      <a:endParaRPr lang="en-US" sz="19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3223761178"/>
                  </a:ext>
                </a:extLst>
              </a:tr>
              <a:tr h="792496">
                <a:tc>
                  <a:txBody>
                    <a:bodyPr/>
                    <a:lstStyle/>
                    <a:p>
                      <a:pPr marL="0" marR="0">
                        <a:buNone/>
                      </a:pPr>
                      <a:r>
                        <a:rPr lang="en-US" sz="1900">
                          <a:effectLst/>
                        </a:rPr>
                        <a:t>Scope Classifier</a:t>
                      </a:r>
                      <a:endParaRPr lang="en-US" sz="19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a:effectLst/>
                        </a:rPr>
                        <a:t>GPT-4o-mini</a:t>
                      </a:r>
                      <a:endParaRPr lang="en-US" sz="19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dirty="0">
                          <a:effectLst/>
                        </a:rPr>
                        <a:t>Classifies every inbound message as </a:t>
                      </a:r>
                      <a:r>
                        <a:rPr lang="en-US" sz="1900" dirty="0" err="1">
                          <a:effectLst/>
                        </a:rPr>
                        <a:t>bp_related</a:t>
                      </a:r>
                      <a:r>
                        <a:rPr lang="en-US" sz="1900" dirty="0">
                          <a:effectLst/>
                        </a:rPr>
                        <a:t> / emergency / </a:t>
                      </a:r>
                      <a:r>
                        <a:rPr lang="en-US" sz="1900" dirty="0" err="1">
                          <a:effectLst/>
                        </a:rPr>
                        <a:t>off_topic</a:t>
                      </a:r>
                      <a:r>
                        <a:rPr lang="en-US" sz="1900" dirty="0">
                          <a:effectLst/>
                        </a:rPr>
                        <a:t> / ambiguous. Runs before main agent. Fast, cheap, high-volume.</a:t>
                      </a:r>
                      <a:endParaRPr lang="en-US" sz="19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1893782505"/>
                  </a:ext>
                </a:extLst>
              </a:tr>
              <a:tr h="1053898">
                <a:tc>
                  <a:txBody>
                    <a:bodyPr/>
                    <a:lstStyle/>
                    <a:p>
                      <a:pPr marL="0" marR="0">
                        <a:buNone/>
                      </a:pPr>
                      <a:r>
                        <a:rPr lang="en-US" sz="1900">
                          <a:effectLst/>
                        </a:rPr>
                        <a:t>Tone Validator</a:t>
                      </a:r>
                      <a:endParaRPr lang="en-US" sz="19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dirty="0">
                          <a:effectLst/>
                        </a:rPr>
                        <a:t>GPT-4o-mini</a:t>
                      </a:r>
                      <a:endParaRPr lang="en-US" sz="19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900" dirty="0">
                          <a:effectLst/>
                        </a:rPr>
                        <a:t>Validates response tone against care-state expectations. Low volume (~5-10% of responses).</a:t>
                      </a:r>
                      <a:endParaRPr lang="en-US" sz="19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4280223833"/>
                  </a:ext>
                </a:extLst>
              </a:tr>
            </a:tbl>
          </a:graphicData>
        </a:graphic>
      </p:graphicFrame>
    </p:spTree>
    <p:extLst>
      <p:ext uri="{BB962C8B-B14F-4D97-AF65-F5344CB8AC3E}">
        <p14:creationId xmlns:p14="http://schemas.microsoft.com/office/powerpoint/2010/main" val="4003446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5E2E2C-F83D-5FC5-BEFB-883B4E8682F3}"/>
              </a:ext>
            </a:extLst>
          </p:cNvPr>
          <p:cNvSpPr txBox="1"/>
          <p:nvPr/>
        </p:nvSpPr>
        <p:spPr>
          <a:xfrm>
            <a:off x="1165412" y="793631"/>
            <a:ext cx="8796735" cy="5940088"/>
          </a:xfrm>
          <a:prstGeom prst="rect">
            <a:avLst/>
          </a:prstGeom>
          <a:noFill/>
        </p:spPr>
        <p:txBody>
          <a:bodyPr wrap="square">
            <a:spAutoFit/>
          </a:bodyPr>
          <a:lstStyle/>
          <a:p>
            <a:r>
              <a:rPr lang="en-US" sz="2000" dirty="0"/>
              <a:t>PATIENT MESSAGE ARRIVES</a:t>
            </a:r>
          </a:p>
          <a:p>
            <a:r>
              <a:rPr lang="en-US" sz="2000" dirty="0"/>
              <a:t>   ↓</a:t>
            </a:r>
          </a:p>
          <a:p>
            <a:r>
              <a:rPr lang="en-US" sz="2000" dirty="0"/>
              <a:t>PRE-PROCESSING LAYERS (before main agent)</a:t>
            </a:r>
          </a:p>
          <a:p>
            <a:r>
              <a:rPr lang="en-US" sz="2000" dirty="0"/>
              <a:t>   1. Emergency keyword scan (deterministic)</a:t>
            </a:r>
          </a:p>
          <a:p>
            <a:r>
              <a:rPr lang="en-US" sz="2000" dirty="0"/>
              <a:t>   2. Scope &amp; intent classifier</a:t>
            </a:r>
          </a:p>
          <a:p>
            <a:r>
              <a:rPr lang="en-US" sz="2000" dirty="0"/>
              <a:t>   3. Patient context injection</a:t>
            </a:r>
          </a:p>
          <a:p>
            <a:r>
              <a:rPr lang="en-US" sz="2000" dirty="0"/>
              <a:t>   4. Secondary HTN symptom pre-scan (and nudge if necessary)</a:t>
            </a:r>
          </a:p>
          <a:p>
            <a:r>
              <a:rPr lang="en-US" sz="2000" dirty="0"/>
              <a:t>   ↓</a:t>
            </a:r>
          </a:p>
          <a:p>
            <a:r>
              <a:rPr lang="en-US" sz="2000" dirty="0"/>
              <a:t>MAIN AGENT (responses and tool calls)</a:t>
            </a:r>
          </a:p>
          <a:p>
            <a:r>
              <a:rPr lang="en-US" sz="2000" dirty="0"/>
              <a:t>   ↓</a:t>
            </a:r>
          </a:p>
          <a:p>
            <a:r>
              <a:rPr lang="en-US" sz="2000" dirty="0"/>
              <a:t>SYSTEM ORCHESTRATOR (state machine, trees, safety pipeline)</a:t>
            </a:r>
          </a:p>
          <a:p>
            <a:r>
              <a:rPr lang="en-US" sz="2000" dirty="0"/>
              <a:t>   ↓</a:t>
            </a:r>
          </a:p>
          <a:p>
            <a:r>
              <a:rPr lang="en-US" sz="2000" dirty="0"/>
              <a:t>POST-PROCESSING LAYERS (after agent response, before delivery to patient)</a:t>
            </a:r>
          </a:p>
          <a:p>
            <a:r>
              <a:rPr lang="en-US" sz="2000" dirty="0"/>
              <a:t>   5. Tone validator</a:t>
            </a:r>
          </a:p>
          <a:p>
            <a:r>
              <a:rPr lang="en-US" sz="2000" dirty="0"/>
              <a:t>   6. Scope re-check</a:t>
            </a:r>
          </a:p>
          <a:p>
            <a:r>
              <a:rPr lang="en-US" sz="2000" dirty="0"/>
              <a:t>   7. Emergency re-scan</a:t>
            </a:r>
          </a:p>
          <a:p>
            <a:r>
              <a:rPr lang="en-US" sz="2000" dirty="0"/>
              <a:t>   8. PHI / proprietary boundary check</a:t>
            </a:r>
          </a:p>
          <a:p>
            <a:r>
              <a:rPr lang="en-US" sz="2000" dirty="0"/>
              <a:t>   ↓</a:t>
            </a:r>
          </a:p>
          <a:p>
            <a:r>
              <a:rPr lang="en-US" sz="2000" dirty="0"/>
              <a:t>RESPONSE</a:t>
            </a:r>
          </a:p>
        </p:txBody>
      </p:sp>
      <p:sp>
        <p:nvSpPr>
          <p:cNvPr id="6" name="Title 1">
            <a:extLst>
              <a:ext uri="{FF2B5EF4-FFF2-40B4-BE49-F238E27FC236}">
                <a16:creationId xmlns:a16="http://schemas.microsoft.com/office/drawing/2014/main" id="{88F2A183-9A6E-FD7E-631B-48A11821765D}"/>
              </a:ext>
            </a:extLst>
          </p:cNvPr>
          <p:cNvSpPr>
            <a:spLocks noGrp="1"/>
          </p:cNvSpPr>
          <p:nvPr>
            <p:ph type="title"/>
          </p:nvPr>
        </p:nvSpPr>
        <p:spPr>
          <a:xfrm>
            <a:off x="2598821" y="1"/>
            <a:ext cx="7684168" cy="793630"/>
          </a:xfrm>
        </p:spPr>
        <p:txBody>
          <a:bodyPr>
            <a:normAutofit/>
          </a:bodyPr>
          <a:lstStyle/>
          <a:p>
            <a:r>
              <a:rPr lang="en-US" dirty="0"/>
              <a:t>Message Processing Pipeline</a:t>
            </a:r>
          </a:p>
        </p:txBody>
      </p:sp>
    </p:spTree>
    <p:extLst>
      <p:ext uri="{BB962C8B-B14F-4D97-AF65-F5344CB8AC3E}">
        <p14:creationId xmlns:p14="http://schemas.microsoft.com/office/powerpoint/2010/main" val="3624243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3F2449F-DACE-53C4-4137-5D7EC752F5EC}"/>
              </a:ext>
            </a:extLst>
          </p:cNvPr>
          <p:cNvGraphicFramePr>
            <a:graphicFrameLocks noGrp="1"/>
          </p:cNvGraphicFramePr>
          <p:nvPr>
            <p:extLst>
              <p:ext uri="{D42A27DB-BD31-4B8C-83A1-F6EECF244321}">
                <p14:modId xmlns:p14="http://schemas.microsoft.com/office/powerpoint/2010/main" val="3169014538"/>
              </p:ext>
            </p:extLst>
          </p:nvPr>
        </p:nvGraphicFramePr>
        <p:xfrm>
          <a:off x="139307" y="632330"/>
          <a:ext cx="11335870" cy="5929834"/>
        </p:xfrm>
        <a:graphic>
          <a:graphicData uri="http://schemas.openxmlformats.org/drawingml/2006/table">
            <a:tbl>
              <a:tblPr firstRow="1" firstCol="1" bandRow="1">
                <a:tableStyleId>{5C22544A-7EE6-4342-B048-85BDC9FD1C3A}</a:tableStyleId>
              </a:tblPr>
              <a:tblGrid>
                <a:gridCol w="2366484">
                  <a:extLst>
                    <a:ext uri="{9D8B030D-6E8A-4147-A177-3AD203B41FA5}">
                      <a16:colId xmlns:a16="http://schemas.microsoft.com/office/drawing/2014/main" val="4078554292"/>
                    </a:ext>
                  </a:extLst>
                </a:gridCol>
                <a:gridCol w="4734179">
                  <a:extLst>
                    <a:ext uri="{9D8B030D-6E8A-4147-A177-3AD203B41FA5}">
                      <a16:colId xmlns:a16="http://schemas.microsoft.com/office/drawing/2014/main" val="2521131006"/>
                    </a:ext>
                  </a:extLst>
                </a:gridCol>
                <a:gridCol w="1868723">
                  <a:extLst>
                    <a:ext uri="{9D8B030D-6E8A-4147-A177-3AD203B41FA5}">
                      <a16:colId xmlns:a16="http://schemas.microsoft.com/office/drawing/2014/main" val="3095106865"/>
                    </a:ext>
                  </a:extLst>
                </a:gridCol>
                <a:gridCol w="2366484">
                  <a:extLst>
                    <a:ext uri="{9D8B030D-6E8A-4147-A177-3AD203B41FA5}">
                      <a16:colId xmlns:a16="http://schemas.microsoft.com/office/drawing/2014/main" val="1268336553"/>
                    </a:ext>
                  </a:extLst>
                </a:gridCol>
              </a:tblGrid>
              <a:tr h="818613">
                <a:tc>
                  <a:txBody>
                    <a:bodyPr/>
                    <a:lstStyle/>
                    <a:p>
                      <a:pPr marL="0" marR="0">
                        <a:buNone/>
                      </a:pPr>
                      <a:r>
                        <a:rPr lang="en-US" sz="2200" dirty="0">
                          <a:effectLst/>
                        </a:rPr>
                        <a:t>Layer</a:t>
                      </a:r>
                      <a:endParaRPr lang="en-US" sz="22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dirty="0">
                          <a:effectLst/>
                        </a:rPr>
                        <a:t>Content</a:t>
                      </a:r>
                      <a:endParaRPr lang="en-US" sz="22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a:effectLst/>
                        </a:rPr>
                        <a:t>Size</a:t>
                      </a:r>
                      <a:endParaRPr lang="en-US" sz="22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a:effectLst/>
                        </a:rPr>
                        <a:t>Always included?</a:t>
                      </a:r>
                      <a:endParaRPr lang="en-US" sz="22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2865958565"/>
                  </a:ext>
                </a:extLst>
              </a:tr>
              <a:tr h="818613">
                <a:tc>
                  <a:txBody>
                    <a:bodyPr/>
                    <a:lstStyle/>
                    <a:p>
                      <a:pPr marL="0" marR="0">
                        <a:buNone/>
                      </a:pPr>
                      <a:r>
                        <a:rPr lang="en-US" sz="2200" dirty="0">
                          <a:effectLst/>
                        </a:rPr>
                        <a:t>System prompt</a:t>
                      </a:r>
                      <a:endParaRPr lang="en-US" sz="22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dirty="0">
                          <a:effectLst/>
                        </a:rPr>
                        <a:t>Agent persona, capabilities, instructions, scope rules</a:t>
                      </a:r>
                      <a:endParaRPr lang="en-US" sz="22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a:effectLst/>
                        </a:rPr>
                        <a:t>~2,000 tokens</a:t>
                      </a:r>
                      <a:endParaRPr lang="en-US" sz="22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a:effectLst/>
                        </a:rPr>
                        <a:t>Yes</a:t>
                      </a:r>
                      <a:endParaRPr lang="en-US" sz="22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3079986759"/>
                  </a:ext>
                </a:extLst>
              </a:tr>
              <a:tr h="818613">
                <a:tc>
                  <a:txBody>
                    <a:bodyPr/>
                    <a:lstStyle/>
                    <a:p>
                      <a:pPr marL="0" marR="0">
                        <a:buNone/>
                      </a:pPr>
                      <a:r>
                        <a:rPr lang="en-US" sz="2200">
                          <a:effectLst/>
                        </a:rPr>
                        <a:t>Patient context</a:t>
                      </a:r>
                      <a:endParaRPr lang="en-US" sz="22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dirty="0">
                          <a:effectLst/>
                        </a:rPr>
                        <a:t>Injected structured context</a:t>
                      </a:r>
                      <a:endParaRPr lang="en-US" sz="22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a:effectLst/>
                        </a:rPr>
                        <a:t>~500 tokens</a:t>
                      </a:r>
                      <a:endParaRPr lang="en-US" sz="22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a:effectLst/>
                        </a:rPr>
                        <a:t>Yes</a:t>
                      </a:r>
                      <a:endParaRPr lang="en-US" sz="22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107320498"/>
                  </a:ext>
                </a:extLst>
              </a:tr>
              <a:tr h="662705">
                <a:tc>
                  <a:txBody>
                    <a:bodyPr/>
                    <a:lstStyle/>
                    <a:p>
                      <a:pPr marL="0" marR="0">
                        <a:buNone/>
                      </a:pPr>
                      <a:r>
                        <a:rPr lang="en-US" sz="2200" dirty="0">
                          <a:effectLst/>
                        </a:rPr>
                        <a:t>Current session</a:t>
                      </a:r>
                      <a:endParaRPr lang="en-US" sz="22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dirty="0">
                          <a:effectLst/>
                        </a:rPr>
                        <a:t>All messages in the current session</a:t>
                      </a:r>
                      <a:endParaRPr lang="en-US" sz="22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a:effectLst/>
                        </a:rPr>
                        <a:t>Variable</a:t>
                      </a:r>
                      <a:endParaRPr lang="en-US" sz="22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a:effectLst/>
                        </a:rPr>
                        <a:t>Yes</a:t>
                      </a:r>
                      <a:endParaRPr lang="en-US" sz="22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1520475000"/>
                  </a:ext>
                </a:extLst>
              </a:tr>
              <a:tr h="818613">
                <a:tc>
                  <a:txBody>
                    <a:bodyPr/>
                    <a:lstStyle/>
                    <a:p>
                      <a:pPr marL="0" marR="0">
                        <a:buNone/>
                      </a:pPr>
                      <a:r>
                        <a:rPr lang="en-US" sz="2200">
                          <a:effectLst/>
                        </a:rPr>
                        <a:t>Recent history summary</a:t>
                      </a:r>
                      <a:endParaRPr lang="en-US" sz="22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dirty="0">
                          <a:effectLst/>
                        </a:rPr>
                        <a:t>AI-generated summary of the last 2-3 sessions</a:t>
                      </a:r>
                      <a:endParaRPr lang="en-US" sz="22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a:effectLst/>
                        </a:rPr>
                        <a:t>~500 tokens</a:t>
                      </a:r>
                      <a:endParaRPr lang="en-US" sz="22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a:effectLst/>
                        </a:rPr>
                        <a:t>Yes</a:t>
                      </a:r>
                      <a:endParaRPr lang="en-US" sz="22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828772103"/>
                  </a:ext>
                </a:extLst>
              </a:tr>
              <a:tr h="818613">
                <a:tc>
                  <a:txBody>
                    <a:bodyPr/>
                    <a:lstStyle/>
                    <a:p>
                      <a:pPr marL="0" marR="0">
                        <a:buNone/>
                      </a:pPr>
                      <a:r>
                        <a:rPr lang="en-US" sz="2200">
                          <a:effectLst/>
                        </a:rPr>
                        <a:t>Tool results</a:t>
                      </a:r>
                      <a:endParaRPr lang="en-US" sz="22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dirty="0">
                          <a:effectLst/>
                        </a:rPr>
                        <a:t>Results from tool calls in the current turn</a:t>
                      </a:r>
                      <a:endParaRPr lang="en-US" sz="22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dirty="0">
                          <a:effectLst/>
                        </a:rPr>
                        <a:t>Variable</a:t>
                      </a:r>
                      <a:endParaRPr lang="en-US" sz="22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a:effectLst/>
                        </a:rPr>
                        <a:t>Yes</a:t>
                      </a:r>
                      <a:endParaRPr lang="en-US" sz="22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1107345286"/>
                  </a:ext>
                </a:extLst>
              </a:tr>
              <a:tr h="1174064">
                <a:tc>
                  <a:txBody>
                    <a:bodyPr/>
                    <a:lstStyle/>
                    <a:p>
                      <a:pPr marL="0" marR="0">
                        <a:buNone/>
                      </a:pPr>
                      <a:r>
                        <a:rPr lang="en-US" sz="2200">
                          <a:effectLst/>
                        </a:rPr>
                        <a:t>Care thread summary</a:t>
                      </a:r>
                      <a:endParaRPr lang="en-US" sz="22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a:effectLst/>
                        </a:rPr>
                        <a:t>AI-generated summary of the full care relationship (updated monthly or after major events)</a:t>
                      </a:r>
                      <a:endParaRPr lang="en-US" sz="22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dirty="0">
                          <a:effectLst/>
                        </a:rPr>
                        <a:t>~800 tokens</a:t>
                      </a:r>
                      <a:endParaRPr lang="en-US" sz="22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200" dirty="0">
                          <a:effectLst/>
                        </a:rPr>
                        <a:t>If &gt; 5 sessions exist</a:t>
                      </a:r>
                      <a:endParaRPr lang="en-US" sz="22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51977688"/>
                  </a:ext>
                </a:extLst>
              </a:tr>
            </a:tbl>
          </a:graphicData>
        </a:graphic>
      </p:graphicFrame>
      <p:sp>
        <p:nvSpPr>
          <p:cNvPr id="6" name="Title 1">
            <a:extLst>
              <a:ext uri="{FF2B5EF4-FFF2-40B4-BE49-F238E27FC236}">
                <a16:creationId xmlns:a16="http://schemas.microsoft.com/office/drawing/2014/main" id="{FC36C0D4-5CA4-5462-86E2-E3D719548C40}"/>
              </a:ext>
            </a:extLst>
          </p:cNvPr>
          <p:cNvSpPr>
            <a:spLocks noGrp="1"/>
          </p:cNvSpPr>
          <p:nvPr>
            <p:ph type="title"/>
          </p:nvPr>
        </p:nvSpPr>
        <p:spPr>
          <a:xfrm>
            <a:off x="549442" y="96364"/>
            <a:ext cx="10515600" cy="398944"/>
          </a:xfrm>
        </p:spPr>
        <p:txBody>
          <a:bodyPr>
            <a:normAutofit fontScale="90000"/>
          </a:bodyPr>
          <a:lstStyle/>
          <a:p>
            <a:pPr algn="ctr"/>
            <a:r>
              <a:rPr lang="en-US" dirty="0"/>
              <a:t>Context</a:t>
            </a:r>
          </a:p>
        </p:txBody>
      </p:sp>
    </p:spTree>
    <p:extLst>
      <p:ext uri="{BB962C8B-B14F-4D97-AF65-F5344CB8AC3E}">
        <p14:creationId xmlns:p14="http://schemas.microsoft.com/office/powerpoint/2010/main" val="72920092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C7263-BED9-49E4-F5BF-F00C9692EB26}"/>
              </a:ext>
            </a:extLst>
          </p:cNvPr>
          <p:cNvSpPr>
            <a:spLocks noGrp="1"/>
          </p:cNvSpPr>
          <p:nvPr>
            <p:ph type="title"/>
          </p:nvPr>
        </p:nvSpPr>
        <p:spPr>
          <a:xfrm>
            <a:off x="838200" y="204264"/>
            <a:ext cx="10515600" cy="838648"/>
          </a:xfrm>
        </p:spPr>
        <p:txBody>
          <a:bodyPr/>
          <a:lstStyle/>
          <a:p>
            <a:pPr algn="ctr"/>
            <a:r>
              <a:rPr lang="en-US" dirty="0"/>
              <a:t>State Machine</a:t>
            </a:r>
          </a:p>
        </p:txBody>
      </p:sp>
      <p:sp>
        <p:nvSpPr>
          <p:cNvPr id="13" name="Rounded Rectangle 12">
            <a:extLst>
              <a:ext uri="{FF2B5EF4-FFF2-40B4-BE49-F238E27FC236}">
                <a16:creationId xmlns:a16="http://schemas.microsoft.com/office/drawing/2014/main" id="{75930695-8FB0-CD11-FC69-004EE3EBDB7E}"/>
              </a:ext>
            </a:extLst>
          </p:cNvPr>
          <p:cNvSpPr/>
          <p:nvPr/>
        </p:nvSpPr>
        <p:spPr>
          <a:xfrm>
            <a:off x="316728" y="2981606"/>
            <a:ext cx="1957387"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Lifestyle only</a:t>
            </a:r>
          </a:p>
        </p:txBody>
      </p:sp>
      <p:sp>
        <p:nvSpPr>
          <p:cNvPr id="16" name="Rounded Rectangle 15">
            <a:extLst>
              <a:ext uri="{FF2B5EF4-FFF2-40B4-BE49-F238E27FC236}">
                <a16:creationId xmlns:a16="http://schemas.microsoft.com/office/drawing/2014/main" id="{5C6031D4-461F-F997-26D6-A445097E2966}"/>
              </a:ext>
            </a:extLst>
          </p:cNvPr>
          <p:cNvSpPr/>
          <p:nvPr/>
        </p:nvSpPr>
        <p:spPr>
          <a:xfrm>
            <a:off x="9267824" y="4064806"/>
            <a:ext cx="2085975"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Awaiting drug effect</a:t>
            </a:r>
          </a:p>
        </p:txBody>
      </p:sp>
      <p:sp>
        <p:nvSpPr>
          <p:cNvPr id="18" name="Rounded Rectangle 17">
            <a:extLst>
              <a:ext uri="{FF2B5EF4-FFF2-40B4-BE49-F238E27FC236}">
                <a16:creationId xmlns:a16="http://schemas.microsoft.com/office/drawing/2014/main" id="{1B9C55F3-890C-B594-4B4C-5F8A13C7C827}"/>
              </a:ext>
            </a:extLst>
          </p:cNvPr>
          <p:cNvSpPr/>
          <p:nvPr/>
        </p:nvSpPr>
        <p:spPr>
          <a:xfrm>
            <a:off x="6981831" y="3065795"/>
            <a:ext cx="2085975"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Awaiting drug effect</a:t>
            </a:r>
          </a:p>
        </p:txBody>
      </p:sp>
      <p:sp>
        <p:nvSpPr>
          <p:cNvPr id="19" name="Rounded Rectangle 18">
            <a:extLst>
              <a:ext uri="{FF2B5EF4-FFF2-40B4-BE49-F238E27FC236}">
                <a16:creationId xmlns:a16="http://schemas.microsoft.com/office/drawing/2014/main" id="{DFF80B75-8D0D-8A09-D5C6-7715E9651956}"/>
              </a:ext>
            </a:extLst>
          </p:cNvPr>
          <p:cNvSpPr/>
          <p:nvPr/>
        </p:nvSpPr>
        <p:spPr>
          <a:xfrm>
            <a:off x="9267825" y="3065795"/>
            <a:ext cx="2085975"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At goal</a:t>
            </a:r>
          </a:p>
        </p:txBody>
      </p:sp>
      <p:sp>
        <p:nvSpPr>
          <p:cNvPr id="20" name="Rounded Rectangle 19">
            <a:extLst>
              <a:ext uri="{FF2B5EF4-FFF2-40B4-BE49-F238E27FC236}">
                <a16:creationId xmlns:a16="http://schemas.microsoft.com/office/drawing/2014/main" id="{22385CF0-E8D5-0ACC-73BE-BA27C5381859}"/>
              </a:ext>
            </a:extLst>
          </p:cNvPr>
          <p:cNvSpPr/>
          <p:nvPr/>
        </p:nvSpPr>
        <p:spPr>
          <a:xfrm>
            <a:off x="2538431" y="2986369"/>
            <a:ext cx="2085975"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Confirming uncontrolled</a:t>
            </a:r>
          </a:p>
        </p:txBody>
      </p:sp>
      <p:sp>
        <p:nvSpPr>
          <p:cNvPr id="21" name="Rounded Rectangle 20">
            <a:extLst>
              <a:ext uri="{FF2B5EF4-FFF2-40B4-BE49-F238E27FC236}">
                <a16:creationId xmlns:a16="http://schemas.microsoft.com/office/drawing/2014/main" id="{7036F5F0-EE15-5111-4BC1-7A97A1DA7FB7}"/>
              </a:ext>
            </a:extLst>
          </p:cNvPr>
          <p:cNvSpPr/>
          <p:nvPr/>
        </p:nvSpPr>
        <p:spPr>
          <a:xfrm>
            <a:off x="4824415" y="4039135"/>
            <a:ext cx="1957387"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Adherence Intervention</a:t>
            </a:r>
          </a:p>
        </p:txBody>
      </p:sp>
      <p:sp>
        <p:nvSpPr>
          <p:cNvPr id="22" name="Rounded Rectangle 21">
            <a:extLst>
              <a:ext uri="{FF2B5EF4-FFF2-40B4-BE49-F238E27FC236}">
                <a16:creationId xmlns:a16="http://schemas.microsoft.com/office/drawing/2014/main" id="{954E7651-526F-A142-7DC7-E72B913CEFA7}"/>
              </a:ext>
            </a:extLst>
          </p:cNvPr>
          <p:cNvSpPr/>
          <p:nvPr/>
        </p:nvSpPr>
        <p:spPr>
          <a:xfrm>
            <a:off x="4824425" y="3013087"/>
            <a:ext cx="1957387"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Therapy adjustment</a:t>
            </a:r>
          </a:p>
        </p:txBody>
      </p:sp>
      <p:sp>
        <p:nvSpPr>
          <p:cNvPr id="23" name="Rounded Rectangle 22">
            <a:extLst>
              <a:ext uri="{FF2B5EF4-FFF2-40B4-BE49-F238E27FC236}">
                <a16:creationId xmlns:a16="http://schemas.microsoft.com/office/drawing/2014/main" id="{8ACC0674-4A06-9B11-91A9-3700B7E593C7}"/>
              </a:ext>
            </a:extLst>
          </p:cNvPr>
          <p:cNvSpPr/>
          <p:nvPr/>
        </p:nvSpPr>
        <p:spPr>
          <a:xfrm>
            <a:off x="316727" y="3965958"/>
            <a:ext cx="1957387"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Side effect eval</a:t>
            </a:r>
          </a:p>
        </p:txBody>
      </p:sp>
      <p:sp>
        <p:nvSpPr>
          <p:cNvPr id="24" name="Rounded Rectangle 23">
            <a:extLst>
              <a:ext uri="{FF2B5EF4-FFF2-40B4-BE49-F238E27FC236}">
                <a16:creationId xmlns:a16="http://schemas.microsoft.com/office/drawing/2014/main" id="{9050153D-6229-C519-18AD-740E86999EF3}"/>
              </a:ext>
            </a:extLst>
          </p:cNvPr>
          <p:cNvSpPr/>
          <p:nvPr/>
        </p:nvSpPr>
        <p:spPr>
          <a:xfrm>
            <a:off x="316727" y="5061129"/>
            <a:ext cx="1957387"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Possible overtreatment</a:t>
            </a:r>
          </a:p>
        </p:txBody>
      </p:sp>
      <p:sp>
        <p:nvSpPr>
          <p:cNvPr id="25" name="Rounded Rectangle 24">
            <a:extLst>
              <a:ext uri="{FF2B5EF4-FFF2-40B4-BE49-F238E27FC236}">
                <a16:creationId xmlns:a16="http://schemas.microsoft.com/office/drawing/2014/main" id="{C4DD6B06-C381-ADB7-714D-F6BEA810A753}"/>
              </a:ext>
            </a:extLst>
          </p:cNvPr>
          <p:cNvSpPr/>
          <p:nvPr/>
        </p:nvSpPr>
        <p:spPr>
          <a:xfrm>
            <a:off x="6981831" y="5091902"/>
            <a:ext cx="2085975"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Resistant hypertension</a:t>
            </a:r>
          </a:p>
        </p:txBody>
      </p:sp>
      <p:sp>
        <p:nvSpPr>
          <p:cNvPr id="26" name="Rounded Rectangle 25">
            <a:extLst>
              <a:ext uri="{FF2B5EF4-FFF2-40B4-BE49-F238E27FC236}">
                <a16:creationId xmlns:a16="http://schemas.microsoft.com/office/drawing/2014/main" id="{465EA348-CB87-050F-8754-F057934BD480}"/>
              </a:ext>
            </a:extLst>
          </p:cNvPr>
          <p:cNvSpPr/>
          <p:nvPr/>
        </p:nvSpPr>
        <p:spPr>
          <a:xfrm>
            <a:off x="2488450" y="5091902"/>
            <a:ext cx="1957387"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Crisis</a:t>
            </a:r>
          </a:p>
        </p:txBody>
      </p:sp>
      <p:sp>
        <p:nvSpPr>
          <p:cNvPr id="27" name="Rounded Rectangle 26">
            <a:extLst>
              <a:ext uri="{FF2B5EF4-FFF2-40B4-BE49-F238E27FC236}">
                <a16:creationId xmlns:a16="http://schemas.microsoft.com/office/drawing/2014/main" id="{852304B8-C419-36B6-A182-62F4818B71D5}"/>
              </a:ext>
            </a:extLst>
          </p:cNvPr>
          <p:cNvSpPr/>
          <p:nvPr/>
        </p:nvSpPr>
        <p:spPr>
          <a:xfrm>
            <a:off x="4735140" y="5091902"/>
            <a:ext cx="1957387"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Pending clinician</a:t>
            </a:r>
          </a:p>
        </p:txBody>
      </p:sp>
      <p:sp>
        <p:nvSpPr>
          <p:cNvPr id="28" name="Rounded Rectangle 27">
            <a:extLst>
              <a:ext uri="{FF2B5EF4-FFF2-40B4-BE49-F238E27FC236}">
                <a16:creationId xmlns:a16="http://schemas.microsoft.com/office/drawing/2014/main" id="{FAABFBAB-220B-D507-C33C-E2E5A4F788A9}"/>
              </a:ext>
            </a:extLst>
          </p:cNvPr>
          <p:cNvSpPr/>
          <p:nvPr/>
        </p:nvSpPr>
        <p:spPr>
          <a:xfrm>
            <a:off x="2538430" y="4039135"/>
            <a:ext cx="2085975"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Confirming uncontrolled</a:t>
            </a:r>
          </a:p>
        </p:txBody>
      </p:sp>
      <p:sp>
        <p:nvSpPr>
          <p:cNvPr id="29" name="Rounded Rectangle 28">
            <a:extLst>
              <a:ext uri="{FF2B5EF4-FFF2-40B4-BE49-F238E27FC236}">
                <a16:creationId xmlns:a16="http://schemas.microsoft.com/office/drawing/2014/main" id="{4D1E1205-2F93-D1E1-8764-7A9F836AC3B1}"/>
              </a:ext>
            </a:extLst>
          </p:cNvPr>
          <p:cNvSpPr/>
          <p:nvPr/>
        </p:nvSpPr>
        <p:spPr>
          <a:xfrm>
            <a:off x="6981812" y="4012098"/>
            <a:ext cx="2085975"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Therapy adjustment</a:t>
            </a:r>
          </a:p>
        </p:txBody>
      </p:sp>
      <p:sp>
        <p:nvSpPr>
          <p:cNvPr id="3" name="TextBox 2">
            <a:extLst>
              <a:ext uri="{FF2B5EF4-FFF2-40B4-BE49-F238E27FC236}">
                <a16:creationId xmlns:a16="http://schemas.microsoft.com/office/drawing/2014/main" id="{1A5F35EE-B9C1-C5FE-0C55-6055CB9AA78B}"/>
              </a:ext>
            </a:extLst>
          </p:cNvPr>
          <p:cNvSpPr txBox="1"/>
          <p:nvPr/>
        </p:nvSpPr>
        <p:spPr>
          <a:xfrm>
            <a:off x="349624" y="1070735"/>
            <a:ext cx="10309412" cy="1569660"/>
          </a:xfrm>
          <a:prstGeom prst="rect">
            <a:avLst/>
          </a:prstGeom>
          <a:noFill/>
        </p:spPr>
        <p:txBody>
          <a:bodyPr wrap="square" rtlCol="0">
            <a:spAutoFit/>
          </a:bodyPr>
          <a:lstStyle/>
          <a:p>
            <a:r>
              <a:rPr lang="en-US" sz="2400" dirty="0"/>
              <a:t>State determines:</a:t>
            </a:r>
          </a:p>
          <a:p>
            <a:pPr marL="285750" indent="-285750">
              <a:buFontTx/>
              <a:buChar char="-"/>
            </a:pPr>
            <a:r>
              <a:rPr lang="en-US" sz="2400" dirty="0"/>
              <a:t>Which decision tree to use</a:t>
            </a:r>
          </a:p>
          <a:p>
            <a:pPr marL="285750" indent="-285750">
              <a:buFontTx/>
              <a:buChar char="-"/>
            </a:pPr>
            <a:r>
              <a:rPr lang="en-US" sz="2400" dirty="0"/>
              <a:t>Which follow-up schedule to use</a:t>
            </a:r>
          </a:p>
          <a:p>
            <a:pPr marL="285750" indent="-285750">
              <a:buFontTx/>
              <a:buChar char="-"/>
            </a:pPr>
            <a:r>
              <a:rPr lang="en-US" sz="2400" dirty="0"/>
              <a:t>How to interpret new BP readings</a:t>
            </a:r>
          </a:p>
        </p:txBody>
      </p:sp>
    </p:spTree>
    <p:extLst>
      <p:ext uri="{BB962C8B-B14F-4D97-AF65-F5344CB8AC3E}">
        <p14:creationId xmlns:p14="http://schemas.microsoft.com/office/powerpoint/2010/main" val="3698668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61425-B3F6-4B2F-69EF-9DAE52E2554A}"/>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B5409E3-3267-33FA-76AA-1A50CC23E8C9}"/>
              </a:ext>
            </a:extLst>
          </p:cNvPr>
          <p:cNvGraphicFramePr>
            <a:graphicFrameLocks noGrp="1"/>
          </p:cNvGraphicFramePr>
          <p:nvPr>
            <p:ph idx="1"/>
            <p:extLst>
              <p:ext uri="{D42A27DB-BD31-4B8C-83A1-F6EECF244321}">
                <p14:modId xmlns:p14="http://schemas.microsoft.com/office/powerpoint/2010/main" val="1970323055"/>
              </p:ext>
            </p:extLst>
          </p:nvPr>
        </p:nvGraphicFramePr>
        <p:xfrm>
          <a:off x="233082" y="962526"/>
          <a:ext cx="11743764" cy="5691210"/>
        </p:xfrm>
        <a:graphic>
          <a:graphicData uri="http://schemas.openxmlformats.org/drawingml/2006/table">
            <a:tbl>
              <a:tblPr firstRow="1" bandRow="1">
                <a:tableStyleId>{5C22544A-7EE6-4342-B048-85BDC9FD1C3A}</a:tableStyleId>
              </a:tblPr>
              <a:tblGrid>
                <a:gridCol w="3914588">
                  <a:extLst>
                    <a:ext uri="{9D8B030D-6E8A-4147-A177-3AD203B41FA5}">
                      <a16:colId xmlns:a16="http://schemas.microsoft.com/office/drawing/2014/main" val="3500068991"/>
                    </a:ext>
                  </a:extLst>
                </a:gridCol>
                <a:gridCol w="3914588">
                  <a:extLst>
                    <a:ext uri="{9D8B030D-6E8A-4147-A177-3AD203B41FA5}">
                      <a16:colId xmlns:a16="http://schemas.microsoft.com/office/drawing/2014/main" val="2879732067"/>
                    </a:ext>
                  </a:extLst>
                </a:gridCol>
                <a:gridCol w="3914588">
                  <a:extLst>
                    <a:ext uri="{9D8B030D-6E8A-4147-A177-3AD203B41FA5}">
                      <a16:colId xmlns:a16="http://schemas.microsoft.com/office/drawing/2014/main" val="2153080950"/>
                    </a:ext>
                  </a:extLst>
                </a:gridCol>
              </a:tblGrid>
              <a:tr h="461172">
                <a:tc>
                  <a:txBody>
                    <a:bodyPr/>
                    <a:lstStyle/>
                    <a:p>
                      <a:pPr algn="l" fontAlgn="b">
                        <a:buNone/>
                      </a:pPr>
                      <a:r>
                        <a:rPr lang="en-US" sz="1700" b="1" i="0" u="none" strike="noStrike" dirty="0">
                          <a:solidFill>
                            <a:schemeClr val="bg1"/>
                          </a:solidFill>
                          <a:effectLst/>
                          <a:latin typeface="Helvetica Neue" panose="02000503000000020004" pitchFamily="2" charset="0"/>
                        </a:rPr>
                        <a:t>From</a:t>
                      </a:r>
                    </a:p>
                  </a:txBody>
                  <a:tcPr marL="9525" marR="9525" marT="9525" marB="0" anchor="ctr"/>
                </a:tc>
                <a:tc>
                  <a:txBody>
                    <a:bodyPr/>
                    <a:lstStyle/>
                    <a:p>
                      <a:pPr algn="l" fontAlgn="b">
                        <a:buNone/>
                      </a:pPr>
                      <a:r>
                        <a:rPr lang="en-US" sz="1700" b="1" i="0" u="none" strike="noStrike">
                          <a:solidFill>
                            <a:schemeClr val="bg1"/>
                          </a:solidFill>
                          <a:effectLst/>
                          <a:latin typeface="Helvetica Neue" panose="02000503000000020004" pitchFamily="2" charset="0"/>
                        </a:rPr>
                        <a:t>To</a:t>
                      </a:r>
                    </a:p>
                  </a:txBody>
                  <a:tcPr marL="9525" marR="9525" marT="9525" marB="0" anchor="ctr"/>
                </a:tc>
                <a:tc>
                  <a:txBody>
                    <a:bodyPr/>
                    <a:lstStyle/>
                    <a:p>
                      <a:pPr algn="l" fontAlgn="b">
                        <a:buNone/>
                      </a:pPr>
                      <a:r>
                        <a:rPr lang="en-US" sz="1700" b="1" i="0" u="none" strike="noStrike" dirty="0">
                          <a:solidFill>
                            <a:schemeClr val="bg1"/>
                          </a:solidFill>
                          <a:effectLst/>
                          <a:latin typeface="Helvetica Neue" panose="02000503000000020004" pitchFamily="2" charset="0"/>
                        </a:rPr>
                        <a:t>Trigger</a:t>
                      </a:r>
                    </a:p>
                  </a:txBody>
                  <a:tcPr marL="9525" marR="9525" marT="9525" marB="0" anchor="ctr"/>
                </a:tc>
                <a:extLst>
                  <a:ext uri="{0D108BD9-81ED-4DB2-BD59-A6C34878D82A}">
                    <a16:rowId xmlns:a16="http://schemas.microsoft.com/office/drawing/2014/main" val="747571829"/>
                  </a:ext>
                </a:extLst>
              </a:tr>
              <a:tr h="461172">
                <a:tc>
                  <a:txBody>
                    <a:bodyPr/>
                    <a:lstStyle/>
                    <a:p>
                      <a:pPr algn="l" fontAlgn="b">
                        <a:buNone/>
                      </a:pPr>
                      <a:r>
                        <a:rPr lang="en-US" sz="1700" b="0" i="0" u="none" strike="noStrike" dirty="0">
                          <a:solidFill>
                            <a:srgbClr val="333333"/>
                          </a:solidFill>
                          <a:effectLst/>
                          <a:latin typeface="Helvetica Neue" panose="02000503000000020004" pitchFamily="2" charset="0"/>
                        </a:rPr>
                        <a:t>NEW_PATIENT</a:t>
                      </a:r>
                    </a:p>
                  </a:txBody>
                  <a:tcPr marL="9525" marR="9525" marT="9525" marB="0" anchor="ctr"/>
                </a:tc>
                <a:tc>
                  <a:txBody>
                    <a:bodyPr/>
                    <a:lstStyle/>
                    <a:p>
                      <a:pPr algn="l" fontAlgn="b">
                        <a:buNone/>
                      </a:pPr>
                      <a:r>
                        <a:rPr lang="en-US" sz="1700" b="0" i="0" u="none" strike="noStrike" dirty="0">
                          <a:solidFill>
                            <a:srgbClr val="333333"/>
                          </a:solidFill>
                          <a:effectLst/>
                          <a:latin typeface="Helvetica Neue" panose="02000503000000020004" pitchFamily="2" charset="0"/>
                        </a:rPr>
                        <a:t>LIFESTYLE_ONLY</a:t>
                      </a:r>
                    </a:p>
                  </a:txBody>
                  <a:tcPr marL="9525" marR="9525" marT="9525" marB="0" anchor="ctr"/>
                </a:tc>
                <a:tc>
                  <a:txBody>
                    <a:bodyPr/>
                    <a:lstStyle/>
                    <a:p>
                      <a:pPr algn="l" fontAlgn="b">
                        <a:buNone/>
                      </a:pPr>
                      <a:r>
                        <a:rPr lang="en-US" sz="1700" b="0" i="0" u="none" strike="noStrike">
                          <a:solidFill>
                            <a:srgbClr val="333333"/>
                          </a:solidFill>
                          <a:effectLst/>
                          <a:latin typeface="Helvetica Neue" panose="02000503000000020004" pitchFamily="2" charset="0"/>
                        </a:rPr>
                        <a:t>Stage 1 HTN + PREVENT &lt;7.5%</a:t>
                      </a:r>
                    </a:p>
                  </a:txBody>
                  <a:tcPr marL="9525" marR="9525" marT="9525" marB="0" anchor="ctr"/>
                </a:tc>
                <a:extLst>
                  <a:ext uri="{0D108BD9-81ED-4DB2-BD59-A6C34878D82A}">
                    <a16:rowId xmlns:a16="http://schemas.microsoft.com/office/drawing/2014/main" val="1019715300"/>
                  </a:ext>
                </a:extLst>
              </a:tr>
              <a:tr h="461172">
                <a:tc>
                  <a:txBody>
                    <a:bodyPr/>
                    <a:lstStyle/>
                    <a:p>
                      <a:pPr algn="l" fontAlgn="b">
                        <a:buNone/>
                      </a:pPr>
                      <a:r>
                        <a:rPr lang="en-US" sz="1700" b="0" i="0" u="none" strike="noStrike" dirty="0">
                          <a:solidFill>
                            <a:srgbClr val="333333"/>
                          </a:solidFill>
                          <a:effectLst/>
                          <a:latin typeface="Helvetica Neue" panose="02000503000000020004" pitchFamily="2" charset="0"/>
                        </a:rPr>
                        <a:t>NEW_PATIENT</a:t>
                      </a:r>
                    </a:p>
                  </a:txBody>
                  <a:tcPr marL="9525" marR="9525" marT="9525" marB="0" anchor="ctr"/>
                </a:tc>
                <a:tc>
                  <a:txBody>
                    <a:bodyPr/>
                    <a:lstStyle/>
                    <a:p>
                      <a:pPr algn="l" fontAlgn="b">
                        <a:buNone/>
                      </a:pPr>
                      <a:r>
                        <a:rPr lang="en-US" sz="1700" b="0" i="0" u="none" strike="noStrike">
                          <a:solidFill>
                            <a:srgbClr val="333333"/>
                          </a:solidFill>
                          <a:effectLst/>
                          <a:latin typeface="Helvetica Neue" panose="02000503000000020004" pitchFamily="2" charset="0"/>
                        </a:rPr>
                        <a:t>THERAPY_ADJUSTMENT</a:t>
                      </a:r>
                    </a:p>
                  </a:txBody>
                  <a:tcPr marL="9525" marR="9525" marT="9525" marB="0" anchor="ctr"/>
                </a:tc>
                <a:tc>
                  <a:txBody>
                    <a:bodyPr/>
                    <a:lstStyle/>
                    <a:p>
                      <a:pPr algn="l" fontAlgn="b">
                        <a:buNone/>
                      </a:pPr>
                      <a:r>
                        <a:rPr lang="en-US" sz="1700" b="0" i="0" u="none" strike="noStrike" dirty="0">
                          <a:solidFill>
                            <a:srgbClr val="333333"/>
                          </a:solidFill>
                          <a:effectLst/>
                          <a:latin typeface="Helvetica Neue" panose="02000503000000020004" pitchFamily="2" charset="0"/>
                        </a:rPr>
                        <a:t>Stage 2 HTN or PREVENT ≥7.5%</a:t>
                      </a:r>
                    </a:p>
                  </a:txBody>
                  <a:tcPr marL="9525" marR="9525" marT="9525" marB="0" anchor="ctr"/>
                </a:tc>
                <a:extLst>
                  <a:ext uri="{0D108BD9-81ED-4DB2-BD59-A6C34878D82A}">
                    <a16:rowId xmlns:a16="http://schemas.microsoft.com/office/drawing/2014/main" val="2808260769"/>
                  </a:ext>
                </a:extLst>
              </a:tr>
              <a:tr h="461172">
                <a:tc>
                  <a:txBody>
                    <a:bodyPr/>
                    <a:lstStyle/>
                    <a:p>
                      <a:pPr algn="l" fontAlgn="b">
                        <a:buNone/>
                      </a:pPr>
                      <a:r>
                        <a:rPr lang="en-US" sz="1700" b="0" i="0" u="none" strike="noStrike" dirty="0">
                          <a:solidFill>
                            <a:srgbClr val="333333"/>
                          </a:solidFill>
                          <a:effectLst/>
                          <a:latin typeface="Helvetica Neue" panose="02000503000000020004" pitchFamily="2" charset="0"/>
                        </a:rPr>
                        <a:t>NEW_PATIENT</a:t>
                      </a:r>
                    </a:p>
                  </a:txBody>
                  <a:tcPr marL="9525" marR="9525" marT="9525" marB="0" anchor="ctr"/>
                </a:tc>
                <a:tc>
                  <a:txBody>
                    <a:bodyPr/>
                    <a:lstStyle/>
                    <a:p>
                      <a:pPr algn="l" fontAlgn="b">
                        <a:buNone/>
                      </a:pPr>
                      <a:r>
                        <a:rPr lang="en-US" sz="1700" b="0" i="0" u="none" strike="noStrike" dirty="0">
                          <a:solidFill>
                            <a:srgbClr val="333333"/>
                          </a:solidFill>
                          <a:effectLst/>
                          <a:latin typeface="Helvetica Neue" panose="02000503000000020004" pitchFamily="2" charset="0"/>
                        </a:rPr>
                        <a:t>AT_GOAL</a:t>
                      </a:r>
                    </a:p>
                  </a:txBody>
                  <a:tcPr marL="9525" marR="9525" marT="9525" marB="0" anchor="ctr"/>
                </a:tc>
                <a:tc>
                  <a:txBody>
                    <a:bodyPr/>
                    <a:lstStyle/>
                    <a:p>
                      <a:pPr algn="l" fontAlgn="b">
                        <a:buNone/>
                      </a:pPr>
                      <a:r>
                        <a:rPr lang="en-US" sz="1700" b="0" i="0" u="none" strike="noStrike">
                          <a:solidFill>
                            <a:srgbClr val="333333"/>
                          </a:solidFill>
                          <a:effectLst/>
                          <a:latin typeface="Helvetica Neue" panose="02000503000000020004" pitchFamily="2" charset="0"/>
                        </a:rPr>
                        <a:t>Already on meds + BP at goal</a:t>
                      </a:r>
                    </a:p>
                  </a:txBody>
                  <a:tcPr marL="9525" marR="9525" marT="9525" marB="0" anchor="ctr"/>
                </a:tc>
                <a:extLst>
                  <a:ext uri="{0D108BD9-81ED-4DB2-BD59-A6C34878D82A}">
                    <a16:rowId xmlns:a16="http://schemas.microsoft.com/office/drawing/2014/main" val="2504860759"/>
                  </a:ext>
                </a:extLst>
              </a:tr>
              <a:tr h="461172">
                <a:tc>
                  <a:txBody>
                    <a:bodyPr/>
                    <a:lstStyle/>
                    <a:p>
                      <a:pPr algn="l" fontAlgn="b">
                        <a:buNone/>
                      </a:pPr>
                      <a:r>
                        <a:rPr lang="en-US" sz="1700" b="0" i="0" u="none" strike="noStrike">
                          <a:solidFill>
                            <a:srgbClr val="333333"/>
                          </a:solidFill>
                          <a:effectLst/>
                          <a:latin typeface="Helvetica Neue" panose="02000503000000020004" pitchFamily="2" charset="0"/>
                        </a:rPr>
                        <a:t>NEW_PATIENT</a:t>
                      </a:r>
                    </a:p>
                  </a:txBody>
                  <a:tcPr marL="9525" marR="9525" marT="9525" marB="0" anchor="ctr"/>
                </a:tc>
                <a:tc>
                  <a:txBody>
                    <a:bodyPr/>
                    <a:lstStyle/>
                    <a:p>
                      <a:pPr algn="l" fontAlgn="b">
                        <a:buNone/>
                      </a:pPr>
                      <a:r>
                        <a:rPr lang="en-US" sz="1700" b="0" i="0" u="none" strike="noStrike">
                          <a:solidFill>
                            <a:srgbClr val="333333"/>
                          </a:solidFill>
                          <a:effectLst/>
                          <a:latin typeface="Helvetica Neue" panose="02000503000000020004" pitchFamily="2" charset="0"/>
                        </a:rPr>
                        <a:t>CONFIRMING_UNCONTROL</a:t>
                      </a:r>
                    </a:p>
                  </a:txBody>
                  <a:tcPr marL="9525" marR="9525" marT="9525" marB="0" anchor="ctr"/>
                </a:tc>
                <a:tc>
                  <a:txBody>
                    <a:bodyPr/>
                    <a:lstStyle/>
                    <a:p>
                      <a:pPr algn="l" fontAlgn="b">
                        <a:buNone/>
                      </a:pPr>
                      <a:r>
                        <a:rPr lang="en-US" sz="1700" b="0" i="0" u="none" strike="noStrike">
                          <a:solidFill>
                            <a:srgbClr val="333333"/>
                          </a:solidFill>
                          <a:effectLst/>
                          <a:latin typeface="Helvetica Neue" panose="02000503000000020004" pitchFamily="2" charset="0"/>
                        </a:rPr>
                        <a:t>Already on meds + BP above goal</a:t>
                      </a:r>
                    </a:p>
                  </a:txBody>
                  <a:tcPr marL="9525" marR="9525" marT="9525" marB="0" anchor="ctr"/>
                </a:tc>
                <a:extLst>
                  <a:ext uri="{0D108BD9-81ED-4DB2-BD59-A6C34878D82A}">
                    <a16:rowId xmlns:a16="http://schemas.microsoft.com/office/drawing/2014/main" val="450477257"/>
                  </a:ext>
                </a:extLst>
              </a:tr>
              <a:tr h="618318">
                <a:tc>
                  <a:txBody>
                    <a:bodyPr/>
                    <a:lstStyle/>
                    <a:p>
                      <a:pPr algn="l" fontAlgn="b">
                        <a:buNone/>
                      </a:pPr>
                      <a:r>
                        <a:rPr lang="en-US" sz="1700" b="0" i="0" u="none" strike="noStrike">
                          <a:solidFill>
                            <a:srgbClr val="333333"/>
                          </a:solidFill>
                          <a:effectLst/>
                          <a:latin typeface="Helvetica Neue" panose="02000503000000020004" pitchFamily="2" charset="0"/>
                        </a:rPr>
                        <a:t>NEW_PATIENT</a:t>
                      </a:r>
                    </a:p>
                  </a:txBody>
                  <a:tcPr marL="9525" marR="9525" marT="9525" marB="0" anchor="ctr"/>
                </a:tc>
                <a:tc>
                  <a:txBody>
                    <a:bodyPr/>
                    <a:lstStyle/>
                    <a:p>
                      <a:pPr algn="l" fontAlgn="b">
                        <a:buNone/>
                      </a:pPr>
                      <a:r>
                        <a:rPr lang="en-US" sz="1700" b="0" i="0" u="none" strike="noStrike" dirty="0">
                          <a:solidFill>
                            <a:srgbClr val="333333"/>
                          </a:solidFill>
                          <a:effectLst/>
                          <a:latin typeface="Helvetica Neue" panose="02000503000000020004" pitchFamily="2" charset="0"/>
                        </a:rPr>
                        <a:t>CRISIS</a:t>
                      </a:r>
                    </a:p>
                  </a:txBody>
                  <a:tcPr marL="9525" marR="9525" marT="9525" marB="0" anchor="ctr"/>
                </a:tc>
                <a:tc>
                  <a:txBody>
                    <a:bodyPr/>
                    <a:lstStyle/>
                    <a:p>
                      <a:pPr algn="l" fontAlgn="b">
                        <a:buNone/>
                      </a:pPr>
                      <a:r>
                        <a:rPr lang="en-US" sz="1700" b="0" i="0" u="none" strike="noStrike">
                          <a:solidFill>
                            <a:srgbClr val="333333"/>
                          </a:solidFill>
                          <a:effectLst/>
                          <a:latin typeface="Helvetica Neue" panose="02000503000000020004" pitchFamily="2" charset="0"/>
                        </a:rPr>
                        <a:t>BP ≥180/120 or emergency symptoms</a:t>
                      </a:r>
                    </a:p>
                  </a:txBody>
                  <a:tcPr marL="9525" marR="9525" marT="9525" marB="0" anchor="ctr"/>
                </a:tc>
                <a:extLst>
                  <a:ext uri="{0D108BD9-81ED-4DB2-BD59-A6C34878D82A}">
                    <a16:rowId xmlns:a16="http://schemas.microsoft.com/office/drawing/2014/main" val="577815033"/>
                  </a:ext>
                </a:extLst>
              </a:tr>
              <a:tr h="461172">
                <a:tc>
                  <a:txBody>
                    <a:bodyPr/>
                    <a:lstStyle/>
                    <a:p>
                      <a:pPr algn="l" fontAlgn="b">
                        <a:buNone/>
                      </a:pPr>
                      <a:r>
                        <a:rPr lang="en-US" sz="1700" b="1" i="0" u="none" strike="noStrike">
                          <a:solidFill>
                            <a:srgbClr val="000000"/>
                          </a:solidFill>
                          <a:effectLst/>
                          <a:latin typeface="Helvetica Neue" panose="02000503000000020004" pitchFamily="2" charset="0"/>
                        </a:rPr>
                        <a:t>Stable states</a:t>
                      </a:r>
                    </a:p>
                  </a:txBody>
                  <a:tcPr marL="9525" marR="9525" marT="9525" marB="0" anchor="ctr"/>
                </a:tc>
                <a:tc>
                  <a:txBody>
                    <a:bodyPr/>
                    <a:lstStyle/>
                    <a:p>
                      <a:pPr algn="l" fontAlgn="b">
                        <a:buNone/>
                      </a:pPr>
                      <a:endParaRPr lang="en-US" sz="1700" b="0" i="0" u="none" strike="noStrike">
                        <a:solidFill>
                          <a:srgbClr val="333333"/>
                        </a:solidFill>
                        <a:effectLst/>
                        <a:latin typeface="Helvetica Neue" panose="02000503000000020004" pitchFamily="2" charset="0"/>
                      </a:endParaRPr>
                    </a:p>
                  </a:txBody>
                  <a:tcPr marL="9525" marR="9525" marT="9525" marB="0" anchor="ctr"/>
                </a:tc>
                <a:tc>
                  <a:txBody>
                    <a:bodyPr/>
                    <a:lstStyle/>
                    <a:p>
                      <a:pPr algn="l" fontAlgn="b">
                        <a:buNone/>
                      </a:pPr>
                      <a:endParaRPr lang="en-US" sz="1700" b="0" i="0" u="none" strike="noStrike">
                        <a:solidFill>
                          <a:srgbClr val="333333"/>
                        </a:solidFill>
                        <a:effectLst/>
                        <a:latin typeface="Helvetica Neue" panose="02000503000000020004" pitchFamily="2" charset="0"/>
                      </a:endParaRPr>
                    </a:p>
                  </a:txBody>
                  <a:tcPr marL="9525" marR="9525" marT="9525" marB="0" anchor="ctr"/>
                </a:tc>
                <a:extLst>
                  <a:ext uri="{0D108BD9-81ED-4DB2-BD59-A6C34878D82A}">
                    <a16:rowId xmlns:a16="http://schemas.microsoft.com/office/drawing/2014/main" val="3311133209"/>
                  </a:ext>
                </a:extLst>
              </a:tr>
              <a:tr h="461172">
                <a:tc>
                  <a:txBody>
                    <a:bodyPr/>
                    <a:lstStyle/>
                    <a:p>
                      <a:pPr algn="l" fontAlgn="b">
                        <a:buNone/>
                      </a:pPr>
                      <a:r>
                        <a:rPr lang="en-US" sz="1700" b="0" i="0" u="none" strike="noStrike">
                          <a:solidFill>
                            <a:srgbClr val="333333"/>
                          </a:solidFill>
                          <a:effectLst/>
                          <a:latin typeface="Helvetica Neue" panose="02000503000000020004" pitchFamily="2" charset="0"/>
                        </a:rPr>
                        <a:t>LIFESTYLE_ONLY</a:t>
                      </a:r>
                    </a:p>
                  </a:txBody>
                  <a:tcPr marL="9525" marR="9525" marT="9525" marB="0" anchor="ctr"/>
                </a:tc>
                <a:tc>
                  <a:txBody>
                    <a:bodyPr/>
                    <a:lstStyle/>
                    <a:p>
                      <a:pPr algn="l" fontAlgn="b">
                        <a:buNone/>
                      </a:pPr>
                      <a:r>
                        <a:rPr lang="en-US" sz="1700" b="0" i="0" u="none" strike="noStrike" dirty="0">
                          <a:solidFill>
                            <a:srgbClr val="333333"/>
                          </a:solidFill>
                          <a:effectLst/>
                          <a:latin typeface="Helvetica Neue" panose="02000503000000020004" pitchFamily="2" charset="0"/>
                        </a:rPr>
                        <a:t>THERAPY_ADJUSTMENT</a:t>
                      </a:r>
                    </a:p>
                  </a:txBody>
                  <a:tcPr marL="9525" marR="9525" marT="9525" marB="0" anchor="ctr"/>
                </a:tc>
                <a:tc>
                  <a:txBody>
                    <a:bodyPr/>
                    <a:lstStyle/>
                    <a:p>
                      <a:pPr algn="l" fontAlgn="b">
                        <a:buNone/>
                      </a:pPr>
                      <a:r>
                        <a:rPr lang="en-US" sz="1700" b="0" i="0" u="none" strike="noStrike">
                          <a:solidFill>
                            <a:srgbClr val="333333"/>
                          </a:solidFill>
                          <a:effectLst/>
                          <a:latin typeface="Helvetica Neue" panose="02000503000000020004" pitchFamily="2" charset="0"/>
                        </a:rPr>
                        <a:t>Still elevated after 3-6 months</a:t>
                      </a:r>
                    </a:p>
                  </a:txBody>
                  <a:tcPr marL="9525" marR="9525" marT="9525" marB="0" anchor="ctr"/>
                </a:tc>
                <a:extLst>
                  <a:ext uri="{0D108BD9-81ED-4DB2-BD59-A6C34878D82A}">
                    <a16:rowId xmlns:a16="http://schemas.microsoft.com/office/drawing/2014/main" val="207518329"/>
                  </a:ext>
                </a:extLst>
              </a:tr>
              <a:tr h="461172">
                <a:tc>
                  <a:txBody>
                    <a:bodyPr/>
                    <a:lstStyle/>
                    <a:p>
                      <a:pPr algn="l" fontAlgn="b">
                        <a:buNone/>
                      </a:pPr>
                      <a:r>
                        <a:rPr lang="en-US" sz="1700" b="0" i="0" u="none" strike="noStrike">
                          <a:solidFill>
                            <a:srgbClr val="333333"/>
                          </a:solidFill>
                          <a:effectLst/>
                          <a:latin typeface="Helvetica Neue" panose="02000503000000020004" pitchFamily="2" charset="0"/>
                        </a:rPr>
                        <a:t>LIFESTYLE_ONLY</a:t>
                      </a:r>
                    </a:p>
                  </a:txBody>
                  <a:tcPr marL="9525" marR="9525" marT="9525" marB="0" anchor="ctr"/>
                </a:tc>
                <a:tc>
                  <a:txBody>
                    <a:bodyPr/>
                    <a:lstStyle/>
                    <a:p>
                      <a:pPr algn="l" fontAlgn="b">
                        <a:buNone/>
                      </a:pPr>
                      <a:r>
                        <a:rPr lang="en-US" sz="1700" b="0" i="0" u="none" strike="noStrike">
                          <a:solidFill>
                            <a:srgbClr val="333333"/>
                          </a:solidFill>
                          <a:effectLst/>
                          <a:latin typeface="Helvetica Neue" panose="02000503000000020004" pitchFamily="2" charset="0"/>
                        </a:rPr>
                        <a:t>AT_GOAL</a:t>
                      </a:r>
                    </a:p>
                  </a:txBody>
                  <a:tcPr marL="9525" marR="9525" marT="9525" marB="0" anchor="ctr"/>
                </a:tc>
                <a:tc>
                  <a:txBody>
                    <a:bodyPr/>
                    <a:lstStyle/>
                    <a:p>
                      <a:pPr algn="l" fontAlgn="b">
                        <a:buNone/>
                      </a:pPr>
                      <a:r>
                        <a:rPr lang="en-US" sz="1700" b="0" i="0" u="none" strike="noStrike" dirty="0">
                          <a:solidFill>
                            <a:srgbClr val="333333"/>
                          </a:solidFill>
                          <a:effectLst/>
                          <a:latin typeface="Helvetica Neue" panose="02000503000000020004" pitchFamily="2" charset="0"/>
                        </a:rPr>
                        <a:t>Lifestyle modifications worked</a:t>
                      </a:r>
                    </a:p>
                  </a:txBody>
                  <a:tcPr marL="9525" marR="9525" marT="9525" marB="0" anchor="ctr"/>
                </a:tc>
                <a:extLst>
                  <a:ext uri="{0D108BD9-81ED-4DB2-BD59-A6C34878D82A}">
                    <a16:rowId xmlns:a16="http://schemas.microsoft.com/office/drawing/2014/main" val="3435475545"/>
                  </a:ext>
                </a:extLst>
              </a:tr>
              <a:tr h="461172">
                <a:tc>
                  <a:txBody>
                    <a:bodyPr/>
                    <a:lstStyle/>
                    <a:p>
                      <a:pPr algn="l" fontAlgn="b">
                        <a:buNone/>
                      </a:pPr>
                      <a:r>
                        <a:rPr lang="en-US" sz="1700" b="0" i="0" u="none" strike="noStrike">
                          <a:solidFill>
                            <a:srgbClr val="333333"/>
                          </a:solidFill>
                          <a:effectLst/>
                          <a:latin typeface="Helvetica Neue" panose="02000503000000020004" pitchFamily="2" charset="0"/>
                        </a:rPr>
                        <a:t>AT_GOAL</a:t>
                      </a:r>
                    </a:p>
                  </a:txBody>
                  <a:tcPr marL="9525" marR="9525" marT="9525" marB="0" anchor="ctr"/>
                </a:tc>
                <a:tc>
                  <a:txBody>
                    <a:bodyPr/>
                    <a:lstStyle/>
                    <a:p>
                      <a:pPr algn="l" fontAlgn="b">
                        <a:buNone/>
                      </a:pPr>
                      <a:r>
                        <a:rPr lang="en-US" sz="1700" b="0" i="0" u="none" strike="noStrike">
                          <a:solidFill>
                            <a:srgbClr val="333333"/>
                          </a:solidFill>
                          <a:effectLst/>
                          <a:latin typeface="Helvetica Neue" panose="02000503000000020004" pitchFamily="2" charset="0"/>
                        </a:rPr>
                        <a:t>CONFIRMING_UNCONTROL</a:t>
                      </a:r>
                    </a:p>
                  </a:txBody>
                  <a:tcPr marL="9525" marR="9525" marT="9525" marB="0" anchor="ctr"/>
                </a:tc>
                <a:tc>
                  <a:txBody>
                    <a:bodyPr/>
                    <a:lstStyle/>
                    <a:p>
                      <a:pPr algn="l" fontAlgn="b">
                        <a:buNone/>
                      </a:pPr>
                      <a:r>
                        <a:rPr lang="en-US" sz="1700" b="0" i="0" u="none" strike="noStrike" dirty="0">
                          <a:solidFill>
                            <a:srgbClr val="333333"/>
                          </a:solidFill>
                          <a:effectLst/>
                          <a:latin typeface="Helvetica Neue" panose="02000503000000020004" pitchFamily="2" charset="0"/>
                        </a:rPr>
                        <a:t>BP rises above goal</a:t>
                      </a:r>
                    </a:p>
                  </a:txBody>
                  <a:tcPr marL="9525" marR="9525" marT="9525" marB="0" anchor="ctr"/>
                </a:tc>
                <a:extLst>
                  <a:ext uri="{0D108BD9-81ED-4DB2-BD59-A6C34878D82A}">
                    <a16:rowId xmlns:a16="http://schemas.microsoft.com/office/drawing/2014/main" val="1023886185"/>
                  </a:ext>
                </a:extLst>
              </a:tr>
              <a:tr h="461172">
                <a:tc>
                  <a:txBody>
                    <a:bodyPr/>
                    <a:lstStyle/>
                    <a:p>
                      <a:pPr algn="l" fontAlgn="b">
                        <a:buNone/>
                      </a:pPr>
                      <a:r>
                        <a:rPr lang="en-US" sz="1700" b="0" i="0" u="none" strike="noStrike">
                          <a:solidFill>
                            <a:srgbClr val="333333"/>
                          </a:solidFill>
                          <a:effectLst/>
                          <a:latin typeface="Helvetica Neue" panose="02000503000000020004" pitchFamily="2" charset="0"/>
                        </a:rPr>
                        <a:t>AT_GOAL</a:t>
                      </a:r>
                    </a:p>
                  </a:txBody>
                  <a:tcPr marL="9525" marR="9525" marT="9525" marB="0" anchor="ctr"/>
                </a:tc>
                <a:tc>
                  <a:txBody>
                    <a:bodyPr/>
                    <a:lstStyle/>
                    <a:p>
                      <a:pPr algn="l" fontAlgn="b">
                        <a:buNone/>
                      </a:pPr>
                      <a:r>
                        <a:rPr lang="en-US" sz="1700" b="0" i="0" u="none" strike="noStrike">
                          <a:solidFill>
                            <a:srgbClr val="333333"/>
                          </a:solidFill>
                          <a:effectLst/>
                          <a:latin typeface="Helvetica Neue" panose="02000503000000020004" pitchFamily="2" charset="0"/>
                        </a:rPr>
                        <a:t>SIDE_EFFECT_EVAL</a:t>
                      </a:r>
                    </a:p>
                  </a:txBody>
                  <a:tcPr marL="9525" marR="9525" marT="9525" marB="0" anchor="ctr"/>
                </a:tc>
                <a:tc>
                  <a:txBody>
                    <a:bodyPr/>
                    <a:lstStyle/>
                    <a:p>
                      <a:pPr algn="l" fontAlgn="b">
                        <a:buNone/>
                      </a:pPr>
                      <a:r>
                        <a:rPr lang="en-US" sz="1700" b="0" i="0" u="none" strike="noStrike" dirty="0">
                          <a:solidFill>
                            <a:srgbClr val="333333"/>
                          </a:solidFill>
                          <a:effectLst/>
                          <a:latin typeface="Helvetica Neue" panose="02000503000000020004" pitchFamily="2" charset="0"/>
                        </a:rPr>
                        <a:t>Side effect reported</a:t>
                      </a:r>
                    </a:p>
                  </a:txBody>
                  <a:tcPr marL="9525" marR="9525" marT="9525" marB="0" anchor="ctr"/>
                </a:tc>
                <a:extLst>
                  <a:ext uri="{0D108BD9-81ED-4DB2-BD59-A6C34878D82A}">
                    <a16:rowId xmlns:a16="http://schemas.microsoft.com/office/drawing/2014/main" val="4124862526"/>
                  </a:ext>
                </a:extLst>
              </a:tr>
              <a:tr h="461172">
                <a:tc>
                  <a:txBody>
                    <a:bodyPr/>
                    <a:lstStyle/>
                    <a:p>
                      <a:pPr algn="l" fontAlgn="b">
                        <a:buNone/>
                      </a:pPr>
                      <a:r>
                        <a:rPr lang="en-US" sz="1700" b="0" i="0" u="none" strike="noStrike">
                          <a:solidFill>
                            <a:srgbClr val="333333"/>
                          </a:solidFill>
                          <a:effectLst/>
                          <a:latin typeface="Helvetica Neue" panose="02000503000000020004" pitchFamily="2" charset="0"/>
                        </a:rPr>
                        <a:t>AT_GOAL</a:t>
                      </a:r>
                    </a:p>
                  </a:txBody>
                  <a:tcPr marL="9525" marR="9525" marT="9525" marB="0" anchor="ctr"/>
                </a:tc>
                <a:tc>
                  <a:txBody>
                    <a:bodyPr/>
                    <a:lstStyle/>
                    <a:p>
                      <a:pPr algn="l" fontAlgn="b">
                        <a:buNone/>
                      </a:pPr>
                      <a:r>
                        <a:rPr lang="en-US" sz="1700" b="0" i="0" u="none" strike="noStrike">
                          <a:solidFill>
                            <a:srgbClr val="333333"/>
                          </a:solidFill>
                          <a:effectLst/>
                          <a:latin typeface="Helvetica Neue" panose="02000503000000020004" pitchFamily="2" charset="0"/>
                        </a:rPr>
                        <a:t>POSSIBLE_OVERTREATMENT</a:t>
                      </a:r>
                    </a:p>
                  </a:txBody>
                  <a:tcPr marL="9525" marR="9525" marT="9525" marB="0" anchor="ctr"/>
                </a:tc>
                <a:tc>
                  <a:txBody>
                    <a:bodyPr/>
                    <a:lstStyle/>
                    <a:p>
                      <a:pPr algn="l" fontAlgn="b">
                        <a:buNone/>
                      </a:pPr>
                      <a:r>
                        <a:rPr lang="en-US" sz="1700" b="0" i="0" u="none" strike="noStrike" dirty="0">
                          <a:solidFill>
                            <a:srgbClr val="333333"/>
                          </a:solidFill>
                          <a:effectLst/>
                          <a:latin typeface="Helvetica Neue" panose="02000503000000020004" pitchFamily="2" charset="0"/>
                        </a:rPr>
                        <a:t>SBP &lt;100 or hypotensive symptoms</a:t>
                      </a:r>
                    </a:p>
                  </a:txBody>
                  <a:tcPr marL="9525" marR="9525" marT="9525" marB="0" anchor="ctr"/>
                </a:tc>
                <a:extLst>
                  <a:ext uri="{0D108BD9-81ED-4DB2-BD59-A6C34878D82A}">
                    <a16:rowId xmlns:a16="http://schemas.microsoft.com/office/drawing/2014/main" val="3545411463"/>
                  </a:ext>
                </a:extLst>
              </a:tr>
            </a:tbl>
          </a:graphicData>
        </a:graphic>
      </p:graphicFrame>
      <p:sp>
        <p:nvSpPr>
          <p:cNvPr id="5" name="Title 1">
            <a:extLst>
              <a:ext uri="{FF2B5EF4-FFF2-40B4-BE49-F238E27FC236}">
                <a16:creationId xmlns:a16="http://schemas.microsoft.com/office/drawing/2014/main" id="{4DA3C26C-1A52-A83B-6A50-928DC045B84A}"/>
              </a:ext>
            </a:extLst>
          </p:cNvPr>
          <p:cNvSpPr>
            <a:spLocks noGrp="1"/>
          </p:cNvSpPr>
          <p:nvPr>
            <p:ph type="title"/>
          </p:nvPr>
        </p:nvSpPr>
        <p:spPr>
          <a:xfrm>
            <a:off x="215153" y="204263"/>
            <a:ext cx="11743765" cy="758263"/>
          </a:xfrm>
        </p:spPr>
        <p:txBody>
          <a:bodyPr>
            <a:normAutofit/>
          </a:bodyPr>
          <a:lstStyle/>
          <a:p>
            <a:r>
              <a:rPr lang="en-US" sz="3800" dirty="0"/>
              <a:t>State Machine – Transitions – new patient and stable states</a:t>
            </a:r>
          </a:p>
        </p:txBody>
      </p:sp>
    </p:spTree>
    <p:extLst>
      <p:ext uri="{BB962C8B-B14F-4D97-AF65-F5344CB8AC3E}">
        <p14:creationId xmlns:p14="http://schemas.microsoft.com/office/powerpoint/2010/main" val="3220282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302D096-EF6A-16AD-CA95-7B9B1193998E}"/>
              </a:ext>
            </a:extLst>
          </p:cNvPr>
          <p:cNvGraphicFramePr>
            <a:graphicFrameLocks noGrp="1"/>
          </p:cNvGraphicFramePr>
          <p:nvPr>
            <p:ph idx="1"/>
            <p:extLst>
              <p:ext uri="{D42A27DB-BD31-4B8C-83A1-F6EECF244321}">
                <p14:modId xmlns:p14="http://schemas.microsoft.com/office/powerpoint/2010/main" val="241576340"/>
              </p:ext>
            </p:extLst>
          </p:nvPr>
        </p:nvGraphicFramePr>
        <p:xfrm>
          <a:off x="224117" y="671419"/>
          <a:ext cx="11743764" cy="5933440"/>
        </p:xfrm>
        <a:graphic>
          <a:graphicData uri="http://schemas.openxmlformats.org/drawingml/2006/table">
            <a:tbl>
              <a:tblPr firstRow="1" bandRow="1">
                <a:tableStyleId>{5C22544A-7EE6-4342-B048-85BDC9FD1C3A}</a:tableStyleId>
              </a:tblPr>
              <a:tblGrid>
                <a:gridCol w="3914588">
                  <a:extLst>
                    <a:ext uri="{9D8B030D-6E8A-4147-A177-3AD203B41FA5}">
                      <a16:colId xmlns:a16="http://schemas.microsoft.com/office/drawing/2014/main" val="3500068991"/>
                    </a:ext>
                  </a:extLst>
                </a:gridCol>
                <a:gridCol w="3914588">
                  <a:extLst>
                    <a:ext uri="{9D8B030D-6E8A-4147-A177-3AD203B41FA5}">
                      <a16:colId xmlns:a16="http://schemas.microsoft.com/office/drawing/2014/main" val="2879732067"/>
                    </a:ext>
                  </a:extLst>
                </a:gridCol>
                <a:gridCol w="3914588">
                  <a:extLst>
                    <a:ext uri="{9D8B030D-6E8A-4147-A177-3AD203B41FA5}">
                      <a16:colId xmlns:a16="http://schemas.microsoft.com/office/drawing/2014/main" val="2153080950"/>
                    </a:ext>
                  </a:extLst>
                </a:gridCol>
              </a:tblGrid>
              <a:tr h="370840">
                <a:tc>
                  <a:txBody>
                    <a:bodyPr/>
                    <a:lstStyle/>
                    <a:p>
                      <a:pPr algn="l" fontAlgn="b">
                        <a:buNone/>
                      </a:pPr>
                      <a:r>
                        <a:rPr lang="en-US" sz="1750" b="1" i="0" u="none" strike="noStrike" dirty="0">
                          <a:solidFill>
                            <a:schemeClr val="bg1"/>
                          </a:solidFill>
                          <a:effectLst/>
                          <a:latin typeface="Helvetica Neue" panose="02000503000000020004" pitchFamily="2" charset="0"/>
                        </a:rPr>
                        <a:t>From</a:t>
                      </a:r>
                    </a:p>
                  </a:txBody>
                  <a:tcPr marL="9525" marR="9525" marT="9525" marB="0" anchor="ctr"/>
                </a:tc>
                <a:tc>
                  <a:txBody>
                    <a:bodyPr/>
                    <a:lstStyle/>
                    <a:p>
                      <a:pPr algn="l" fontAlgn="b">
                        <a:buNone/>
                      </a:pPr>
                      <a:r>
                        <a:rPr lang="en-US" sz="1750" b="1" i="0" u="none" strike="noStrike" dirty="0">
                          <a:solidFill>
                            <a:schemeClr val="bg1"/>
                          </a:solidFill>
                          <a:effectLst/>
                          <a:latin typeface="Helvetica Neue" panose="02000503000000020004" pitchFamily="2" charset="0"/>
                        </a:rPr>
                        <a:t>To</a:t>
                      </a:r>
                    </a:p>
                  </a:txBody>
                  <a:tcPr marL="9525" marR="9525" marT="9525" marB="0" anchor="ctr"/>
                </a:tc>
                <a:tc>
                  <a:txBody>
                    <a:bodyPr/>
                    <a:lstStyle/>
                    <a:p>
                      <a:pPr algn="l" fontAlgn="b">
                        <a:buNone/>
                      </a:pPr>
                      <a:r>
                        <a:rPr lang="en-US" sz="1750" b="1" i="0" u="none" strike="noStrike" dirty="0">
                          <a:solidFill>
                            <a:schemeClr val="bg1"/>
                          </a:solidFill>
                          <a:effectLst/>
                          <a:latin typeface="Helvetica Neue" panose="02000503000000020004" pitchFamily="2" charset="0"/>
                        </a:rPr>
                        <a:t>Trigger</a:t>
                      </a:r>
                    </a:p>
                  </a:txBody>
                  <a:tcPr marL="9525" marR="9525" marT="9525" marB="0" anchor="ctr"/>
                </a:tc>
                <a:extLst>
                  <a:ext uri="{0D108BD9-81ED-4DB2-BD59-A6C34878D82A}">
                    <a16:rowId xmlns:a16="http://schemas.microsoft.com/office/drawing/2014/main" val="747571829"/>
                  </a:ext>
                </a:extLst>
              </a:tr>
              <a:tr h="370840">
                <a:tc>
                  <a:txBody>
                    <a:bodyPr/>
                    <a:lstStyle/>
                    <a:p>
                      <a:pPr algn="l" fontAlgn="b">
                        <a:buNone/>
                      </a:pPr>
                      <a:r>
                        <a:rPr lang="en-US" sz="1750" b="1" i="0" u="none" strike="noStrike" dirty="0">
                          <a:solidFill>
                            <a:srgbClr val="000000"/>
                          </a:solidFill>
                          <a:effectLst/>
                          <a:latin typeface="Helvetica Neue" panose="02000503000000020004" pitchFamily="2" charset="0"/>
                        </a:rPr>
                        <a:t>Assessment</a:t>
                      </a:r>
                    </a:p>
                  </a:txBody>
                  <a:tcPr marL="9525" marR="9525" marT="9525" marB="0" anchor="ctr"/>
                </a:tc>
                <a:tc>
                  <a:txBody>
                    <a:bodyPr/>
                    <a:lstStyle/>
                    <a:p>
                      <a:pPr algn="l" fontAlgn="b">
                        <a:buNone/>
                      </a:pPr>
                      <a:endParaRPr lang="en-US" sz="1750" b="0" i="0" u="none" strike="noStrike">
                        <a:solidFill>
                          <a:srgbClr val="333333"/>
                        </a:solidFill>
                        <a:effectLst/>
                        <a:latin typeface="Helvetica Neue" panose="02000503000000020004" pitchFamily="2" charset="0"/>
                      </a:endParaRPr>
                    </a:p>
                  </a:txBody>
                  <a:tcPr marL="9525" marR="9525" marT="9525" marB="0" anchor="ctr"/>
                </a:tc>
                <a:tc>
                  <a:txBody>
                    <a:bodyPr/>
                    <a:lstStyle/>
                    <a:p>
                      <a:pPr algn="l" fontAlgn="b">
                        <a:buNone/>
                      </a:pPr>
                      <a:endParaRPr lang="en-US" sz="1750" b="0" i="0" u="none" strike="noStrike" dirty="0">
                        <a:solidFill>
                          <a:srgbClr val="333333"/>
                        </a:solidFill>
                        <a:effectLst/>
                        <a:latin typeface="Helvetica Neue" panose="02000503000000020004" pitchFamily="2" charset="0"/>
                      </a:endParaRPr>
                    </a:p>
                  </a:txBody>
                  <a:tcPr marL="9525" marR="9525" marT="9525" marB="0" anchor="ctr"/>
                </a:tc>
                <a:extLst>
                  <a:ext uri="{0D108BD9-81ED-4DB2-BD59-A6C34878D82A}">
                    <a16:rowId xmlns:a16="http://schemas.microsoft.com/office/drawing/2014/main" val="3106545192"/>
                  </a:ext>
                </a:extLst>
              </a:tr>
              <a:tr h="370840">
                <a:tc>
                  <a:txBody>
                    <a:bodyPr/>
                    <a:lstStyle/>
                    <a:p>
                      <a:pPr algn="l" fontAlgn="b">
                        <a:buNone/>
                      </a:pPr>
                      <a:r>
                        <a:rPr lang="en-US" sz="1750" b="0" i="0" u="none" strike="noStrike" dirty="0">
                          <a:solidFill>
                            <a:srgbClr val="333333"/>
                          </a:solidFill>
                          <a:effectLst/>
                          <a:latin typeface="Helvetica Neue" panose="02000503000000020004" pitchFamily="2" charset="0"/>
                        </a:rPr>
                        <a:t>CONFIRMING_UNCONTROL</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AT_GOAL</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White coat effect / transient spike</a:t>
                      </a:r>
                    </a:p>
                  </a:txBody>
                  <a:tcPr marL="9525" marR="9525" marT="9525" marB="0" anchor="ctr"/>
                </a:tc>
                <a:extLst>
                  <a:ext uri="{0D108BD9-81ED-4DB2-BD59-A6C34878D82A}">
                    <a16:rowId xmlns:a16="http://schemas.microsoft.com/office/drawing/2014/main" val="1506950631"/>
                  </a:ext>
                </a:extLst>
              </a:tr>
              <a:tr h="370840">
                <a:tc>
                  <a:txBody>
                    <a:bodyPr/>
                    <a:lstStyle/>
                    <a:p>
                      <a:pPr algn="l" fontAlgn="b">
                        <a:buNone/>
                      </a:pPr>
                      <a:r>
                        <a:rPr lang="en-US" sz="1750" b="0" i="0" u="none" strike="noStrike" dirty="0">
                          <a:solidFill>
                            <a:srgbClr val="333333"/>
                          </a:solidFill>
                          <a:effectLst/>
                          <a:latin typeface="Helvetica Neue" panose="02000503000000020004" pitchFamily="2" charset="0"/>
                        </a:rPr>
                        <a:t>CONFIRMING_UNCONTROL</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ADHERENCE_INTERVENTION</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Screener ≥8 or missed pharmacy fills</a:t>
                      </a:r>
                    </a:p>
                  </a:txBody>
                  <a:tcPr marL="9525" marR="9525" marT="9525" marB="0" anchor="ctr"/>
                </a:tc>
                <a:extLst>
                  <a:ext uri="{0D108BD9-81ED-4DB2-BD59-A6C34878D82A}">
                    <a16:rowId xmlns:a16="http://schemas.microsoft.com/office/drawing/2014/main" val="1386224830"/>
                  </a:ext>
                </a:extLst>
              </a:tr>
              <a:tr h="370840">
                <a:tc>
                  <a:txBody>
                    <a:bodyPr/>
                    <a:lstStyle/>
                    <a:p>
                      <a:pPr algn="l" fontAlgn="b">
                        <a:buNone/>
                      </a:pPr>
                      <a:r>
                        <a:rPr lang="en-US" sz="1750" b="0" i="0" u="none" strike="noStrike" dirty="0">
                          <a:solidFill>
                            <a:srgbClr val="333333"/>
                          </a:solidFill>
                          <a:effectLst/>
                          <a:latin typeface="Helvetica Neue" panose="02000503000000020004" pitchFamily="2" charset="0"/>
                        </a:rPr>
                        <a:t>CONFIRMING_UNCONTROL</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THERAPY_ADJUSTMENT</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Confirmed uncontrolled + adherent</a:t>
                      </a:r>
                    </a:p>
                  </a:txBody>
                  <a:tcPr marL="9525" marR="9525" marT="9525" marB="0" anchor="ctr"/>
                </a:tc>
                <a:extLst>
                  <a:ext uri="{0D108BD9-81ED-4DB2-BD59-A6C34878D82A}">
                    <a16:rowId xmlns:a16="http://schemas.microsoft.com/office/drawing/2014/main" val="1624813910"/>
                  </a:ext>
                </a:extLst>
              </a:tr>
              <a:tr h="370840">
                <a:tc>
                  <a:txBody>
                    <a:bodyPr/>
                    <a:lstStyle/>
                    <a:p>
                      <a:pPr algn="l" fontAlgn="b">
                        <a:buNone/>
                      </a:pPr>
                      <a:r>
                        <a:rPr lang="en-US" sz="1750" b="0" i="0" u="none" strike="noStrike" dirty="0">
                          <a:solidFill>
                            <a:srgbClr val="333333"/>
                          </a:solidFill>
                          <a:effectLst/>
                          <a:latin typeface="Helvetica Neue" panose="02000503000000020004" pitchFamily="2" charset="0"/>
                        </a:rPr>
                        <a:t>ADHERENCE_INTERVENTION</a:t>
                      </a:r>
                    </a:p>
                  </a:txBody>
                  <a:tcPr marL="9525" marR="9525" marT="9525" marB="0" anchor="ctr"/>
                </a:tc>
                <a:tc>
                  <a:txBody>
                    <a:bodyPr/>
                    <a:lstStyle/>
                    <a:p>
                      <a:pPr algn="l" fontAlgn="b">
                        <a:buNone/>
                      </a:pPr>
                      <a:r>
                        <a:rPr lang="en-US" sz="1750" b="0" i="0" u="none" strike="noStrike" dirty="0">
                          <a:solidFill>
                            <a:srgbClr val="333333"/>
                          </a:solidFill>
                          <a:effectLst/>
                          <a:latin typeface="Helvetica Neue" panose="02000503000000020004" pitchFamily="2" charset="0"/>
                        </a:rPr>
                        <a:t>AWAITING_DRUG_EFFECT</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Adherence improved</a:t>
                      </a:r>
                    </a:p>
                  </a:txBody>
                  <a:tcPr marL="9525" marR="9525" marT="9525" marB="0" anchor="ctr"/>
                </a:tc>
                <a:extLst>
                  <a:ext uri="{0D108BD9-81ED-4DB2-BD59-A6C34878D82A}">
                    <a16:rowId xmlns:a16="http://schemas.microsoft.com/office/drawing/2014/main" val="785048129"/>
                  </a:ext>
                </a:extLst>
              </a:tr>
              <a:tr h="370840">
                <a:tc>
                  <a:txBody>
                    <a:bodyPr/>
                    <a:lstStyle/>
                    <a:p>
                      <a:pPr algn="l" fontAlgn="b">
                        <a:buNone/>
                      </a:pPr>
                      <a:r>
                        <a:rPr lang="en-US" sz="1750" b="0" i="0" u="none" strike="noStrike" dirty="0">
                          <a:solidFill>
                            <a:srgbClr val="333333"/>
                          </a:solidFill>
                          <a:effectLst/>
                          <a:latin typeface="Helvetica Neue" panose="02000503000000020004" pitchFamily="2" charset="0"/>
                        </a:rPr>
                        <a:t>ADHERENCE_INTERVENTION</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CONFIRMING_UNCONTROL</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Improved but BP still above goal</a:t>
                      </a:r>
                    </a:p>
                  </a:txBody>
                  <a:tcPr marL="9525" marR="9525" marT="9525" marB="0" anchor="ctr"/>
                </a:tc>
                <a:extLst>
                  <a:ext uri="{0D108BD9-81ED-4DB2-BD59-A6C34878D82A}">
                    <a16:rowId xmlns:a16="http://schemas.microsoft.com/office/drawing/2014/main" val="4222055379"/>
                  </a:ext>
                </a:extLst>
              </a:tr>
              <a:tr h="370840">
                <a:tc>
                  <a:txBody>
                    <a:bodyPr/>
                    <a:lstStyle/>
                    <a:p>
                      <a:pPr algn="l" fontAlgn="b">
                        <a:buNone/>
                      </a:pPr>
                      <a:r>
                        <a:rPr lang="en-US" sz="1750" b="0" i="0" u="none" strike="noStrike">
                          <a:solidFill>
                            <a:srgbClr val="333333"/>
                          </a:solidFill>
                          <a:effectLst/>
                          <a:latin typeface="Helvetica Neue" panose="02000503000000020004" pitchFamily="2" charset="0"/>
                        </a:rPr>
                        <a:t>ADHERENCE_INTERVENTION</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PENDING_CLINICIAN</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Barriers need clinician involvement</a:t>
                      </a:r>
                    </a:p>
                  </a:txBody>
                  <a:tcPr marL="9525" marR="9525" marT="9525" marB="0" anchor="ctr"/>
                </a:tc>
                <a:extLst>
                  <a:ext uri="{0D108BD9-81ED-4DB2-BD59-A6C34878D82A}">
                    <a16:rowId xmlns:a16="http://schemas.microsoft.com/office/drawing/2014/main" val="3419885956"/>
                  </a:ext>
                </a:extLst>
              </a:tr>
              <a:tr h="370840">
                <a:tc>
                  <a:txBody>
                    <a:bodyPr/>
                    <a:lstStyle/>
                    <a:p>
                      <a:pPr algn="l" fontAlgn="b">
                        <a:buNone/>
                      </a:pPr>
                      <a:r>
                        <a:rPr lang="en-US" sz="1750" b="1" i="0" u="none" strike="noStrike" dirty="0">
                          <a:solidFill>
                            <a:srgbClr val="000000"/>
                          </a:solidFill>
                          <a:effectLst/>
                          <a:latin typeface="Helvetica Neue" panose="02000503000000020004" pitchFamily="2" charset="0"/>
                        </a:rPr>
                        <a:t>Active treatment</a:t>
                      </a:r>
                    </a:p>
                  </a:txBody>
                  <a:tcPr marL="9525" marR="9525" marT="9525" marB="0" anchor="ctr"/>
                </a:tc>
                <a:tc>
                  <a:txBody>
                    <a:bodyPr/>
                    <a:lstStyle/>
                    <a:p>
                      <a:pPr algn="l" fontAlgn="b">
                        <a:buNone/>
                      </a:pPr>
                      <a:endParaRPr lang="en-US" sz="1750" b="0" i="0" u="none" strike="noStrike">
                        <a:solidFill>
                          <a:srgbClr val="333333"/>
                        </a:solidFill>
                        <a:effectLst/>
                        <a:latin typeface="Helvetica Neue" panose="02000503000000020004" pitchFamily="2" charset="0"/>
                      </a:endParaRPr>
                    </a:p>
                  </a:txBody>
                  <a:tcPr marL="9525" marR="9525" marT="9525" marB="0" anchor="ctr"/>
                </a:tc>
                <a:tc>
                  <a:txBody>
                    <a:bodyPr/>
                    <a:lstStyle/>
                    <a:p>
                      <a:pPr algn="l" fontAlgn="b">
                        <a:buNone/>
                      </a:pPr>
                      <a:endParaRPr lang="en-US" sz="1750" b="0" i="0" u="none" strike="noStrike" dirty="0">
                        <a:solidFill>
                          <a:srgbClr val="333333"/>
                        </a:solidFill>
                        <a:effectLst/>
                        <a:latin typeface="Helvetica Neue" panose="02000503000000020004" pitchFamily="2" charset="0"/>
                      </a:endParaRPr>
                    </a:p>
                  </a:txBody>
                  <a:tcPr marL="9525" marR="9525" marT="9525" marB="0" anchor="ctr"/>
                </a:tc>
                <a:extLst>
                  <a:ext uri="{0D108BD9-81ED-4DB2-BD59-A6C34878D82A}">
                    <a16:rowId xmlns:a16="http://schemas.microsoft.com/office/drawing/2014/main" val="2368659247"/>
                  </a:ext>
                </a:extLst>
              </a:tr>
              <a:tr h="370840">
                <a:tc>
                  <a:txBody>
                    <a:bodyPr/>
                    <a:lstStyle/>
                    <a:p>
                      <a:pPr algn="l" fontAlgn="b">
                        <a:buNone/>
                      </a:pPr>
                      <a:r>
                        <a:rPr lang="en-US" sz="1750" b="0" i="0" u="none" strike="noStrike">
                          <a:solidFill>
                            <a:srgbClr val="333333"/>
                          </a:solidFill>
                          <a:effectLst/>
                          <a:latin typeface="Helvetica Neue" panose="02000503000000020004" pitchFamily="2" charset="0"/>
                        </a:rPr>
                        <a:t>THERAPY_ADJUSTMENT</a:t>
                      </a:r>
                    </a:p>
                  </a:txBody>
                  <a:tcPr marL="9525" marR="9525" marT="9525" marB="0" anchor="ctr"/>
                </a:tc>
                <a:tc>
                  <a:txBody>
                    <a:bodyPr/>
                    <a:lstStyle/>
                    <a:p>
                      <a:pPr algn="l" fontAlgn="b">
                        <a:buNone/>
                      </a:pPr>
                      <a:r>
                        <a:rPr lang="en-US" sz="1750" b="0" i="0" u="none" strike="noStrike" dirty="0">
                          <a:solidFill>
                            <a:srgbClr val="333333"/>
                          </a:solidFill>
                          <a:effectLst/>
                          <a:latin typeface="Helvetica Neue" panose="02000503000000020004" pitchFamily="2" charset="0"/>
                        </a:rPr>
                        <a:t>AWAITING_DRUG_EFFECT</a:t>
                      </a:r>
                    </a:p>
                  </a:txBody>
                  <a:tcPr marL="9525" marR="9525" marT="9525" marB="0" anchor="ctr"/>
                </a:tc>
                <a:tc>
                  <a:txBody>
                    <a:bodyPr/>
                    <a:lstStyle/>
                    <a:p>
                      <a:pPr algn="l" fontAlgn="b">
                        <a:buNone/>
                      </a:pPr>
                      <a:r>
                        <a:rPr lang="en-US" sz="1750" b="0" i="0" u="none" strike="noStrike" dirty="0">
                          <a:solidFill>
                            <a:srgbClr val="333333"/>
                          </a:solidFill>
                          <a:effectLst/>
                          <a:latin typeface="Helvetica Neue" panose="02000503000000020004" pitchFamily="2" charset="0"/>
                        </a:rPr>
                        <a:t>Recommendation executed</a:t>
                      </a:r>
                    </a:p>
                  </a:txBody>
                  <a:tcPr marL="9525" marR="9525" marT="9525" marB="0" anchor="ctr"/>
                </a:tc>
                <a:extLst>
                  <a:ext uri="{0D108BD9-81ED-4DB2-BD59-A6C34878D82A}">
                    <a16:rowId xmlns:a16="http://schemas.microsoft.com/office/drawing/2014/main" val="552920902"/>
                  </a:ext>
                </a:extLst>
              </a:tr>
              <a:tr h="370840">
                <a:tc>
                  <a:txBody>
                    <a:bodyPr/>
                    <a:lstStyle/>
                    <a:p>
                      <a:pPr algn="l" fontAlgn="b">
                        <a:buNone/>
                      </a:pPr>
                      <a:r>
                        <a:rPr lang="en-US" sz="1750" b="0" i="0" u="none" strike="noStrike">
                          <a:solidFill>
                            <a:srgbClr val="333333"/>
                          </a:solidFill>
                          <a:effectLst/>
                          <a:latin typeface="Helvetica Neue" panose="02000503000000020004" pitchFamily="2" charset="0"/>
                        </a:rPr>
                        <a:t>THERAPY_ADJUSTMENT</a:t>
                      </a:r>
                    </a:p>
                  </a:txBody>
                  <a:tcPr marL="9525" marR="9525" marT="9525" marB="0" anchor="ctr"/>
                </a:tc>
                <a:tc>
                  <a:txBody>
                    <a:bodyPr/>
                    <a:lstStyle/>
                    <a:p>
                      <a:pPr algn="l" fontAlgn="b">
                        <a:buNone/>
                      </a:pPr>
                      <a:r>
                        <a:rPr lang="en-US" sz="1750" b="0" i="0" u="none" strike="noStrike" dirty="0">
                          <a:solidFill>
                            <a:srgbClr val="333333"/>
                          </a:solidFill>
                          <a:effectLst/>
                          <a:latin typeface="Helvetica Neue" panose="02000503000000020004" pitchFamily="2" charset="0"/>
                        </a:rPr>
                        <a:t>PENDING_CLINICIAN</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Needs human judgment (Layer 3)</a:t>
                      </a:r>
                    </a:p>
                  </a:txBody>
                  <a:tcPr marL="9525" marR="9525" marT="9525" marB="0" anchor="ctr"/>
                </a:tc>
                <a:extLst>
                  <a:ext uri="{0D108BD9-81ED-4DB2-BD59-A6C34878D82A}">
                    <a16:rowId xmlns:a16="http://schemas.microsoft.com/office/drawing/2014/main" val="2614750554"/>
                  </a:ext>
                </a:extLst>
              </a:tr>
              <a:tr h="370840">
                <a:tc>
                  <a:txBody>
                    <a:bodyPr/>
                    <a:lstStyle/>
                    <a:p>
                      <a:pPr algn="l" fontAlgn="b">
                        <a:buNone/>
                      </a:pPr>
                      <a:r>
                        <a:rPr lang="en-US" sz="1750" b="0" i="0" u="none" strike="noStrike">
                          <a:solidFill>
                            <a:srgbClr val="333333"/>
                          </a:solidFill>
                          <a:effectLst/>
                          <a:latin typeface="Helvetica Neue" panose="02000503000000020004" pitchFamily="2" charset="0"/>
                        </a:rPr>
                        <a:t>THERAPY_ADJUSTMENT</a:t>
                      </a:r>
                    </a:p>
                  </a:txBody>
                  <a:tcPr marL="9525" marR="9525" marT="9525" marB="0" anchor="ctr"/>
                </a:tc>
                <a:tc>
                  <a:txBody>
                    <a:bodyPr/>
                    <a:lstStyle/>
                    <a:p>
                      <a:pPr algn="l" fontAlgn="b">
                        <a:buNone/>
                      </a:pPr>
                      <a:r>
                        <a:rPr lang="en-US" sz="1750" b="0" i="0" u="none" strike="noStrike" dirty="0">
                          <a:solidFill>
                            <a:srgbClr val="333333"/>
                          </a:solidFill>
                          <a:effectLst/>
                          <a:latin typeface="Helvetica Neue" panose="02000503000000020004" pitchFamily="2" charset="0"/>
                        </a:rPr>
                        <a:t>RESISTANT_HTN</a:t>
                      </a:r>
                    </a:p>
                  </a:txBody>
                  <a:tcPr marL="9525" marR="9525" marT="9525" marB="0" anchor="ctr"/>
                </a:tc>
                <a:tc>
                  <a:txBody>
                    <a:bodyPr/>
                    <a:lstStyle/>
                    <a:p>
                      <a:pPr algn="l" fontAlgn="b">
                        <a:buNone/>
                      </a:pPr>
                      <a:r>
                        <a:rPr lang="en-US" sz="1750" b="0" i="0" u="none" strike="noStrike" dirty="0">
                          <a:solidFill>
                            <a:srgbClr val="333333"/>
                          </a:solidFill>
                          <a:effectLst/>
                          <a:latin typeface="Helvetica Neue" panose="02000503000000020004" pitchFamily="2" charset="0"/>
                        </a:rPr>
                        <a:t>All 4 resistant HTN criteria confirmed</a:t>
                      </a:r>
                    </a:p>
                  </a:txBody>
                  <a:tcPr marL="9525" marR="9525" marT="9525" marB="0" anchor="ctr"/>
                </a:tc>
                <a:extLst>
                  <a:ext uri="{0D108BD9-81ED-4DB2-BD59-A6C34878D82A}">
                    <a16:rowId xmlns:a16="http://schemas.microsoft.com/office/drawing/2014/main" val="51808418"/>
                  </a:ext>
                </a:extLst>
              </a:tr>
              <a:tr h="370840">
                <a:tc>
                  <a:txBody>
                    <a:bodyPr/>
                    <a:lstStyle/>
                    <a:p>
                      <a:pPr algn="l" fontAlgn="b">
                        <a:buNone/>
                      </a:pPr>
                      <a:r>
                        <a:rPr lang="en-US" sz="1750" b="0" i="0" u="none" strike="noStrike">
                          <a:solidFill>
                            <a:srgbClr val="333333"/>
                          </a:solidFill>
                          <a:effectLst/>
                          <a:latin typeface="Helvetica Neue" panose="02000503000000020004" pitchFamily="2" charset="0"/>
                        </a:rPr>
                        <a:t>AWAITING_DRUG_EFFECT</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AT_GOAL</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BP at goal (≥2 weeks post-change)</a:t>
                      </a:r>
                    </a:p>
                  </a:txBody>
                  <a:tcPr marL="9525" marR="9525" marT="9525" marB="0" anchor="ctr"/>
                </a:tc>
                <a:extLst>
                  <a:ext uri="{0D108BD9-81ED-4DB2-BD59-A6C34878D82A}">
                    <a16:rowId xmlns:a16="http://schemas.microsoft.com/office/drawing/2014/main" val="4225253445"/>
                  </a:ext>
                </a:extLst>
              </a:tr>
              <a:tr h="370840">
                <a:tc>
                  <a:txBody>
                    <a:bodyPr/>
                    <a:lstStyle/>
                    <a:p>
                      <a:pPr algn="l" fontAlgn="b">
                        <a:buNone/>
                      </a:pPr>
                      <a:r>
                        <a:rPr lang="en-US" sz="1750" b="0" i="0" u="none" strike="noStrike">
                          <a:solidFill>
                            <a:srgbClr val="333333"/>
                          </a:solidFill>
                          <a:effectLst/>
                          <a:latin typeface="Helvetica Neue" panose="02000503000000020004" pitchFamily="2" charset="0"/>
                        </a:rPr>
                        <a:t>AWAITING_DRUG_EFFECT</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CONFIRMING_UNCONTROL</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Still above goal after drug effect period</a:t>
                      </a:r>
                    </a:p>
                  </a:txBody>
                  <a:tcPr marL="9525" marR="9525" marT="9525" marB="0" anchor="ctr"/>
                </a:tc>
                <a:extLst>
                  <a:ext uri="{0D108BD9-81ED-4DB2-BD59-A6C34878D82A}">
                    <a16:rowId xmlns:a16="http://schemas.microsoft.com/office/drawing/2014/main" val="2190276857"/>
                  </a:ext>
                </a:extLst>
              </a:tr>
              <a:tr h="370840">
                <a:tc>
                  <a:txBody>
                    <a:bodyPr/>
                    <a:lstStyle/>
                    <a:p>
                      <a:pPr algn="l" fontAlgn="b">
                        <a:buNone/>
                      </a:pPr>
                      <a:r>
                        <a:rPr lang="en-US" sz="1750" b="0" i="0" u="none" strike="noStrike">
                          <a:solidFill>
                            <a:srgbClr val="333333"/>
                          </a:solidFill>
                          <a:effectLst/>
                          <a:latin typeface="Helvetica Neue" panose="02000503000000020004" pitchFamily="2" charset="0"/>
                        </a:rPr>
                        <a:t>AWAITING_DRUG_EFFECT</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SIDE_EFFECT_EVAL</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Side effect reported</a:t>
                      </a:r>
                    </a:p>
                  </a:txBody>
                  <a:tcPr marL="9525" marR="9525" marT="9525" marB="0" anchor="ctr"/>
                </a:tc>
                <a:extLst>
                  <a:ext uri="{0D108BD9-81ED-4DB2-BD59-A6C34878D82A}">
                    <a16:rowId xmlns:a16="http://schemas.microsoft.com/office/drawing/2014/main" val="1279324661"/>
                  </a:ext>
                </a:extLst>
              </a:tr>
              <a:tr h="370840">
                <a:tc>
                  <a:txBody>
                    <a:bodyPr/>
                    <a:lstStyle/>
                    <a:p>
                      <a:pPr algn="l" fontAlgn="b">
                        <a:buNone/>
                      </a:pPr>
                      <a:r>
                        <a:rPr lang="en-US" sz="1750" b="0" i="0" u="none" strike="noStrike">
                          <a:solidFill>
                            <a:srgbClr val="333333"/>
                          </a:solidFill>
                          <a:effectLst/>
                          <a:latin typeface="Helvetica Neue" panose="02000503000000020004" pitchFamily="2" charset="0"/>
                        </a:rPr>
                        <a:t>AWAITING_DRUG_EFFECT</a:t>
                      </a:r>
                    </a:p>
                  </a:txBody>
                  <a:tcPr marL="9525" marR="9525" marT="9525" marB="0" anchor="ctr"/>
                </a:tc>
                <a:tc>
                  <a:txBody>
                    <a:bodyPr/>
                    <a:lstStyle/>
                    <a:p>
                      <a:pPr algn="l" fontAlgn="b">
                        <a:buNone/>
                      </a:pPr>
                      <a:r>
                        <a:rPr lang="en-US" sz="1750" b="0" i="0" u="none" strike="noStrike">
                          <a:solidFill>
                            <a:srgbClr val="333333"/>
                          </a:solidFill>
                          <a:effectLst/>
                          <a:latin typeface="Helvetica Neue" panose="02000503000000020004" pitchFamily="2" charset="0"/>
                        </a:rPr>
                        <a:t>POSSIBLE_OVERTREATMENT</a:t>
                      </a:r>
                    </a:p>
                  </a:txBody>
                  <a:tcPr marL="9525" marR="9525" marT="9525" marB="0" anchor="ctr"/>
                </a:tc>
                <a:tc>
                  <a:txBody>
                    <a:bodyPr/>
                    <a:lstStyle/>
                    <a:p>
                      <a:pPr algn="l" fontAlgn="b">
                        <a:buNone/>
                      </a:pPr>
                      <a:r>
                        <a:rPr lang="en-US" sz="1750" b="0" i="0" u="none" strike="noStrike" dirty="0">
                          <a:solidFill>
                            <a:srgbClr val="333333"/>
                          </a:solidFill>
                          <a:effectLst/>
                          <a:latin typeface="Helvetica Neue" panose="02000503000000020004" pitchFamily="2" charset="0"/>
                        </a:rPr>
                        <a:t>SBP &lt;100 or hypotensive symptoms</a:t>
                      </a:r>
                    </a:p>
                  </a:txBody>
                  <a:tcPr marL="9525" marR="9525" marT="9525" marB="0" anchor="ctr"/>
                </a:tc>
                <a:extLst>
                  <a:ext uri="{0D108BD9-81ED-4DB2-BD59-A6C34878D82A}">
                    <a16:rowId xmlns:a16="http://schemas.microsoft.com/office/drawing/2014/main" val="3365767216"/>
                  </a:ext>
                </a:extLst>
              </a:tr>
            </a:tbl>
          </a:graphicData>
        </a:graphic>
      </p:graphicFrame>
      <p:sp>
        <p:nvSpPr>
          <p:cNvPr id="5" name="Title 1">
            <a:extLst>
              <a:ext uri="{FF2B5EF4-FFF2-40B4-BE49-F238E27FC236}">
                <a16:creationId xmlns:a16="http://schemas.microsoft.com/office/drawing/2014/main" id="{970201FC-661E-D139-3121-48BE74027C17}"/>
              </a:ext>
            </a:extLst>
          </p:cNvPr>
          <p:cNvSpPr>
            <a:spLocks noGrp="1"/>
          </p:cNvSpPr>
          <p:nvPr>
            <p:ph type="title"/>
          </p:nvPr>
        </p:nvSpPr>
        <p:spPr>
          <a:xfrm>
            <a:off x="224117" y="126776"/>
            <a:ext cx="11743765" cy="656349"/>
          </a:xfrm>
        </p:spPr>
        <p:txBody>
          <a:bodyPr>
            <a:normAutofit/>
          </a:bodyPr>
          <a:lstStyle/>
          <a:p>
            <a:r>
              <a:rPr lang="en-US" sz="3800" dirty="0"/>
              <a:t>State Machine – Transitions – assessment and treatment</a:t>
            </a:r>
          </a:p>
        </p:txBody>
      </p:sp>
    </p:spTree>
    <p:extLst>
      <p:ext uri="{BB962C8B-B14F-4D97-AF65-F5344CB8AC3E}">
        <p14:creationId xmlns:p14="http://schemas.microsoft.com/office/powerpoint/2010/main" val="1270761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50298-12A7-412C-9046-0E49E570FD58}"/>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5D55B79-4CB8-67ED-DDC2-CF56DA72EC20}"/>
              </a:ext>
            </a:extLst>
          </p:cNvPr>
          <p:cNvGraphicFramePr>
            <a:graphicFrameLocks noGrp="1"/>
          </p:cNvGraphicFramePr>
          <p:nvPr>
            <p:ph idx="1"/>
            <p:extLst>
              <p:ext uri="{D42A27DB-BD31-4B8C-83A1-F6EECF244321}">
                <p14:modId xmlns:p14="http://schemas.microsoft.com/office/powerpoint/2010/main" val="1098538690"/>
              </p:ext>
            </p:extLst>
          </p:nvPr>
        </p:nvGraphicFramePr>
        <p:xfrm>
          <a:off x="224116" y="1173443"/>
          <a:ext cx="11743764" cy="5263220"/>
        </p:xfrm>
        <a:graphic>
          <a:graphicData uri="http://schemas.openxmlformats.org/drawingml/2006/table">
            <a:tbl>
              <a:tblPr firstRow="1" bandRow="1">
                <a:tableStyleId>{5C22544A-7EE6-4342-B048-85BDC9FD1C3A}</a:tableStyleId>
              </a:tblPr>
              <a:tblGrid>
                <a:gridCol w="3914588">
                  <a:extLst>
                    <a:ext uri="{9D8B030D-6E8A-4147-A177-3AD203B41FA5}">
                      <a16:colId xmlns:a16="http://schemas.microsoft.com/office/drawing/2014/main" val="3500068991"/>
                    </a:ext>
                  </a:extLst>
                </a:gridCol>
                <a:gridCol w="3914588">
                  <a:extLst>
                    <a:ext uri="{9D8B030D-6E8A-4147-A177-3AD203B41FA5}">
                      <a16:colId xmlns:a16="http://schemas.microsoft.com/office/drawing/2014/main" val="2879732067"/>
                    </a:ext>
                  </a:extLst>
                </a:gridCol>
                <a:gridCol w="3914588">
                  <a:extLst>
                    <a:ext uri="{9D8B030D-6E8A-4147-A177-3AD203B41FA5}">
                      <a16:colId xmlns:a16="http://schemas.microsoft.com/office/drawing/2014/main" val="2153080950"/>
                    </a:ext>
                  </a:extLst>
                </a:gridCol>
              </a:tblGrid>
              <a:tr h="464098">
                <a:tc>
                  <a:txBody>
                    <a:bodyPr/>
                    <a:lstStyle/>
                    <a:p>
                      <a:pPr algn="l" fontAlgn="b">
                        <a:buNone/>
                      </a:pPr>
                      <a:r>
                        <a:rPr lang="en-US" sz="1800" b="1" i="0" u="none" strike="noStrike" dirty="0">
                          <a:solidFill>
                            <a:schemeClr val="bg1"/>
                          </a:solidFill>
                          <a:effectLst/>
                          <a:latin typeface="Helvetica Neue" panose="02000503000000020004" pitchFamily="2" charset="0"/>
                        </a:rPr>
                        <a:t>From</a:t>
                      </a:r>
                    </a:p>
                  </a:txBody>
                  <a:tcPr marL="9525" marR="9525" marT="9525" marB="0" anchor="ctr"/>
                </a:tc>
                <a:tc>
                  <a:txBody>
                    <a:bodyPr/>
                    <a:lstStyle/>
                    <a:p>
                      <a:pPr algn="l" fontAlgn="b">
                        <a:buNone/>
                      </a:pPr>
                      <a:r>
                        <a:rPr lang="en-US" sz="1800" b="1" i="0" u="none" strike="noStrike" dirty="0">
                          <a:solidFill>
                            <a:schemeClr val="bg1"/>
                          </a:solidFill>
                          <a:effectLst/>
                          <a:latin typeface="Helvetica Neue" panose="02000503000000020004" pitchFamily="2" charset="0"/>
                        </a:rPr>
                        <a:t>To</a:t>
                      </a:r>
                    </a:p>
                  </a:txBody>
                  <a:tcPr marL="9525" marR="9525" marT="9525" marB="0" anchor="ctr"/>
                </a:tc>
                <a:tc>
                  <a:txBody>
                    <a:bodyPr/>
                    <a:lstStyle/>
                    <a:p>
                      <a:pPr algn="l" fontAlgn="b">
                        <a:buNone/>
                      </a:pPr>
                      <a:r>
                        <a:rPr lang="en-US" sz="1800" b="1" i="0" u="none" strike="noStrike" dirty="0">
                          <a:solidFill>
                            <a:schemeClr val="bg1"/>
                          </a:solidFill>
                          <a:effectLst/>
                          <a:latin typeface="Helvetica Neue" panose="02000503000000020004" pitchFamily="2" charset="0"/>
                        </a:rPr>
                        <a:t>Trigger</a:t>
                      </a:r>
                    </a:p>
                  </a:txBody>
                  <a:tcPr marL="9525" marR="9525" marT="9525" marB="0" anchor="ctr"/>
                </a:tc>
                <a:extLst>
                  <a:ext uri="{0D108BD9-81ED-4DB2-BD59-A6C34878D82A}">
                    <a16:rowId xmlns:a16="http://schemas.microsoft.com/office/drawing/2014/main" val="747571829"/>
                  </a:ext>
                </a:extLst>
              </a:tr>
              <a:tr h="464098">
                <a:tc>
                  <a:txBody>
                    <a:bodyPr/>
                    <a:lstStyle/>
                    <a:p>
                      <a:pPr algn="l" fontAlgn="b">
                        <a:buNone/>
                      </a:pPr>
                      <a:r>
                        <a:rPr lang="en-US" sz="1800" b="1" i="0" u="none" strike="noStrike">
                          <a:solidFill>
                            <a:srgbClr val="000000"/>
                          </a:solidFill>
                          <a:effectLst/>
                          <a:latin typeface="Helvetica Neue" panose="02000503000000020004" pitchFamily="2" charset="0"/>
                        </a:rPr>
                        <a:t>Safety monitoring</a:t>
                      </a:r>
                    </a:p>
                  </a:txBody>
                  <a:tcPr marL="9525" marR="9525" marT="9525" marB="0" anchor="ctr"/>
                </a:tc>
                <a:tc>
                  <a:txBody>
                    <a:bodyPr/>
                    <a:lstStyle/>
                    <a:p>
                      <a:pPr algn="l" fontAlgn="b">
                        <a:buNone/>
                      </a:pPr>
                      <a:endParaRPr lang="en-US" sz="1800" b="0" i="0" u="none" strike="noStrike">
                        <a:solidFill>
                          <a:srgbClr val="333333"/>
                        </a:solidFill>
                        <a:effectLst/>
                        <a:latin typeface="Helvetica Neue" panose="02000503000000020004" pitchFamily="2" charset="0"/>
                      </a:endParaRPr>
                    </a:p>
                  </a:txBody>
                  <a:tcPr marL="9525" marR="9525" marT="9525" marB="0" anchor="ctr"/>
                </a:tc>
                <a:tc>
                  <a:txBody>
                    <a:bodyPr/>
                    <a:lstStyle/>
                    <a:p>
                      <a:pPr algn="l" fontAlgn="b">
                        <a:buNone/>
                      </a:pPr>
                      <a:endParaRPr lang="en-US" sz="1800" b="0" i="0" u="none" strike="noStrike" dirty="0">
                        <a:solidFill>
                          <a:srgbClr val="333333"/>
                        </a:solidFill>
                        <a:effectLst/>
                        <a:latin typeface="Helvetica Neue" panose="02000503000000020004" pitchFamily="2" charset="0"/>
                      </a:endParaRPr>
                    </a:p>
                  </a:txBody>
                  <a:tcPr marL="9525" marR="9525" marT="9525" marB="0" anchor="ctr"/>
                </a:tc>
                <a:extLst>
                  <a:ext uri="{0D108BD9-81ED-4DB2-BD59-A6C34878D82A}">
                    <a16:rowId xmlns:a16="http://schemas.microsoft.com/office/drawing/2014/main" val="2542227712"/>
                  </a:ext>
                </a:extLst>
              </a:tr>
              <a:tr h="464098">
                <a:tc>
                  <a:txBody>
                    <a:bodyPr/>
                    <a:lstStyle/>
                    <a:p>
                      <a:pPr algn="l" fontAlgn="b">
                        <a:buNone/>
                      </a:pPr>
                      <a:r>
                        <a:rPr lang="en-US" sz="1800" b="0" i="0" u="none" strike="noStrike">
                          <a:solidFill>
                            <a:srgbClr val="333333"/>
                          </a:solidFill>
                          <a:effectLst/>
                          <a:latin typeface="Helvetica Neue" panose="02000503000000020004" pitchFamily="2" charset="0"/>
                        </a:rPr>
                        <a:t>SIDE_EFFECT_EVAL</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AWAITING_DRUG_EFFECT</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Drug changed / switched</a:t>
                      </a:r>
                    </a:p>
                  </a:txBody>
                  <a:tcPr marL="9525" marR="9525" marT="9525" marB="0" anchor="ctr"/>
                </a:tc>
                <a:extLst>
                  <a:ext uri="{0D108BD9-81ED-4DB2-BD59-A6C34878D82A}">
                    <a16:rowId xmlns:a16="http://schemas.microsoft.com/office/drawing/2014/main" val="951162528"/>
                  </a:ext>
                </a:extLst>
              </a:tr>
              <a:tr h="464098">
                <a:tc>
                  <a:txBody>
                    <a:bodyPr/>
                    <a:lstStyle/>
                    <a:p>
                      <a:pPr algn="l" fontAlgn="b">
                        <a:buNone/>
                      </a:pPr>
                      <a:r>
                        <a:rPr lang="en-US" sz="1800" b="0" i="0" u="none" strike="noStrike">
                          <a:solidFill>
                            <a:srgbClr val="333333"/>
                          </a:solidFill>
                          <a:effectLst/>
                          <a:latin typeface="Helvetica Neue" panose="02000503000000020004" pitchFamily="2" charset="0"/>
                        </a:rPr>
                        <a:t>SIDE_EFFECT_EVAL</a:t>
                      </a:r>
                    </a:p>
                  </a:txBody>
                  <a:tcPr marL="9525" marR="9525" marT="9525" marB="0" anchor="ctr"/>
                </a:tc>
                <a:tc>
                  <a:txBody>
                    <a:bodyPr/>
                    <a:lstStyle/>
                    <a:p>
                      <a:pPr algn="l" fontAlgn="b">
                        <a:buNone/>
                      </a:pPr>
                      <a:r>
                        <a:rPr lang="en-US" sz="1800" b="0" i="0" u="none" strike="noStrike" dirty="0">
                          <a:solidFill>
                            <a:srgbClr val="333333"/>
                          </a:solidFill>
                          <a:effectLst/>
                          <a:latin typeface="Helvetica Neue" panose="02000503000000020004" pitchFamily="2" charset="0"/>
                        </a:rPr>
                        <a:t>AT_GOAL</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Minor side effect, tolerable</a:t>
                      </a:r>
                    </a:p>
                  </a:txBody>
                  <a:tcPr marL="9525" marR="9525" marT="9525" marB="0" anchor="ctr"/>
                </a:tc>
                <a:extLst>
                  <a:ext uri="{0D108BD9-81ED-4DB2-BD59-A6C34878D82A}">
                    <a16:rowId xmlns:a16="http://schemas.microsoft.com/office/drawing/2014/main" val="1785534298"/>
                  </a:ext>
                </a:extLst>
              </a:tr>
              <a:tr h="464098">
                <a:tc>
                  <a:txBody>
                    <a:bodyPr/>
                    <a:lstStyle/>
                    <a:p>
                      <a:pPr algn="l" fontAlgn="b">
                        <a:buNone/>
                      </a:pPr>
                      <a:r>
                        <a:rPr lang="en-US" sz="1800" b="0" i="0" u="none" strike="noStrike" dirty="0">
                          <a:solidFill>
                            <a:srgbClr val="333333"/>
                          </a:solidFill>
                          <a:effectLst/>
                          <a:latin typeface="Helvetica Neue" panose="02000503000000020004" pitchFamily="2" charset="0"/>
                        </a:rPr>
                        <a:t>SIDE_EFFECT_EVAL</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PENDING_CLINICIAN</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Serious side effect</a:t>
                      </a:r>
                    </a:p>
                  </a:txBody>
                  <a:tcPr marL="9525" marR="9525" marT="9525" marB="0" anchor="ctr"/>
                </a:tc>
                <a:extLst>
                  <a:ext uri="{0D108BD9-81ED-4DB2-BD59-A6C34878D82A}">
                    <a16:rowId xmlns:a16="http://schemas.microsoft.com/office/drawing/2014/main" val="2656479594"/>
                  </a:ext>
                </a:extLst>
              </a:tr>
              <a:tr h="464098">
                <a:tc>
                  <a:txBody>
                    <a:bodyPr/>
                    <a:lstStyle/>
                    <a:p>
                      <a:pPr algn="l" fontAlgn="b">
                        <a:buNone/>
                      </a:pPr>
                      <a:r>
                        <a:rPr lang="en-US" sz="1800" b="0" i="0" u="none" strike="noStrike">
                          <a:solidFill>
                            <a:srgbClr val="333333"/>
                          </a:solidFill>
                          <a:effectLst/>
                          <a:latin typeface="Helvetica Neue" panose="02000503000000020004" pitchFamily="2" charset="0"/>
                        </a:rPr>
                        <a:t>POSSIBLE_OVERTREATMENT</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PENDING_CLINICIAN</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Confirmed overtreatment, downtitrate</a:t>
                      </a:r>
                    </a:p>
                  </a:txBody>
                  <a:tcPr marL="9525" marR="9525" marT="9525" marB="0" anchor="ctr"/>
                </a:tc>
                <a:extLst>
                  <a:ext uri="{0D108BD9-81ED-4DB2-BD59-A6C34878D82A}">
                    <a16:rowId xmlns:a16="http://schemas.microsoft.com/office/drawing/2014/main" val="4204784761"/>
                  </a:ext>
                </a:extLst>
              </a:tr>
              <a:tr h="464098">
                <a:tc>
                  <a:txBody>
                    <a:bodyPr/>
                    <a:lstStyle/>
                    <a:p>
                      <a:pPr algn="l" fontAlgn="b">
                        <a:buNone/>
                      </a:pPr>
                      <a:r>
                        <a:rPr lang="en-US" sz="1800" b="0" i="0" u="none" strike="noStrike">
                          <a:solidFill>
                            <a:srgbClr val="333333"/>
                          </a:solidFill>
                          <a:effectLst/>
                          <a:latin typeface="Helvetica Neue" panose="02000503000000020004" pitchFamily="2" charset="0"/>
                        </a:rPr>
                        <a:t>POSSIBLE_OVERTREATMENT</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AT_GOAL</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Transient, readings normalized</a:t>
                      </a:r>
                    </a:p>
                  </a:txBody>
                  <a:tcPr marL="9525" marR="9525" marT="9525" marB="0" anchor="ctr"/>
                </a:tc>
                <a:extLst>
                  <a:ext uri="{0D108BD9-81ED-4DB2-BD59-A6C34878D82A}">
                    <a16:rowId xmlns:a16="http://schemas.microsoft.com/office/drawing/2014/main" val="2948268918"/>
                  </a:ext>
                </a:extLst>
              </a:tr>
              <a:tr h="464098">
                <a:tc>
                  <a:txBody>
                    <a:bodyPr/>
                    <a:lstStyle/>
                    <a:p>
                      <a:pPr algn="l" fontAlgn="b">
                        <a:buNone/>
                      </a:pPr>
                      <a:r>
                        <a:rPr lang="en-US" sz="1800" b="1" i="0" u="none" strike="noStrike">
                          <a:solidFill>
                            <a:srgbClr val="000000"/>
                          </a:solidFill>
                          <a:effectLst/>
                          <a:latin typeface="Helvetica Neue" panose="02000503000000020004" pitchFamily="2" charset="0"/>
                        </a:rPr>
                        <a:t>Exception / escalation</a:t>
                      </a:r>
                    </a:p>
                  </a:txBody>
                  <a:tcPr marL="9525" marR="9525" marT="9525" marB="0" anchor="ctr"/>
                </a:tc>
                <a:tc>
                  <a:txBody>
                    <a:bodyPr/>
                    <a:lstStyle/>
                    <a:p>
                      <a:pPr algn="l" fontAlgn="b">
                        <a:buNone/>
                      </a:pPr>
                      <a:endParaRPr lang="en-US" sz="1800" b="0" i="0" u="none" strike="noStrike">
                        <a:solidFill>
                          <a:srgbClr val="333333"/>
                        </a:solidFill>
                        <a:effectLst/>
                        <a:latin typeface="Helvetica Neue" panose="02000503000000020004" pitchFamily="2" charset="0"/>
                      </a:endParaRPr>
                    </a:p>
                  </a:txBody>
                  <a:tcPr marL="9525" marR="9525" marT="9525" marB="0" anchor="ctr"/>
                </a:tc>
                <a:tc>
                  <a:txBody>
                    <a:bodyPr/>
                    <a:lstStyle/>
                    <a:p>
                      <a:pPr algn="l" fontAlgn="b">
                        <a:buNone/>
                      </a:pPr>
                      <a:endParaRPr lang="en-US" sz="1800" b="0" i="0" u="none" strike="noStrike">
                        <a:solidFill>
                          <a:srgbClr val="333333"/>
                        </a:solidFill>
                        <a:effectLst/>
                        <a:latin typeface="Helvetica Neue" panose="02000503000000020004" pitchFamily="2" charset="0"/>
                      </a:endParaRPr>
                    </a:p>
                  </a:txBody>
                  <a:tcPr marL="9525" marR="9525" marT="9525" marB="0" anchor="ctr"/>
                </a:tc>
                <a:extLst>
                  <a:ext uri="{0D108BD9-81ED-4DB2-BD59-A6C34878D82A}">
                    <a16:rowId xmlns:a16="http://schemas.microsoft.com/office/drawing/2014/main" val="1228524236"/>
                  </a:ext>
                </a:extLst>
              </a:tr>
              <a:tr h="464098">
                <a:tc>
                  <a:txBody>
                    <a:bodyPr/>
                    <a:lstStyle/>
                    <a:p>
                      <a:pPr algn="l" fontAlgn="b">
                        <a:buNone/>
                      </a:pPr>
                      <a:r>
                        <a:rPr lang="en-US" sz="1800" b="0" i="0" u="none" strike="noStrike">
                          <a:solidFill>
                            <a:srgbClr val="333333"/>
                          </a:solidFill>
                          <a:effectLst/>
                          <a:latin typeface="Helvetica Neue" panose="02000503000000020004" pitchFamily="2" charset="0"/>
                        </a:rPr>
                        <a:t>RESISTANT_HTN</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PENDING_CLINICIAN</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Specialist referral</a:t>
                      </a:r>
                    </a:p>
                  </a:txBody>
                  <a:tcPr marL="9525" marR="9525" marT="9525" marB="0" anchor="ctr"/>
                </a:tc>
                <a:extLst>
                  <a:ext uri="{0D108BD9-81ED-4DB2-BD59-A6C34878D82A}">
                    <a16:rowId xmlns:a16="http://schemas.microsoft.com/office/drawing/2014/main" val="4117857795"/>
                  </a:ext>
                </a:extLst>
              </a:tr>
              <a:tr h="464098">
                <a:tc>
                  <a:txBody>
                    <a:bodyPr/>
                    <a:lstStyle/>
                    <a:p>
                      <a:pPr algn="l" fontAlgn="b">
                        <a:buNone/>
                      </a:pPr>
                      <a:r>
                        <a:rPr lang="en-US" sz="1800" b="0" i="0" u="none" strike="noStrike">
                          <a:solidFill>
                            <a:srgbClr val="333333"/>
                          </a:solidFill>
                          <a:effectLst/>
                          <a:latin typeface="Helvetica Neue" panose="02000503000000020004" pitchFamily="2" charset="0"/>
                        </a:rPr>
                        <a:t>PENDING_CLINICIAN</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AWAITING_DRUG_EFFECT</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Clinician approved therapy change</a:t>
                      </a:r>
                    </a:p>
                  </a:txBody>
                  <a:tcPr marL="9525" marR="9525" marT="9525" marB="0" anchor="ctr"/>
                </a:tc>
                <a:extLst>
                  <a:ext uri="{0D108BD9-81ED-4DB2-BD59-A6C34878D82A}">
                    <a16:rowId xmlns:a16="http://schemas.microsoft.com/office/drawing/2014/main" val="2552652358"/>
                  </a:ext>
                </a:extLst>
              </a:tr>
              <a:tr h="622240">
                <a:tc>
                  <a:txBody>
                    <a:bodyPr/>
                    <a:lstStyle/>
                    <a:p>
                      <a:pPr algn="l" fontAlgn="b">
                        <a:buNone/>
                      </a:pPr>
                      <a:r>
                        <a:rPr lang="en-US" sz="1800" b="0" i="0" u="none" strike="noStrike">
                          <a:solidFill>
                            <a:srgbClr val="333333"/>
                          </a:solidFill>
                          <a:effectLst/>
                          <a:latin typeface="Helvetica Neue" panose="02000503000000020004" pitchFamily="2" charset="0"/>
                        </a:rPr>
                        <a:t>PENDING_CLINICIAN</a:t>
                      </a:r>
                    </a:p>
                  </a:txBody>
                  <a:tcPr marL="9525" marR="9525" marT="9525" marB="0" anchor="ctr"/>
                </a:tc>
                <a:tc>
                  <a:txBody>
                    <a:bodyPr/>
                    <a:lstStyle/>
                    <a:p>
                      <a:pPr algn="l" fontAlgn="b">
                        <a:buNone/>
                      </a:pPr>
                      <a:r>
                        <a:rPr lang="en-US" sz="1800" b="0" i="0" u="none" strike="noStrike">
                          <a:solidFill>
                            <a:srgbClr val="333333"/>
                          </a:solidFill>
                          <a:effectLst/>
                          <a:latin typeface="Helvetica Neue" panose="02000503000000020004" pitchFamily="2" charset="0"/>
                        </a:rPr>
                        <a:t>AT_GOAL</a:t>
                      </a:r>
                    </a:p>
                  </a:txBody>
                  <a:tcPr marL="9525" marR="9525" marT="9525" marB="0" anchor="ctr"/>
                </a:tc>
                <a:tc>
                  <a:txBody>
                    <a:bodyPr/>
                    <a:lstStyle/>
                    <a:p>
                      <a:pPr algn="l" fontAlgn="b">
                        <a:buNone/>
                      </a:pPr>
                      <a:r>
                        <a:rPr lang="en-US" sz="1800" b="0" i="0" u="none" strike="noStrike" dirty="0">
                          <a:solidFill>
                            <a:srgbClr val="333333"/>
                          </a:solidFill>
                          <a:effectLst/>
                          <a:latin typeface="Helvetica Neue" panose="02000503000000020004" pitchFamily="2" charset="0"/>
                        </a:rPr>
                        <a:t>Clinician determined no change needed</a:t>
                      </a:r>
                    </a:p>
                  </a:txBody>
                  <a:tcPr marL="9525" marR="9525" marT="9525" marB="0" anchor="ctr"/>
                </a:tc>
                <a:extLst>
                  <a:ext uri="{0D108BD9-81ED-4DB2-BD59-A6C34878D82A}">
                    <a16:rowId xmlns:a16="http://schemas.microsoft.com/office/drawing/2014/main" val="2815303261"/>
                  </a:ext>
                </a:extLst>
              </a:tr>
            </a:tbl>
          </a:graphicData>
        </a:graphic>
      </p:graphicFrame>
      <p:sp>
        <p:nvSpPr>
          <p:cNvPr id="2" name="Title 1">
            <a:extLst>
              <a:ext uri="{FF2B5EF4-FFF2-40B4-BE49-F238E27FC236}">
                <a16:creationId xmlns:a16="http://schemas.microsoft.com/office/drawing/2014/main" id="{ED95E29F-DE52-DEE6-A640-806A6D27B473}"/>
              </a:ext>
            </a:extLst>
          </p:cNvPr>
          <p:cNvSpPr>
            <a:spLocks noGrp="1"/>
          </p:cNvSpPr>
          <p:nvPr>
            <p:ph type="title"/>
          </p:nvPr>
        </p:nvSpPr>
        <p:spPr>
          <a:xfrm>
            <a:off x="224117" y="421337"/>
            <a:ext cx="11743765" cy="656349"/>
          </a:xfrm>
        </p:spPr>
        <p:txBody>
          <a:bodyPr>
            <a:normAutofit/>
          </a:bodyPr>
          <a:lstStyle/>
          <a:p>
            <a:r>
              <a:rPr lang="en-US" sz="3800" dirty="0"/>
              <a:t>State Machine – Transitions – safety and escalation</a:t>
            </a:r>
          </a:p>
        </p:txBody>
      </p:sp>
    </p:spTree>
    <p:extLst>
      <p:ext uri="{BB962C8B-B14F-4D97-AF65-F5344CB8AC3E}">
        <p14:creationId xmlns:p14="http://schemas.microsoft.com/office/powerpoint/2010/main" val="3064776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FD7AB-C9E0-A321-C8C5-2405E6CCCF40}"/>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F3BAA2B-FA0B-8DE3-AB86-5749B97F6248}"/>
              </a:ext>
            </a:extLst>
          </p:cNvPr>
          <p:cNvGraphicFramePr>
            <a:graphicFrameLocks noGrp="1"/>
          </p:cNvGraphicFramePr>
          <p:nvPr>
            <p:ph idx="1"/>
            <p:extLst>
              <p:ext uri="{D42A27DB-BD31-4B8C-83A1-F6EECF244321}">
                <p14:modId xmlns:p14="http://schemas.microsoft.com/office/powerpoint/2010/main" val="3930292326"/>
              </p:ext>
            </p:extLst>
          </p:nvPr>
        </p:nvGraphicFramePr>
        <p:xfrm>
          <a:off x="224118" y="835415"/>
          <a:ext cx="11743764" cy="5423858"/>
        </p:xfrm>
        <a:graphic>
          <a:graphicData uri="http://schemas.openxmlformats.org/drawingml/2006/table">
            <a:tbl>
              <a:tblPr firstRow="1" bandRow="1">
                <a:tableStyleId>{5C22544A-7EE6-4342-B048-85BDC9FD1C3A}</a:tableStyleId>
              </a:tblPr>
              <a:tblGrid>
                <a:gridCol w="3914588">
                  <a:extLst>
                    <a:ext uri="{9D8B030D-6E8A-4147-A177-3AD203B41FA5}">
                      <a16:colId xmlns:a16="http://schemas.microsoft.com/office/drawing/2014/main" val="3500068991"/>
                    </a:ext>
                  </a:extLst>
                </a:gridCol>
                <a:gridCol w="3914588">
                  <a:extLst>
                    <a:ext uri="{9D8B030D-6E8A-4147-A177-3AD203B41FA5}">
                      <a16:colId xmlns:a16="http://schemas.microsoft.com/office/drawing/2014/main" val="2879732067"/>
                    </a:ext>
                  </a:extLst>
                </a:gridCol>
                <a:gridCol w="3914588">
                  <a:extLst>
                    <a:ext uri="{9D8B030D-6E8A-4147-A177-3AD203B41FA5}">
                      <a16:colId xmlns:a16="http://schemas.microsoft.com/office/drawing/2014/main" val="2153080950"/>
                    </a:ext>
                  </a:extLst>
                </a:gridCol>
              </a:tblGrid>
              <a:tr h="518717">
                <a:tc>
                  <a:txBody>
                    <a:bodyPr/>
                    <a:lstStyle/>
                    <a:p>
                      <a:pPr algn="l" fontAlgn="b">
                        <a:buNone/>
                      </a:pPr>
                      <a:r>
                        <a:rPr lang="en-US" sz="1800" b="1" i="0" u="none" strike="noStrike" dirty="0">
                          <a:solidFill>
                            <a:schemeClr val="bg1"/>
                          </a:solidFill>
                          <a:effectLst/>
                          <a:latin typeface="Helvetica Neue" panose="02000503000000020004" pitchFamily="2" charset="0"/>
                        </a:rPr>
                        <a:t>From</a:t>
                      </a:r>
                    </a:p>
                  </a:txBody>
                  <a:tcPr marL="9525" marR="9525" marT="9525" marB="0" anchor="b"/>
                </a:tc>
                <a:tc>
                  <a:txBody>
                    <a:bodyPr/>
                    <a:lstStyle/>
                    <a:p>
                      <a:pPr algn="l" fontAlgn="b">
                        <a:buNone/>
                      </a:pPr>
                      <a:r>
                        <a:rPr lang="en-US" sz="1800" b="1" i="0" u="none" strike="noStrike" dirty="0">
                          <a:solidFill>
                            <a:schemeClr val="bg1"/>
                          </a:solidFill>
                          <a:effectLst/>
                          <a:latin typeface="Helvetica Neue" panose="02000503000000020004" pitchFamily="2" charset="0"/>
                        </a:rPr>
                        <a:t>To</a:t>
                      </a:r>
                    </a:p>
                  </a:txBody>
                  <a:tcPr marL="9525" marR="9525" marT="9525" marB="0" anchor="b"/>
                </a:tc>
                <a:tc>
                  <a:txBody>
                    <a:bodyPr/>
                    <a:lstStyle/>
                    <a:p>
                      <a:pPr algn="l" fontAlgn="b">
                        <a:buNone/>
                      </a:pPr>
                      <a:r>
                        <a:rPr lang="en-US" sz="1800" b="1" i="0" u="none" strike="noStrike" dirty="0">
                          <a:solidFill>
                            <a:schemeClr val="bg1"/>
                          </a:solidFill>
                          <a:effectLst/>
                          <a:latin typeface="Helvetica Neue" panose="02000503000000020004" pitchFamily="2" charset="0"/>
                        </a:rPr>
                        <a:t>Trigger</a:t>
                      </a:r>
                    </a:p>
                  </a:txBody>
                  <a:tcPr marL="9525" marR="9525" marT="9525" marB="0" anchor="b"/>
                </a:tc>
                <a:extLst>
                  <a:ext uri="{0D108BD9-81ED-4DB2-BD59-A6C34878D82A}">
                    <a16:rowId xmlns:a16="http://schemas.microsoft.com/office/drawing/2014/main" val="747571829"/>
                  </a:ext>
                </a:extLst>
              </a:tr>
              <a:tr h="518717">
                <a:tc>
                  <a:txBody>
                    <a:bodyPr/>
                    <a:lstStyle/>
                    <a:p>
                      <a:pPr algn="l" fontAlgn="b">
                        <a:buNone/>
                      </a:pPr>
                      <a:r>
                        <a:rPr lang="en-US" sz="1800" b="1" i="0" u="none" strike="noStrike">
                          <a:solidFill>
                            <a:srgbClr val="000000"/>
                          </a:solidFill>
                          <a:effectLst/>
                          <a:latin typeface="Helvetica Neue" panose="02000503000000020004" pitchFamily="2" charset="0"/>
                        </a:rPr>
                        <a:t>Crisis (universal — from any state)</a:t>
                      </a:r>
                    </a:p>
                  </a:txBody>
                  <a:tcPr marL="9525" marR="9525" marT="9525" marB="0" anchor="b"/>
                </a:tc>
                <a:tc>
                  <a:txBody>
                    <a:bodyPr/>
                    <a:lstStyle/>
                    <a:p>
                      <a:pPr algn="l" fontAlgn="b">
                        <a:buNone/>
                      </a:pPr>
                      <a:endParaRPr lang="en-US" sz="1800" b="0" i="0" u="none" strike="noStrike" dirty="0">
                        <a:solidFill>
                          <a:srgbClr val="333333"/>
                        </a:solidFill>
                        <a:effectLst/>
                        <a:latin typeface="Helvetica Neue" panose="02000503000000020004" pitchFamily="2" charset="0"/>
                      </a:endParaRPr>
                    </a:p>
                  </a:txBody>
                  <a:tcPr marL="9525" marR="9525" marT="9525" marB="0" anchor="b"/>
                </a:tc>
                <a:tc>
                  <a:txBody>
                    <a:bodyPr/>
                    <a:lstStyle/>
                    <a:p>
                      <a:pPr algn="l" fontAlgn="b">
                        <a:buNone/>
                      </a:pPr>
                      <a:endParaRPr lang="en-US" sz="1800" b="0" i="0" u="none" strike="noStrike" dirty="0">
                        <a:solidFill>
                          <a:srgbClr val="333333"/>
                        </a:solidFill>
                        <a:effectLst/>
                        <a:latin typeface="Helvetica Neue" panose="02000503000000020004" pitchFamily="2" charset="0"/>
                      </a:endParaRPr>
                    </a:p>
                  </a:txBody>
                  <a:tcPr marL="9525" marR="9525" marT="9525" marB="0" anchor="b"/>
                </a:tc>
                <a:extLst>
                  <a:ext uri="{0D108BD9-81ED-4DB2-BD59-A6C34878D82A}">
                    <a16:rowId xmlns:a16="http://schemas.microsoft.com/office/drawing/2014/main" val="4186259232"/>
                  </a:ext>
                </a:extLst>
              </a:tr>
              <a:tr h="518717">
                <a:tc>
                  <a:txBody>
                    <a:bodyPr/>
                    <a:lstStyle/>
                    <a:p>
                      <a:pPr algn="l" fontAlgn="b">
                        <a:buNone/>
                      </a:pPr>
                      <a:r>
                        <a:rPr lang="en-US" sz="1800" b="0" i="0" u="none" strike="noStrike">
                          <a:solidFill>
                            <a:srgbClr val="333333"/>
                          </a:solidFill>
                          <a:effectLst/>
                          <a:latin typeface="Helvetica Neue" panose="02000503000000020004" pitchFamily="2" charset="0"/>
                        </a:rPr>
                        <a:t>LIFESTYLE_ONLY</a:t>
                      </a:r>
                    </a:p>
                  </a:txBody>
                  <a:tcPr marL="9525" marR="9525" marT="9525" marB="0" anchor="b"/>
                </a:tc>
                <a:tc>
                  <a:txBody>
                    <a:bodyPr/>
                    <a:lstStyle/>
                    <a:p>
                      <a:pPr algn="l" fontAlgn="b">
                        <a:buNone/>
                      </a:pPr>
                      <a:r>
                        <a:rPr lang="en-US" sz="1800" b="0" i="0" u="none" strike="noStrike">
                          <a:solidFill>
                            <a:srgbClr val="333333"/>
                          </a:solidFill>
                          <a:effectLst/>
                          <a:latin typeface="Helvetica Neue" panose="02000503000000020004" pitchFamily="2" charset="0"/>
                        </a:rPr>
                        <a:t>CRISIS</a:t>
                      </a:r>
                    </a:p>
                  </a:txBody>
                  <a:tcPr marL="9525" marR="9525" marT="9525" marB="0" anchor="b"/>
                </a:tc>
                <a:tc>
                  <a:txBody>
                    <a:bodyPr/>
                    <a:lstStyle/>
                    <a:p>
                      <a:pPr algn="l" fontAlgn="b">
                        <a:buNone/>
                      </a:pPr>
                      <a:r>
                        <a:rPr lang="en-US" sz="1800" b="0" i="0" u="none" strike="noStrike">
                          <a:solidFill>
                            <a:srgbClr val="333333"/>
                          </a:solidFill>
                          <a:effectLst/>
                          <a:latin typeface="Helvetica Neue" panose="02000503000000020004" pitchFamily="2" charset="0"/>
                        </a:rPr>
                        <a:t>BP ≥180/120 or emergency symptoms</a:t>
                      </a:r>
                    </a:p>
                  </a:txBody>
                  <a:tcPr marL="9525" marR="9525" marT="9525" marB="0" anchor="b"/>
                </a:tc>
                <a:extLst>
                  <a:ext uri="{0D108BD9-81ED-4DB2-BD59-A6C34878D82A}">
                    <a16:rowId xmlns:a16="http://schemas.microsoft.com/office/drawing/2014/main" val="4224457797"/>
                  </a:ext>
                </a:extLst>
              </a:tr>
              <a:tr h="518717">
                <a:tc>
                  <a:txBody>
                    <a:bodyPr/>
                    <a:lstStyle/>
                    <a:p>
                      <a:pPr algn="l" fontAlgn="b">
                        <a:buNone/>
                      </a:pPr>
                      <a:r>
                        <a:rPr lang="en-US" sz="1800" b="0" i="0" u="none" strike="noStrike">
                          <a:solidFill>
                            <a:srgbClr val="333333"/>
                          </a:solidFill>
                          <a:effectLst/>
                          <a:latin typeface="Helvetica Neue" panose="02000503000000020004" pitchFamily="2" charset="0"/>
                        </a:rPr>
                        <a:t>AT_GOAL</a:t>
                      </a:r>
                    </a:p>
                  </a:txBody>
                  <a:tcPr marL="9525" marR="9525" marT="9525" marB="0" anchor="b"/>
                </a:tc>
                <a:tc>
                  <a:txBody>
                    <a:bodyPr/>
                    <a:lstStyle/>
                    <a:p>
                      <a:pPr algn="l" fontAlgn="b">
                        <a:buNone/>
                      </a:pPr>
                      <a:r>
                        <a:rPr lang="en-US" sz="1800" b="0" i="0" u="none" strike="noStrike">
                          <a:solidFill>
                            <a:srgbClr val="333333"/>
                          </a:solidFill>
                          <a:effectLst/>
                          <a:latin typeface="Helvetica Neue" panose="02000503000000020004" pitchFamily="2" charset="0"/>
                        </a:rPr>
                        <a:t>CRISIS</a:t>
                      </a:r>
                    </a:p>
                  </a:txBody>
                  <a:tcPr marL="9525" marR="9525" marT="9525" marB="0" anchor="b"/>
                </a:tc>
                <a:tc>
                  <a:txBody>
                    <a:bodyPr/>
                    <a:lstStyle/>
                    <a:p>
                      <a:pPr algn="l" fontAlgn="b">
                        <a:buNone/>
                      </a:pPr>
                      <a:r>
                        <a:rPr lang="en-US" sz="1800" b="0" i="0" u="none" strike="noStrike">
                          <a:solidFill>
                            <a:srgbClr val="333333"/>
                          </a:solidFill>
                          <a:effectLst/>
                          <a:latin typeface="Helvetica Neue" panose="02000503000000020004" pitchFamily="2" charset="0"/>
                        </a:rPr>
                        <a:t>BP ≥180/120 or emergency symptoms</a:t>
                      </a:r>
                    </a:p>
                  </a:txBody>
                  <a:tcPr marL="9525" marR="9525" marT="9525" marB="0" anchor="b"/>
                </a:tc>
                <a:extLst>
                  <a:ext uri="{0D108BD9-81ED-4DB2-BD59-A6C34878D82A}">
                    <a16:rowId xmlns:a16="http://schemas.microsoft.com/office/drawing/2014/main" val="2543460513"/>
                  </a:ext>
                </a:extLst>
              </a:tr>
              <a:tr h="518717">
                <a:tc>
                  <a:txBody>
                    <a:bodyPr/>
                    <a:lstStyle/>
                    <a:p>
                      <a:pPr algn="l" fontAlgn="b">
                        <a:buNone/>
                      </a:pPr>
                      <a:r>
                        <a:rPr lang="en-US" sz="1800" b="0" i="0" u="none" strike="noStrike">
                          <a:solidFill>
                            <a:srgbClr val="333333"/>
                          </a:solidFill>
                          <a:effectLst/>
                          <a:latin typeface="Helvetica Neue" panose="02000503000000020004" pitchFamily="2" charset="0"/>
                        </a:rPr>
                        <a:t>CONFIRMING_UNCONTROL</a:t>
                      </a:r>
                    </a:p>
                  </a:txBody>
                  <a:tcPr marL="9525" marR="9525" marT="9525" marB="0" anchor="b"/>
                </a:tc>
                <a:tc>
                  <a:txBody>
                    <a:bodyPr/>
                    <a:lstStyle/>
                    <a:p>
                      <a:pPr algn="l" fontAlgn="b">
                        <a:buNone/>
                      </a:pPr>
                      <a:r>
                        <a:rPr lang="en-US" sz="1800" b="0" i="0" u="none" strike="noStrike">
                          <a:solidFill>
                            <a:srgbClr val="333333"/>
                          </a:solidFill>
                          <a:effectLst/>
                          <a:latin typeface="Helvetica Neue" panose="02000503000000020004" pitchFamily="2" charset="0"/>
                        </a:rPr>
                        <a:t>CRISIS</a:t>
                      </a:r>
                    </a:p>
                  </a:txBody>
                  <a:tcPr marL="9525" marR="9525" marT="9525" marB="0" anchor="b"/>
                </a:tc>
                <a:tc>
                  <a:txBody>
                    <a:bodyPr/>
                    <a:lstStyle/>
                    <a:p>
                      <a:pPr algn="l" fontAlgn="b">
                        <a:buNone/>
                      </a:pPr>
                      <a:r>
                        <a:rPr lang="en-US" sz="1800" b="0" i="0" u="none" strike="noStrike" dirty="0">
                          <a:solidFill>
                            <a:srgbClr val="333333"/>
                          </a:solidFill>
                          <a:effectLst/>
                          <a:latin typeface="Helvetica Neue" panose="02000503000000020004" pitchFamily="2" charset="0"/>
                        </a:rPr>
                        <a:t>BP ≥180/120 or emergency symptoms</a:t>
                      </a:r>
                    </a:p>
                  </a:txBody>
                  <a:tcPr marL="9525" marR="9525" marT="9525" marB="0" anchor="b"/>
                </a:tc>
                <a:extLst>
                  <a:ext uri="{0D108BD9-81ED-4DB2-BD59-A6C34878D82A}">
                    <a16:rowId xmlns:a16="http://schemas.microsoft.com/office/drawing/2014/main" val="1650057967"/>
                  </a:ext>
                </a:extLst>
              </a:tr>
              <a:tr h="518717">
                <a:tc>
                  <a:txBody>
                    <a:bodyPr/>
                    <a:lstStyle/>
                    <a:p>
                      <a:pPr algn="l" fontAlgn="b">
                        <a:buNone/>
                      </a:pPr>
                      <a:r>
                        <a:rPr lang="en-US" sz="1800" b="0" i="0" u="none" strike="noStrike">
                          <a:solidFill>
                            <a:srgbClr val="333333"/>
                          </a:solidFill>
                          <a:effectLst/>
                          <a:latin typeface="Helvetica Neue" panose="02000503000000020004" pitchFamily="2" charset="0"/>
                        </a:rPr>
                        <a:t>AWAITING_DRUG_EFFECT</a:t>
                      </a:r>
                    </a:p>
                  </a:txBody>
                  <a:tcPr marL="9525" marR="9525" marT="9525" marB="0" anchor="b"/>
                </a:tc>
                <a:tc>
                  <a:txBody>
                    <a:bodyPr/>
                    <a:lstStyle/>
                    <a:p>
                      <a:pPr algn="l" fontAlgn="b">
                        <a:buNone/>
                      </a:pPr>
                      <a:r>
                        <a:rPr lang="en-US" sz="1800" b="0" i="0" u="none" strike="noStrike">
                          <a:solidFill>
                            <a:srgbClr val="333333"/>
                          </a:solidFill>
                          <a:effectLst/>
                          <a:latin typeface="Helvetica Neue" panose="02000503000000020004" pitchFamily="2" charset="0"/>
                        </a:rPr>
                        <a:t>CRISIS</a:t>
                      </a:r>
                    </a:p>
                  </a:txBody>
                  <a:tcPr marL="9525" marR="9525" marT="9525" marB="0" anchor="b"/>
                </a:tc>
                <a:tc>
                  <a:txBody>
                    <a:bodyPr/>
                    <a:lstStyle/>
                    <a:p>
                      <a:pPr algn="l" fontAlgn="b">
                        <a:buNone/>
                      </a:pPr>
                      <a:r>
                        <a:rPr lang="en-US" sz="1800" b="0" i="0" u="none" strike="noStrike">
                          <a:solidFill>
                            <a:srgbClr val="333333"/>
                          </a:solidFill>
                          <a:effectLst/>
                          <a:latin typeface="Helvetica Neue" panose="02000503000000020004" pitchFamily="2" charset="0"/>
                        </a:rPr>
                        <a:t>BP ≥180/120 or emergency symptoms</a:t>
                      </a:r>
                    </a:p>
                  </a:txBody>
                  <a:tcPr marL="9525" marR="9525" marT="9525" marB="0" anchor="b"/>
                </a:tc>
                <a:extLst>
                  <a:ext uri="{0D108BD9-81ED-4DB2-BD59-A6C34878D82A}">
                    <a16:rowId xmlns:a16="http://schemas.microsoft.com/office/drawing/2014/main" val="1818383617"/>
                  </a:ext>
                </a:extLst>
              </a:tr>
              <a:tr h="518717">
                <a:tc>
                  <a:txBody>
                    <a:bodyPr/>
                    <a:lstStyle/>
                    <a:p>
                      <a:pPr algn="l" fontAlgn="b">
                        <a:buNone/>
                      </a:pPr>
                      <a:r>
                        <a:rPr lang="en-US" sz="1800" b="0" i="0" u="none" strike="noStrike">
                          <a:solidFill>
                            <a:srgbClr val="333333"/>
                          </a:solidFill>
                          <a:effectLst/>
                          <a:latin typeface="Helvetica Neue" panose="02000503000000020004" pitchFamily="2" charset="0"/>
                        </a:rPr>
                        <a:t>SIDE_EFFECT_EVAL</a:t>
                      </a:r>
                    </a:p>
                  </a:txBody>
                  <a:tcPr marL="9525" marR="9525" marT="9525" marB="0" anchor="b"/>
                </a:tc>
                <a:tc>
                  <a:txBody>
                    <a:bodyPr/>
                    <a:lstStyle/>
                    <a:p>
                      <a:pPr algn="l" fontAlgn="b">
                        <a:buNone/>
                      </a:pPr>
                      <a:r>
                        <a:rPr lang="en-US" sz="1800" b="0" i="0" u="none" strike="noStrike">
                          <a:solidFill>
                            <a:srgbClr val="333333"/>
                          </a:solidFill>
                          <a:effectLst/>
                          <a:latin typeface="Helvetica Neue" panose="02000503000000020004" pitchFamily="2" charset="0"/>
                        </a:rPr>
                        <a:t>CRISIS</a:t>
                      </a:r>
                    </a:p>
                  </a:txBody>
                  <a:tcPr marL="9525" marR="9525" marT="9525" marB="0" anchor="b"/>
                </a:tc>
                <a:tc>
                  <a:txBody>
                    <a:bodyPr/>
                    <a:lstStyle/>
                    <a:p>
                      <a:pPr algn="l" fontAlgn="b">
                        <a:buNone/>
                      </a:pPr>
                      <a:r>
                        <a:rPr lang="en-US" sz="1800" b="0" i="0" u="none" strike="noStrike">
                          <a:solidFill>
                            <a:srgbClr val="333333"/>
                          </a:solidFill>
                          <a:effectLst/>
                          <a:latin typeface="Helvetica Neue" panose="02000503000000020004" pitchFamily="2" charset="0"/>
                        </a:rPr>
                        <a:t>Dangerous reaction</a:t>
                      </a:r>
                    </a:p>
                  </a:txBody>
                  <a:tcPr marL="9525" marR="9525" marT="9525" marB="0" anchor="b"/>
                </a:tc>
                <a:extLst>
                  <a:ext uri="{0D108BD9-81ED-4DB2-BD59-A6C34878D82A}">
                    <a16:rowId xmlns:a16="http://schemas.microsoft.com/office/drawing/2014/main" val="3293205300"/>
                  </a:ext>
                </a:extLst>
              </a:tr>
              <a:tr h="518717">
                <a:tc>
                  <a:txBody>
                    <a:bodyPr/>
                    <a:lstStyle/>
                    <a:p>
                      <a:pPr algn="l" fontAlgn="b">
                        <a:buNone/>
                      </a:pPr>
                      <a:r>
                        <a:rPr lang="en-US" sz="1800" b="0" i="0" u="none" strike="noStrike">
                          <a:solidFill>
                            <a:srgbClr val="333333"/>
                          </a:solidFill>
                          <a:effectLst/>
                          <a:latin typeface="Helvetica Neue" panose="02000503000000020004" pitchFamily="2" charset="0"/>
                        </a:rPr>
                        <a:t>POSSIBLE_OVERTREATMENT</a:t>
                      </a:r>
                    </a:p>
                  </a:txBody>
                  <a:tcPr marL="9525" marR="9525" marT="9525" marB="0" anchor="b"/>
                </a:tc>
                <a:tc>
                  <a:txBody>
                    <a:bodyPr/>
                    <a:lstStyle/>
                    <a:p>
                      <a:pPr algn="l" fontAlgn="b">
                        <a:buNone/>
                      </a:pPr>
                      <a:r>
                        <a:rPr lang="en-US" sz="1800" b="0" i="0" u="none" strike="noStrike">
                          <a:solidFill>
                            <a:srgbClr val="333333"/>
                          </a:solidFill>
                          <a:effectLst/>
                          <a:latin typeface="Helvetica Neue" panose="02000503000000020004" pitchFamily="2" charset="0"/>
                        </a:rPr>
                        <a:t>CRISIS</a:t>
                      </a:r>
                    </a:p>
                  </a:txBody>
                  <a:tcPr marL="9525" marR="9525" marT="9525" marB="0" anchor="b"/>
                </a:tc>
                <a:tc>
                  <a:txBody>
                    <a:bodyPr/>
                    <a:lstStyle/>
                    <a:p>
                      <a:pPr algn="l" fontAlgn="b">
                        <a:buNone/>
                      </a:pPr>
                      <a:r>
                        <a:rPr lang="en-US" sz="1800" b="0" i="0" u="none" strike="noStrike">
                          <a:solidFill>
                            <a:srgbClr val="333333"/>
                          </a:solidFill>
                          <a:effectLst/>
                          <a:latin typeface="Helvetica Neue" panose="02000503000000020004" pitchFamily="2" charset="0"/>
                        </a:rPr>
                        <a:t>Syncope or fall</a:t>
                      </a:r>
                    </a:p>
                  </a:txBody>
                  <a:tcPr marL="9525" marR="9525" marT="9525" marB="0" anchor="b"/>
                </a:tc>
                <a:extLst>
                  <a:ext uri="{0D108BD9-81ED-4DB2-BD59-A6C34878D82A}">
                    <a16:rowId xmlns:a16="http://schemas.microsoft.com/office/drawing/2014/main" val="1036525442"/>
                  </a:ext>
                </a:extLst>
              </a:tr>
              <a:tr h="518717">
                <a:tc>
                  <a:txBody>
                    <a:bodyPr/>
                    <a:lstStyle/>
                    <a:p>
                      <a:pPr algn="l" fontAlgn="b">
                        <a:buNone/>
                      </a:pPr>
                      <a:r>
                        <a:rPr lang="en-US" sz="1800" b="0" i="0" u="none" strike="noStrike" dirty="0">
                          <a:solidFill>
                            <a:srgbClr val="333333"/>
                          </a:solidFill>
                          <a:effectLst/>
                          <a:latin typeface="Helvetica Neue" panose="02000503000000020004" pitchFamily="2" charset="0"/>
                        </a:rPr>
                        <a:t>CRISIS</a:t>
                      </a:r>
                    </a:p>
                  </a:txBody>
                  <a:tcPr marL="9525" marR="9525" marT="9525" marB="0" anchor="b"/>
                </a:tc>
                <a:tc>
                  <a:txBody>
                    <a:bodyPr/>
                    <a:lstStyle/>
                    <a:p>
                      <a:pPr algn="l" fontAlgn="b">
                        <a:buNone/>
                      </a:pPr>
                      <a:r>
                        <a:rPr lang="en-US" sz="1800" b="0" i="0" u="none" strike="noStrike" dirty="0">
                          <a:solidFill>
                            <a:srgbClr val="333333"/>
                          </a:solidFill>
                          <a:effectLst/>
                          <a:latin typeface="Helvetica Neue" panose="02000503000000020004" pitchFamily="2" charset="0"/>
                        </a:rPr>
                        <a:t>PENDING_CLINICIAN</a:t>
                      </a:r>
                    </a:p>
                  </a:txBody>
                  <a:tcPr marL="9525" marR="9525" marT="9525" marB="0" anchor="b"/>
                </a:tc>
                <a:tc>
                  <a:txBody>
                    <a:bodyPr/>
                    <a:lstStyle/>
                    <a:p>
                      <a:pPr algn="l" fontAlgn="b">
                        <a:buNone/>
                      </a:pPr>
                      <a:r>
                        <a:rPr lang="en-US" sz="1800" b="0" i="0" u="none" strike="noStrike">
                          <a:solidFill>
                            <a:srgbClr val="333333"/>
                          </a:solidFill>
                          <a:effectLst/>
                          <a:latin typeface="Helvetica Neue" panose="02000503000000020004" pitchFamily="2" charset="0"/>
                        </a:rPr>
                        <a:t>Always (immediate clinician notification)</a:t>
                      </a:r>
                    </a:p>
                  </a:txBody>
                  <a:tcPr marL="9525" marR="9525" marT="9525" marB="0" anchor="b"/>
                </a:tc>
                <a:extLst>
                  <a:ext uri="{0D108BD9-81ED-4DB2-BD59-A6C34878D82A}">
                    <a16:rowId xmlns:a16="http://schemas.microsoft.com/office/drawing/2014/main" val="4156941486"/>
                  </a:ext>
                </a:extLst>
              </a:tr>
              <a:tr h="518717">
                <a:tc>
                  <a:txBody>
                    <a:bodyPr/>
                    <a:lstStyle/>
                    <a:p>
                      <a:pPr algn="l" fontAlgn="b">
                        <a:buNone/>
                      </a:pPr>
                      <a:r>
                        <a:rPr lang="en-US" sz="1800" b="0" i="0" u="none" strike="noStrike">
                          <a:solidFill>
                            <a:srgbClr val="333333"/>
                          </a:solidFill>
                          <a:effectLst/>
                          <a:latin typeface="Helvetica Neue" panose="02000503000000020004" pitchFamily="2" charset="0"/>
                        </a:rPr>
                        <a:t>CRISIS</a:t>
                      </a:r>
                    </a:p>
                  </a:txBody>
                  <a:tcPr marL="9525" marR="9525" marT="9525" marB="0" anchor="b"/>
                </a:tc>
                <a:tc>
                  <a:txBody>
                    <a:bodyPr/>
                    <a:lstStyle/>
                    <a:p>
                      <a:pPr algn="l" fontAlgn="b">
                        <a:buNone/>
                      </a:pPr>
                      <a:r>
                        <a:rPr lang="en-US" sz="1800" b="0" i="0" u="none" strike="noStrike" dirty="0">
                          <a:solidFill>
                            <a:srgbClr val="333333"/>
                          </a:solidFill>
                          <a:effectLst/>
                          <a:latin typeface="Helvetica Neue" panose="02000503000000020004" pitchFamily="2" charset="0"/>
                        </a:rPr>
                        <a:t>AWAITING_DRUG_EFFECT</a:t>
                      </a:r>
                    </a:p>
                  </a:txBody>
                  <a:tcPr marL="9525" marR="9525" marT="9525" marB="0" anchor="b"/>
                </a:tc>
                <a:tc>
                  <a:txBody>
                    <a:bodyPr/>
                    <a:lstStyle/>
                    <a:p>
                      <a:pPr algn="l" fontAlgn="b">
                        <a:buNone/>
                      </a:pPr>
                      <a:r>
                        <a:rPr lang="en-US" sz="1800" b="0" i="0" u="none" strike="noStrike" dirty="0">
                          <a:solidFill>
                            <a:srgbClr val="333333"/>
                          </a:solidFill>
                          <a:effectLst/>
                          <a:latin typeface="Helvetica Neue" panose="02000503000000020004" pitchFamily="2" charset="0"/>
                        </a:rPr>
                        <a:t>After crisis resolved + therapy adjusted</a:t>
                      </a:r>
                    </a:p>
                  </a:txBody>
                  <a:tcPr marL="9525" marR="9525" marT="9525" marB="0" anchor="b"/>
                </a:tc>
                <a:extLst>
                  <a:ext uri="{0D108BD9-81ED-4DB2-BD59-A6C34878D82A}">
                    <a16:rowId xmlns:a16="http://schemas.microsoft.com/office/drawing/2014/main" val="1248251143"/>
                  </a:ext>
                </a:extLst>
              </a:tr>
            </a:tbl>
          </a:graphicData>
        </a:graphic>
      </p:graphicFrame>
      <p:sp>
        <p:nvSpPr>
          <p:cNvPr id="2" name="Title 1">
            <a:extLst>
              <a:ext uri="{FF2B5EF4-FFF2-40B4-BE49-F238E27FC236}">
                <a16:creationId xmlns:a16="http://schemas.microsoft.com/office/drawing/2014/main" id="{E65AFA35-2BFC-89D2-F3A6-A9E143084681}"/>
              </a:ext>
            </a:extLst>
          </p:cNvPr>
          <p:cNvSpPr>
            <a:spLocks noGrp="1"/>
          </p:cNvSpPr>
          <p:nvPr>
            <p:ph type="title"/>
          </p:nvPr>
        </p:nvSpPr>
        <p:spPr>
          <a:xfrm>
            <a:off x="224117" y="126776"/>
            <a:ext cx="11743765" cy="656349"/>
          </a:xfrm>
        </p:spPr>
        <p:txBody>
          <a:bodyPr>
            <a:normAutofit/>
          </a:bodyPr>
          <a:lstStyle/>
          <a:p>
            <a:r>
              <a:rPr lang="en-US" sz="3800" dirty="0"/>
              <a:t>State Machine – Transitions – crisis</a:t>
            </a:r>
          </a:p>
        </p:txBody>
      </p:sp>
    </p:spTree>
    <p:extLst>
      <p:ext uri="{BB962C8B-B14F-4D97-AF65-F5344CB8AC3E}">
        <p14:creationId xmlns:p14="http://schemas.microsoft.com/office/powerpoint/2010/main" val="416327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diagram of a company&#10;&#10;AI-generated content may be incorrect.">
            <a:extLst>
              <a:ext uri="{FF2B5EF4-FFF2-40B4-BE49-F238E27FC236}">
                <a16:creationId xmlns:a16="http://schemas.microsoft.com/office/drawing/2014/main" id="{00A2E12C-4B70-1CE5-55DF-F7B3F967EAE1}"/>
              </a:ext>
            </a:extLst>
          </p:cNvPr>
          <p:cNvPicPr>
            <a:picLocks noChangeAspect="1"/>
          </p:cNvPicPr>
          <p:nvPr/>
        </p:nvPicPr>
        <p:blipFill>
          <a:blip r:embed="rId3"/>
          <a:stretch>
            <a:fillRect/>
          </a:stretch>
        </p:blipFill>
        <p:spPr>
          <a:xfrm>
            <a:off x="1" y="0"/>
            <a:ext cx="12192000" cy="6858000"/>
          </a:xfrm>
          <a:prstGeom prst="rect">
            <a:avLst/>
          </a:prstGeom>
        </p:spPr>
      </p:pic>
    </p:spTree>
    <p:extLst>
      <p:ext uri="{BB962C8B-B14F-4D97-AF65-F5344CB8AC3E}">
        <p14:creationId xmlns:p14="http://schemas.microsoft.com/office/powerpoint/2010/main" val="3653041154"/>
      </p:ext>
    </p:extLst>
  </p:cSld>
  <p:clrMapOvr>
    <a:masterClrMapping/>
  </p:clrMapOvr>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4FFE6B9-5B2F-48B1-9BEC-7BCF67D2F763}"/>
              </a:ext>
            </a:extLst>
          </p:cNvPr>
          <p:cNvSpPr>
            <a:spLocks xmlns:a="http://schemas.openxmlformats.org/drawingml/2006/main" noGrp="1"/>
          </p:cNvSpPr>
          <p:nvPr/>
        </p:nvSpPr>
        <p:spPr>
          <a:xfrm xmlns:a="http://schemas.openxmlformats.org/drawingml/2006/main">
            <a:off x="428625" y="266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000000"/>
                </a:solidFill>
              </a:defRPr>
            </a:defPPr>
            <a:lvl1pPr>
              <a:defRPr sz="3300" b="0">
                <a:solidFill>
                  <a:srgbClr val="000000"/>
                </a:solidFill>
              </a:defRPr>
            </a:lvl1pPr>
            <a:lvl2pPr>
              <a:defRPr sz="3300" b="0">
                <a:solidFill>
                  <a:srgbClr val="000000"/>
                </a:solidFill>
              </a:defRPr>
            </a:lvl2pPr>
            <a:lvl3pPr>
              <a:defRPr sz="3300" b="0">
                <a:solidFill>
                  <a:srgbClr val="000000"/>
                </a:solidFill>
              </a:defRPr>
            </a:lvl3pPr>
            <a:lvl4pPr>
              <a:defRPr sz="3300" b="0">
                <a:solidFill>
                  <a:srgbClr val="000000"/>
                </a:solidFill>
              </a:defRPr>
            </a:lvl4pPr>
            <a:lvl5pPr>
              <a:defRPr sz="3300" b="0">
                <a:solidFill>
                  <a:srgbClr val="000000"/>
                </a:solidFill>
              </a:defRPr>
            </a:lvl5pPr>
            <a:lvl6pPr>
              <a:defRPr sz="3300" b="0">
                <a:solidFill>
                  <a:srgbClr val="000000"/>
                </a:solidFill>
              </a:defRPr>
            </a:lvl6pPr>
            <a:lvl7pPr>
              <a:defRPr sz="3300" b="0">
                <a:solidFill>
                  <a:srgbClr val="000000"/>
                </a:solidFill>
              </a:defRPr>
            </a:lvl7pPr>
            <a:lvl8pPr>
              <a:defRPr sz="3300" b="0">
                <a:solidFill>
                  <a:srgbClr val="000000"/>
                </a:solidFill>
              </a:defRPr>
            </a:lvl8pPr>
            <a:lvl9pPr>
              <a:defRPr sz="3300" b="0">
                <a:solidFill>
                  <a:srgbClr val="000000"/>
                </a:solidFill>
              </a:defRPr>
            </a:lvl9pPr>
          </a:lstStyle>
          <a:p xmlns:a="http://schemas.openxmlformats.org/drawingml/2006/main">
            <a:pPr>
              <a:defRPr sz="3300" b="0">
                <a:solidFill>
                  <a:srgbClr val="000000"/>
                </a:solidFill>
              </a:defRPr>
            </a:pPr>
            <a:r>
              <a:rPr sz="3300" b="0">
                <a:solidFill>
                  <a:srgbClr val="000000"/>
                </a:solidFill>
              </a:rPr>
              <a:t>Decision Tree Selection</a:t>
            </a:r>
          </a:p>
        </p:txBody>
      </p:sp>
      <p:sp>
        <p:nvSpPr>
          <p:cNvPr id="2" name="">
            <a:extLst xmlns:a="http://schemas.openxmlformats.org/drawingml/2006/main">
              <a:ext uri="{FF2B5EF4-FFF2-40B4-BE49-F238E27FC236}">
                <a16:creationId xmlns:a16="http://schemas.microsoft.com/office/drawing/2014/main" id="{ED1678DE-9F3E-4C84-A2B3-DF46DB099A0E}"/>
              </a:ext>
            </a:extLst>
          </p:cNvPr>
          <p:cNvSpPr>
            <a:spLocks xmlns:a="http://schemas.openxmlformats.org/drawingml/2006/main" noGrp="1"/>
          </p:cNvSpPr>
          <p:nvPr/>
        </p:nvSpPr>
        <p:spPr>
          <a:xfrm xmlns:a="http://schemas.openxmlformats.org/drawingml/2006/main">
            <a:off x="666750" y="12858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0000"/>
                </a:solidFill>
              </a:defRPr>
            </a:defPPr>
            <a:lvl1pPr>
              <a:defRPr sz="2175" b="1">
                <a:solidFill>
                  <a:srgbClr val="000000"/>
                </a:solidFill>
              </a:defRPr>
            </a:lvl1pPr>
            <a:lvl2pPr>
              <a:defRPr sz="2175" b="1">
                <a:solidFill>
                  <a:srgbClr val="000000"/>
                </a:solidFill>
              </a:defRPr>
            </a:lvl2pPr>
            <a:lvl3pPr>
              <a:defRPr sz="2175" b="1">
                <a:solidFill>
                  <a:srgbClr val="000000"/>
                </a:solidFill>
              </a:defRPr>
            </a:lvl3pPr>
            <a:lvl4pPr>
              <a:defRPr sz="2175" b="1">
                <a:solidFill>
                  <a:srgbClr val="000000"/>
                </a:solidFill>
              </a:defRPr>
            </a:lvl4pPr>
            <a:lvl5pPr>
              <a:defRPr sz="2175" b="1">
                <a:solidFill>
                  <a:srgbClr val="000000"/>
                </a:solidFill>
              </a:defRPr>
            </a:lvl5pPr>
            <a:lvl6pPr>
              <a:defRPr sz="2175" b="1">
                <a:solidFill>
                  <a:srgbClr val="000000"/>
                </a:solidFill>
              </a:defRPr>
            </a:lvl6pPr>
            <a:lvl7pPr>
              <a:defRPr sz="2175" b="1">
                <a:solidFill>
                  <a:srgbClr val="000000"/>
                </a:solidFill>
              </a:defRPr>
            </a:lvl7pPr>
            <a:lvl8pPr>
              <a:defRPr sz="2175" b="1">
                <a:solidFill>
                  <a:srgbClr val="000000"/>
                </a:solidFill>
              </a:defRPr>
            </a:lvl8pPr>
            <a:lvl9pPr>
              <a:defRPr sz="2175" b="1">
                <a:solidFill>
                  <a:srgbClr val="000000"/>
                </a:solidFill>
              </a:defRPr>
            </a:lvl9pPr>
          </a:lstStyle>
          <a:p xmlns:a="http://schemas.openxmlformats.org/drawingml/2006/main">
            <a:pPr>
              <a:defRPr sz="2175" b="1">
                <a:solidFill>
                  <a:srgbClr val="000000"/>
                </a:solidFill>
              </a:defRPr>
            </a:pPr>
            <a:r>
              <a:rPr sz="2175" b="1">
                <a:solidFill>
                  <a:srgbClr val="000000"/>
                </a:solidFill>
              </a:rPr>
              <a:t>1. Care state selects the entry point</a:t>
            </a:r>
          </a:p>
        </p:txBody>
      </p:sp>
      <p:sp>
        <p:nvSpPr>
          <p:cNvPr id="3" name="">
            <a:extLst xmlns:a="http://schemas.openxmlformats.org/drawingml/2006/main">
              <a:ext uri="{FF2B5EF4-FFF2-40B4-BE49-F238E27FC236}">
                <a16:creationId xmlns:a16="http://schemas.microsoft.com/office/drawing/2014/main" id="{A5A4FB6A-5FD7-406C-9F8B-4BF9E61074B0}"/>
              </a:ext>
            </a:extLst>
          </p:cNvPr>
          <p:cNvSpPr>
            <a:spLocks xmlns:a="http://schemas.openxmlformats.org/drawingml/2006/main" noGrp="1"/>
          </p:cNvSpPr>
          <p:nvPr/>
        </p:nvSpPr>
        <p:spPr>
          <a:xfrm xmlns:a="http://schemas.openxmlformats.org/drawingml/2006/main">
            <a:off x="1000125" y="172402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00000"/>
                </a:solidFill>
              </a:defRPr>
            </a:defPPr>
            <a:lvl1pPr>
              <a:defRPr sz="1950" b="0">
                <a:solidFill>
                  <a:srgbClr val="000000"/>
                </a:solidFill>
              </a:defRPr>
            </a:lvl1pPr>
            <a:lvl2pPr>
              <a:defRPr sz="1950" b="0">
                <a:solidFill>
                  <a:srgbClr val="000000"/>
                </a:solidFill>
              </a:defRPr>
            </a:lvl2pPr>
            <a:lvl3pPr>
              <a:defRPr sz="1950" b="0">
                <a:solidFill>
                  <a:srgbClr val="000000"/>
                </a:solidFill>
              </a:defRPr>
            </a:lvl3pPr>
            <a:lvl4pPr>
              <a:defRPr sz="1950" b="0">
                <a:solidFill>
                  <a:srgbClr val="000000"/>
                </a:solidFill>
              </a:defRPr>
            </a:lvl4pPr>
            <a:lvl5pPr>
              <a:defRPr sz="1950" b="0">
                <a:solidFill>
                  <a:srgbClr val="000000"/>
                </a:solidFill>
              </a:defRPr>
            </a:lvl5pPr>
            <a:lvl6pPr>
              <a:defRPr sz="1950" b="0">
                <a:solidFill>
                  <a:srgbClr val="000000"/>
                </a:solidFill>
              </a:defRPr>
            </a:lvl6pPr>
            <a:lvl7pPr>
              <a:defRPr sz="1950" b="0">
                <a:solidFill>
                  <a:srgbClr val="000000"/>
                </a:solidFill>
              </a:defRPr>
            </a:lvl7pPr>
            <a:lvl8pPr>
              <a:defRPr sz="1950" b="0">
                <a:solidFill>
                  <a:srgbClr val="000000"/>
                </a:solidFill>
              </a:defRPr>
            </a:lvl8pPr>
            <a:lvl9pPr>
              <a:defRPr sz="1950" b="0">
                <a:solidFill>
                  <a:srgbClr val="000000"/>
                </a:solidFill>
              </a:defRPr>
            </a:lvl9pPr>
          </a:lstStyle>
          <a:p xmlns:a="http://schemas.openxmlformats.org/drawingml/2006/main">
            <a:pPr>
              <a:defRPr sz="1950" b="0">
                <a:solidFill>
                  <a:srgbClr val="000000"/>
                </a:solidFill>
              </a:defRPr>
            </a:pPr>
            <a:r>
              <a:rPr sz="1950" b="0">
                <a:solidFill>
                  <a:srgbClr val="000000"/>
                </a:solidFill>
              </a:rPr>
              <a:t>Initial therapy, uncontrolled monotherapy, or uncontrolled combination therapy.</a:t>
            </a:r>
          </a:p>
        </p:txBody>
      </p:sp>
      <p:sp>
        <p:nvSpPr>
          <p:cNvPr id="4" name="">
            <a:extLst xmlns:a="http://schemas.openxmlformats.org/drawingml/2006/main">
              <a:ext uri="{FF2B5EF4-FFF2-40B4-BE49-F238E27FC236}">
                <a16:creationId xmlns:a16="http://schemas.microsoft.com/office/drawing/2014/main" id="{66B6873F-EDDA-41E8-85FA-9FFC28CAEDF6}"/>
              </a:ext>
            </a:extLst>
          </p:cNvPr>
          <p:cNvSpPr>
            <a:spLocks xmlns:a="http://schemas.openxmlformats.org/drawingml/2006/main" noGrp="1"/>
          </p:cNvSpPr>
          <p:nvPr/>
        </p:nvSpPr>
        <p:spPr>
          <a:xfrm xmlns:a="http://schemas.openxmlformats.org/drawingml/2006/main">
            <a:off x="666750" y="25050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0000"/>
                </a:solidFill>
              </a:defRPr>
            </a:defPPr>
            <a:lvl1pPr>
              <a:defRPr sz="2175" b="1">
                <a:solidFill>
                  <a:srgbClr val="000000"/>
                </a:solidFill>
              </a:defRPr>
            </a:lvl1pPr>
            <a:lvl2pPr>
              <a:defRPr sz="2175" b="1">
                <a:solidFill>
                  <a:srgbClr val="000000"/>
                </a:solidFill>
              </a:defRPr>
            </a:lvl2pPr>
            <a:lvl3pPr>
              <a:defRPr sz="2175" b="1">
                <a:solidFill>
                  <a:srgbClr val="000000"/>
                </a:solidFill>
              </a:defRPr>
            </a:lvl3pPr>
            <a:lvl4pPr>
              <a:defRPr sz="2175" b="1">
                <a:solidFill>
                  <a:srgbClr val="000000"/>
                </a:solidFill>
              </a:defRPr>
            </a:lvl4pPr>
            <a:lvl5pPr>
              <a:defRPr sz="2175" b="1">
                <a:solidFill>
                  <a:srgbClr val="000000"/>
                </a:solidFill>
              </a:defRPr>
            </a:lvl5pPr>
            <a:lvl6pPr>
              <a:defRPr sz="2175" b="1">
                <a:solidFill>
                  <a:srgbClr val="000000"/>
                </a:solidFill>
              </a:defRPr>
            </a:lvl6pPr>
            <a:lvl7pPr>
              <a:defRPr sz="2175" b="1">
                <a:solidFill>
                  <a:srgbClr val="000000"/>
                </a:solidFill>
              </a:defRPr>
            </a:lvl7pPr>
            <a:lvl8pPr>
              <a:defRPr sz="2175" b="1">
                <a:solidFill>
                  <a:srgbClr val="000000"/>
                </a:solidFill>
              </a:defRPr>
            </a:lvl8pPr>
            <a:lvl9pPr>
              <a:defRPr sz="2175" b="1">
                <a:solidFill>
                  <a:srgbClr val="000000"/>
                </a:solidFill>
              </a:defRPr>
            </a:lvl9pPr>
          </a:lstStyle>
          <a:p xmlns:a="http://schemas.openxmlformats.org/drawingml/2006/main">
            <a:pPr>
              <a:defRPr sz="2175" b="1">
                <a:solidFill>
                  <a:srgbClr val="000000"/>
                </a:solidFill>
              </a:defRPr>
            </a:pPr>
            <a:r>
              <a:rPr sz="2175" b="1">
                <a:solidFill>
                  <a:srgbClr val="000000"/>
                </a:solidFill>
              </a:rPr>
              <a:t>2. Verify the clinical context</a:t>
            </a:r>
          </a:p>
        </p:txBody>
      </p:sp>
      <p:sp>
        <p:nvSpPr>
          <p:cNvPr id="5" name="">
            <a:extLst xmlns:a="http://schemas.openxmlformats.org/drawingml/2006/main">
              <a:ext uri="{FF2B5EF4-FFF2-40B4-BE49-F238E27FC236}">
                <a16:creationId xmlns:a16="http://schemas.microsoft.com/office/drawing/2014/main" id="{A27D5235-E3F4-403A-A566-4130FF1CBA1D}"/>
              </a:ext>
            </a:extLst>
          </p:cNvPr>
          <p:cNvSpPr>
            <a:spLocks xmlns:a="http://schemas.openxmlformats.org/drawingml/2006/main" noGrp="1"/>
          </p:cNvSpPr>
          <p:nvPr/>
        </p:nvSpPr>
        <p:spPr>
          <a:xfrm xmlns:a="http://schemas.openxmlformats.org/drawingml/2006/main">
            <a:off x="1000125" y="294322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00000"/>
                </a:solidFill>
              </a:defRPr>
            </a:defPPr>
            <a:lvl1pPr>
              <a:defRPr sz="1950" b="0">
                <a:solidFill>
                  <a:srgbClr val="000000"/>
                </a:solidFill>
              </a:defRPr>
            </a:lvl1pPr>
            <a:lvl2pPr>
              <a:defRPr sz="1950" b="0">
                <a:solidFill>
                  <a:srgbClr val="000000"/>
                </a:solidFill>
              </a:defRPr>
            </a:lvl2pPr>
            <a:lvl3pPr>
              <a:defRPr sz="1950" b="0">
                <a:solidFill>
                  <a:srgbClr val="000000"/>
                </a:solidFill>
              </a:defRPr>
            </a:lvl3pPr>
            <a:lvl4pPr>
              <a:defRPr sz="1950" b="0">
                <a:solidFill>
                  <a:srgbClr val="000000"/>
                </a:solidFill>
              </a:defRPr>
            </a:lvl4pPr>
            <a:lvl5pPr>
              <a:defRPr sz="1950" b="0">
                <a:solidFill>
                  <a:srgbClr val="000000"/>
                </a:solidFill>
              </a:defRPr>
            </a:lvl5pPr>
            <a:lvl6pPr>
              <a:defRPr sz="1950" b="0">
                <a:solidFill>
                  <a:srgbClr val="000000"/>
                </a:solidFill>
              </a:defRPr>
            </a:lvl6pPr>
            <a:lvl7pPr>
              <a:defRPr sz="1950" b="0">
                <a:solidFill>
                  <a:srgbClr val="000000"/>
                </a:solidFill>
              </a:defRPr>
            </a:lvl7pPr>
            <a:lvl8pPr>
              <a:defRPr sz="1950" b="0">
                <a:solidFill>
                  <a:srgbClr val="000000"/>
                </a:solidFill>
              </a:defRPr>
            </a:lvl8pPr>
            <a:lvl9pPr>
              <a:defRPr sz="1950" b="0">
                <a:solidFill>
                  <a:srgbClr val="000000"/>
                </a:solidFill>
              </a:defRPr>
            </a:lvl9pPr>
          </a:lstStyle>
          <a:p xmlns:a="http://schemas.openxmlformats.org/drawingml/2006/main">
            <a:pPr>
              <a:defRPr sz="1950" b="0">
                <a:solidFill>
                  <a:srgbClr val="000000"/>
                </a:solidFill>
              </a:defRPr>
            </a:pPr>
            <a:r>
              <a:rPr sz="1950" b="0">
                <a:solidFill>
                  <a:srgbClr val="000000"/>
                </a:solidFill>
              </a:rPr>
              <a:t>Use structured observations, medication history, adherence, and relevant laboratory data.</a:t>
            </a:r>
          </a:p>
        </p:txBody>
      </p:sp>
      <p:sp>
        <p:nvSpPr>
          <p:cNvPr id="6" name="">
            <a:extLst xmlns:a="http://schemas.openxmlformats.org/drawingml/2006/main">
              <a:ext uri="{FF2B5EF4-FFF2-40B4-BE49-F238E27FC236}">
                <a16:creationId xmlns:a16="http://schemas.microsoft.com/office/drawing/2014/main" id="{33392396-DD63-47C2-9B6F-757D37837FB7}"/>
              </a:ext>
            </a:extLst>
          </p:cNvPr>
          <p:cNvSpPr>
            <a:spLocks xmlns:a="http://schemas.openxmlformats.org/drawingml/2006/main" noGrp="1"/>
          </p:cNvSpPr>
          <p:nvPr/>
        </p:nvSpPr>
        <p:spPr>
          <a:xfrm xmlns:a="http://schemas.openxmlformats.org/drawingml/2006/main">
            <a:off x="666750" y="3724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0000"/>
                </a:solidFill>
              </a:defRPr>
            </a:defPPr>
            <a:lvl1pPr>
              <a:defRPr sz="2175" b="1">
                <a:solidFill>
                  <a:srgbClr val="000000"/>
                </a:solidFill>
              </a:defRPr>
            </a:lvl1pPr>
            <a:lvl2pPr>
              <a:defRPr sz="2175" b="1">
                <a:solidFill>
                  <a:srgbClr val="000000"/>
                </a:solidFill>
              </a:defRPr>
            </a:lvl2pPr>
            <a:lvl3pPr>
              <a:defRPr sz="2175" b="1">
                <a:solidFill>
                  <a:srgbClr val="000000"/>
                </a:solidFill>
              </a:defRPr>
            </a:lvl3pPr>
            <a:lvl4pPr>
              <a:defRPr sz="2175" b="1">
                <a:solidFill>
                  <a:srgbClr val="000000"/>
                </a:solidFill>
              </a:defRPr>
            </a:lvl4pPr>
            <a:lvl5pPr>
              <a:defRPr sz="2175" b="1">
                <a:solidFill>
                  <a:srgbClr val="000000"/>
                </a:solidFill>
              </a:defRPr>
            </a:lvl5pPr>
            <a:lvl6pPr>
              <a:defRPr sz="2175" b="1">
                <a:solidFill>
                  <a:srgbClr val="000000"/>
                </a:solidFill>
              </a:defRPr>
            </a:lvl6pPr>
            <a:lvl7pPr>
              <a:defRPr sz="2175" b="1">
                <a:solidFill>
                  <a:srgbClr val="000000"/>
                </a:solidFill>
              </a:defRPr>
            </a:lvl7pPr>
            <a:lvl8pPr>
              <a:defRPr sz="2175" b="1">
                <a:solidFill>
                  <a:srgbClr val="000000"/>
                </a:solidFill>
              </a:defRPr>
            </a:lvl8pPr>
            <a:lvl9pPr>
              <a:defRPr sz="2175" b="1">
                <a:solidFill>
                  <a:srgbClr val="000000"/>
                </a:solidFill>
              </a:defRPr>
            </a:lvl9pPr>
          </a:lstStyle>
          <a:p xmlns:a="http://schemas.openxmlformats.org/drawingml/2006/main">
            <a:pPr>
              <a:defRPr sz="2175" b="1">
                <a:solidFill>
                  <a:srgbClr val="000000"/>
                </a:solidFill>
              </a:defRPr>
            </a:pPr>
            <a:r>
              <a:rPr sz="2175" b="1">
                <a:solidFill>
                  <a:srgbClr val="000000"/>
                </a:solidFill>
              </a:rPr>
              <a:t>3. Resolve each decision node</a:t>
            </a:r>
          </a:p>
        </p:txBody>
      </p:sp>
      <p:sp>
        <p:nvSpPr>
          <p:cNvPr id="7" name="">
            <a:extLst xmlns:a="http://schemas.openxmlformats.org/drawingml/2006/main">
              <a:ext uri="{FF2B5EF4-FFF2-40B4-BE49-F238E27FC236}">
                <a16:creationId xmlns:a16="http://schemas.microsoft.com/office/drawing/2014/main" id="{5DAFD417-5B31-44D6-BD17-F3B0476A3488}"/>
              </a:ext>
            </a:extLst>
          </p:cNvPr>
          <p:cNvSpPr>
            <a:spLocks xmlns:a="http://schemas.openxmlformats.org/drawingml/2006/main" noGrp="1"/>
          </p:cNvSpPr>
          <p:nvPr/>
        </p:nvSpPr>
        <p:spPr>
          <a:xfrm xmlns:a="http://schemas.openxmlformats.org/drawingml/2006/main">
            <a:off x="1000125" y="416242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00000"/>
                </a:solidFill>
              </a:defRPr>
            </a:defPPr>
            <a:lvl1pPr>
              <a:defRPr sz="1950" b="0">
                <a:solidFill>
                  <a:srgbClr val="000000"/>
                </a:solidFill>
              </a:defRPr>
            </a:lvl1pPr>
            <a:lvl2pPr>
              <a:defRPr sz="1950" b="0">
                <a:solidFill>
                  <a:srgbClr val="000000"/>
                </a:solidFill>
              </a:defRPr>
            </a:lvl2pPr>
            <a:lvl3pPr>
              <a:defRPr sz="1950" b="0">
                <a:solidFill>
                  <a:srgbClr val="000000"/>
                </a:solidFill>
              </a:defRPr>
            </a:lvl3pPr>
            <a:lvl4pPr>
              <a:defRPr sz="1950" b="0">
                <a:solidFill>
                  <a:srgbClr val="000000"/>
                </a:solidFill>
              </a:defRPr>
            </a:lvl4pPr>
            <a:lvl5pPr>
              <a:defRPr sz="1950" b="0">
                <a:solidFill>
                  <a:srgbClr val="000000"/>
                </a:solidFill>
              </a:defRPr>
            </a:lvl5pPr>
            <a:lvl6pPr>
              <a:defRPr sz="1950" b="0">
                <a:solidFill>
                  <a:srgbClr val="000000"/>
                </a:solidFill>
              </a:defRPr>
            </a:lvl6pPr>
            <a:lvl7pPr>
              <a:defRPr sz="1950" b="0">
                <a:solidFill>
                  <a:srgbClr val="000000"/>
                </a:solidFill>
              </a:defRPr>
            </a:lvl7pPr>
            <a:lvl8pPr>
              <a:defRPr sz="1950" b="0">
                <a:solidFill>
                  <a:srgbClr val="000000"/>
                </a:solidFill>
              </a:defRPr>
            </a:lvl8pPr>
            <a:lvl9pPr>
              <a:defRPr sz="1950" b="0">
                <a:solidFill>
                  <a:srgbClr val="000000"/>
                </a:solidFill>
              </a:defRPr>
            </a:lvl9pPr>
          </a:lstStyle>
          <a:p xmlns:a="http://schemas.openxmlformats.org/drawingml/2006/main">
            <a:pPr>
              <a:defRPr sz="1950" b="0">
                <a:solidFill>
                  <a:srgbClr val="000000"/>
                </a:solidFill>
              </a:defRPr>
            </a:pPr>
            <a:r>
              <a:rPr sz="1950" b="0">
                <a:solidFill>
                  <a:srgbClr val="000000"/>
                </a:solidFill>
              </a:rPr>
              <a:t>Record the question, answer, source data, and confidence for the audit trail.</a:t>
            </a:r>
          </a:p>
        </p:txBody>
      </p:sp>
      <p:sp>
        <p:nvSpPr>
          <p:cNvPr id="8" name="">
            <a:extLst xmlns:a="http://schemas.openxmlformats.org/drawingml/2006/main">
              <a:ext uri="{FF2B5EF4-FFF2-40B4-BE49-F238E27FC236}">
                <a16:creationId xmlns:a16="http://schemas.microsoft.com/office/drawing/2014/main" id="{896CE7E8-2543-481F-BCAF-5743754F12E6}"/>
              </a:ext>
            </a:extLst>
          </p:cNvPr>
          <p:cNvSpPr>
            <a:spLocks xmlns:a="http://schemas.openxmlformats.org/drawingml/2006/main" noGrp="1"/>
          </p:cNvSpPr>
          <p:nvPr/>
        </p:nvSpPr>
        <p:spPr>
          <a:xfrm xmlns:a="http://schemas.openxmlformats.org/drawingml/2006/main">
            <a:off x="666750" y="49434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0000"/>
                </a:solidFill>
              </a:defRPr>
            </a:defPPr>
            <a:lvl1pPr>
              <a:defRPr sz="2175" b="1">
                <a:solidFill>
                  <a:srgbClr val="000000"/>
                </a:solidFill>
              </a:defRPr>
            </a:lvl1pPr>
            <a:lvl2pPr>
              <a:defRPr sz="2175" b="1">
                <a:solidFill>
                  <a:srgbClr val="000000"/>
                </a:solidFill>
              </a:defRPr>
            </a:lvl2pPr>
            <a:lvl3pPr>
              <a:defRPr sz="2175" b="1">
                <a:solidFill>
                  <a:srgbClr val="000000"/>
                </a:solidFill>
              </a:defRPr>
            </a:lvl3pPr>
            <a:lvl4pPr>
              <a:defRPr sz="2175" b="1">
                <a:solidFill>
                  <a:srgbClr val="000000"/>
                </a:solidFill>
              </a:defRPr>
            </a:lvl4pPr>
            <a:lvl5pPr>
              <a:defRPr sz="2175" b="1">
                <a:solidFill>
                  <a:srgbClr val="000000"/>
                </a:solidFill>
              </a:defRPr>
            </a:lvl5pPr>
            <a:lvl6pPr>
              <a:defRPr sz="2175" b="1">
                <a:solidFill>
                  <a:srgbClr val="000000"/>
                </a:solidFill>
              </a:defRPr>
            </a:lvl6pPr>
            <a:lvl7pPr>
              <a:defRPr sz="2175" b="1">
                <a:solidFill>
                  <a:srgbClr val="000000"/>
                </a:solidFill>
              </a:defRPr>
            </a:lvl7pPr>
            <a:lvl8pPr>
              <a:defRPr sz="2175" b="1">
                <a:solidFill>
                  <a:srgbClr val="000000"/>
                </a:solidFill>
              </a:defRPr>
            </a:lvl8pPr>
            <a:lvl9pPr>
              <a:defRPr sz="2175" b="1">
                <a:solidFill>
                  <a:srgbClr val="000000"/>
                </a:solidFill>
              </a:defRPr>
            </a:lvl9pPr>
          </a:lstStyle>
          <a:p xmlns:a="http://schemas.openxmlformats.org/drawingml/2006/main">
            <a:pPr>
              <a:defRPr sz="2175" b="1">
                <a:solidFill>
                  <a:srgbClr val="000000"/>
                </a:solidFill>
              </a:defRPr>
            </a:pPr>
            <a:r>
              <a:rPr sz="2175" b="1">
                <a:solidFill>
                  <a:srgbClr val="000000"/>
                </a:solidFill>
              </a:rPr>
              <a:t>4. Escalate unresolved decisions</a:t>
            </a:r>
          </a:p>
        </p:txBody>
      </p:sp>
      <p:sp>
        <p:nvSpPr>
          <p:cNvPr id="9" name="">
            <a:extLst xmlns:a="http://schemas.openxmlformats.org/drawingml/2006/main">
              <a:ext uri="{FF2B5EF4-FFF2-40B4-BE49-F238E27FC236}">
                <a16:creationId xmlns:a16="http://schemas.microsoft.com/office/drawing/2014/main" id="{4C9CE9D5-98EF-40CC-BD48-3E1FB3A6CDA5}"/>
              </a:ext>
            </a:extLst>
          </p:cNvPr>
          <p:cNvSpPr>
            <a:spLocks xmlns:a="http://schemas.openxmlformats.org/drawingml/2006/main" noGrp="1"/>
          </p:cNvSpPr>
          <p:nvPr/>
        </p:nvSpPr>
        <p:spPr>
          <a:xfrm xmlns:a="http://schemas.openxmlformats.org/drawingml/2006/main">
            <a:off x="1000125" y="538162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00000"/>
                </a:solidFill>
              </a:defRPr>
            </a:defPPr>
            <a:lvl1pPr>
              <a:defRPr sz="1950" b="0">
                <a:solidFill>
                  <a:srgbClr val="000000"/>
                </a:solidFill>
              </a:defRPr>
            </a:lvl1pPr>
            <a:lvl2pPr>
              <a:defRPr sz="1950" b="0">
                <a:solidFill>
                  <a:srgbClr val="000000"/>
                </a:solidFill>
              </a:defRPr>
            </a:lvl2pPr>
            <a:lvl3pPr>
              <a:defRPr sz="1950" b="0">
                <a:solidFill>
                  <a:srgbClr val="000000"/>
                </a:solidFill>
              </a:defRPr>
            </a:lvl3pPr>
            <a:lvl4pPr>
              <a:defRPr sz="1950" b="0">
                <a:solidFill>
                  <a:srgbClr val="000000"/>
                </a:solidFill>
              </a:defRPr>
            </a:lvl4pPr>
            <a:lvl5pPr>
              <a:defRPr sz="1950" b="0">
                <a:solidFill>
                  <a:srgbClr val="000000"/>
                </a:solidFill>
              </a:defRPr>
            </a:lvl5pPr>
            <a:lvl6pPr>
              <a:defRPr sz="1950" b="0">
                <a:solidFill>
                  <a:srgbClr val="000000"/>
                </a:solidFill>
              </a:defRPr>
            </a:lvl6pPr>
            <a:lvl7pPr>
              <a:defRPr sz="1950" b="0">
                <a:solidFill>
                  <a:srgbClr val="000000"/>
                </a:solidFill>
              </a:defRPr>
            </a:lvl7pPr>
            <a:lvl8pPr>
              <a:defRPr sz="1950" b="0">
                <a:solidFill>
                  <a:srgbClr val="000000"/>
                </a:solidFill>
              </a:defRPr>
            </a:lvl8pPr>
            <a:lvl9pPr>
              <a:defRPr sz="1950" b="0">
                <a:solidFill>
                  <a:srgbClr val="000000"/>
                </a:solidFill>
              </a:defRPr>
            </a:lvl9pPr>
          </a:lstStyle>
          <a:p xmlns:a="http://schemas.openxmlformats.org/drawingml/2006/main">
            <a:pPr>
              <a:defRPr sz="1950" b="0">
                <a:solidFill>
                  <a:srgbClr val="000000"/>
                </a:solidFill>
              </a:defRPr>
            </a:pPr>
            <a:r>
              <a:rPr sz="1950" b="0">
                <a:solidFill>
                  <a:srgbClr val="000000"/>
                </a:solidFill>
              </a:rPr>
              <a:t>Missing data or clinical judgment routes to retrieval with citations or clinician review.</a:t>
            </a:r>
          </a:p>
        </p:txBody>
      </p:sp>
    </p:spTree>
    <p:extLst>
      <p:ext uri="{BB962C8B-B14F-4D97-AF65-F5344CB8AC3E}">
        <p14:creationId xmlns:p14="http://schemas.microsoft.com/office/powerpoint/2010/main" val="104736624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6AF64D-DD81-4323-ACE4-981AC9269668}"/>
              </a:ext>
            </a:extLst>
          </p:cNvPr>
          <p:cNvSpPr>
            <a:spLocks xmlns:a="http://schemas.openxmlformats.org/drawingml/2006/main" noGrp="1"/>
          </p:cNvSpPr>
          <p:nvPr/>
        </p:nvSpPr>
        <p:spPr>
          <a:xfrm xmlns:a="http://schemas.openxmlformats.org/drawingml/2006/main">
            <a:off x="428625" y="2667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000000"/>
                </a:solidFill>
              </a:defRPr>
            </a:defPPr>
            <a:lvl1pPr>
              <a:defRPr sz="3300" b="0">
                <a:solidFill>
                  <a:srgbClr val="000000"/>
                </a:solidFill>
              </a:defRPr>
            </a:lvl1pPr>
            <a:lvl2pPr>
              <a:defRPr sz="3300" b="0">
                <a:solidFill>
                  <a:srgbClr val="000000"/>
                </a:solidFill>
              </a:defRPr>
            </a:lvl2pPr>
            <a:lvl3pPr>
              <a:defRPr sz="3300" b="0">
                <a:solidFill>
                  <a:srgbClr val="000000"/>
                </a:solidFill>
              </a:defRPr>
            </a:lvl3pPr>
            <a:lvl4pPr>
              <a:defRPr sz="3300" b="0">
                <a:solidFill>
                  <a:srgbClr val="000000"/>
                </a:solidFill>
              </a:defRPr>
            </a:lvl4pPr>
            <a:lvl5pPr>
              <a:defRPr sz="3300" b="0">
                <a:solidFill>
                  <a:srgbClr val="000000"/>
                </a:solidFill>
              </a:defRPr>
            </a:lvl5pPr>
            <a:lvl6pPr>
              <a:defRPr sz="3300" b="0">
                <a:solidFill>
                  <a:srgbClr val="000000"/>
                </a:solidFill>
              </a:defRPr>
            </a:lvl6pPr>
            <a:lvl7pPr>
              <a:defRPr sz="3300" b="0">
                <a:solidFill>
                  <a:srgbClr val="000000"/>
                </a:solidFill>
              </a:defRPr>
            </a:lvl7pPr>
            <a:lvl8pPr>
              <a:defRPr sz="3300" b="0">
                <a:solidFill>
                  <a:srgbClr val="000000"/>
                </a:solidFill>
              </a:defRPr>
            </a:lvl8pPr>
            <a:lvl9pPr>
              <a:defRPr sz="3300" b="0">
                <a:solidFill>
                  <a:srgbClr val="000000"/>
                </a:solidFill>
              </a:defRPr>
            </a:lvl9pPr>
          </a:lstStyle>
          <a:p xmlns:a="http://schemas.openxmlformats.org/drawingml/2006/main">
            <a:pPr>
              <a:defRPr sz="3300" b="0">
                <a:solidFill>
                  <a:srgbClr val="000000"/>
                </a:solidFill>
              </a:defRPr>
            </a:pPr>
            <a:r>
              <a:rPr sz="3300" b="0">
                <a:solidFill>
                  <a:srgbClr val="000000"/>
                </a:solidFill>
              </a:rPr>
              <a:t>From Tree Output to a Proposed Prescription</a:t>
            </a:r>
          </a:p>
        </p:txBody>
      </p:sp>
      <p:sp>
        <p:nvSpPr>
          <p:cNvPr id="2" name="">
            <a:extLst xmlns:a="http://schemas.openxmlformats.org/drawingml/2006/main">
              <a:ext uri="{FF2B5EF4-FFF2-40B4-BE49-F238E27FC236}">
                <a16:creationId xmlns:a16="http://schemas.microsoft.com/office/drawing/2014/main" id="{2781A838-EE04-44E3-B3FE-DCE0C6BDE7CC}"/>
              </a:ext>
            </a:extLst>
          </p:cNvPr>
          <p:cNvSpPr>
            <a:spLocks xmlns:a="http://schemas.openxmlformats.org/drawingml/2006/main" noGrp="1"/>
          </p:cNvSpPr>
          <p:nvPr/>
        </p:nvSpPr>
        <p:spPr>
          <a:xfrm xmlns:a="http://schemas.openxmlformats.org/drawingml/2006/main">
            <a:off x="666750" y="12858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0000"/>
                </a:solidFill>
              </a:defRPr>
            </a:defPPr>
            <a:lvl1pPr>
              <a:defRPr sz="2175" b="1">
                <a:solidFill>
                  <a:srgbClr val="000000"/>
                </a:solidFill>
              </a:defRPr>
            </a:lvl1pPr>
            <a:lvl2pPr>
              <a:defRPr sz="2175" b="1">
                <a:solidFill>
                  <a:srgbClr val="000000"/>
                </a:solidFill>
              </a:defRPr>
            </a:lvl2pPr>
            <a:lvl3pPr>
              <a:defRPr sz="2175" b="1">
                <a:solidFill>
                  <a:srgbClr val="000000"/>
                </a:solidFill>
              </a:defRPr>
            </a:lvl3pPr>
            <a:lvl4pPr>
              <a:defRPr sz="2175" b="1">
                <a:solidFill>
                  <a:srgbClr val="000000"/>
                </a:solidFill>
              </a:defRPr>
            </a:lvl4pPr>
            <a:lvl5pPr>
              <a:defRPr sz="2175" b="1">
                <a:solidFill>
                  <a:srgbClr val="000000"/>
                </a:solidFill>
              </a:defRPr>
            </a:lvl5pPr>
            <a:lvl6pPr>
              <a:defRPr sz="2175" b="1">
                <a:solidFill>
                  <a:srgbClr val="000000"/>
                </a:solidFill>
              </a:defRPr>
            </a:lvl6pPr>
            <a:lvl7pPr>
              <a:defRPr sz="2175" b="1">
                <a:solidFill>
                  <a:srgbClr val="000000"/>
                </a:solidFill>
              </a:defRPr>
            </a:lvl7pPr>
            <a:lvl8pPr>
              <a:defRPr sz="2175" b="1">
                <a:solidFill>
                  <a:srgbClr val="000000"/>
                </a:solidFill>
              </a:defRPr>
            </a:lvl8pPr>
            <a:lvl9pPr>
              <a:defRPr sz="2175" b="1">
                <a:solidFill>
                  <a:srgbClr val="000000"/>
                </a:solidFill>
              </a:defRPr>
            </a:lvl9pPr>
          </a:lstStyle>
          <a:p xmlns:a="http://schemas.openxmlformats.org/drawingml/2006/main">
            <a:pPr>
              <a:defRPr sz="2175" b="1">
                <a:solidFill>
                  <a:srgbClr val="000000"/>
                </a:solidFill>
              </a:defRPr>
            </a:pPr>
            <a:r>
              <a:rPr sz="2175" b="1">
                <a:solidFill>
                  <a:srgbClr val="000000"/>
                </a:solidFill>
              </a:rPr>
              <a:t>1. Select a drug class</a:t>
            </a:r>
          </a:p>
        </p:txBody>
      </p:sp>
      <p:sp>
        <p:nvSpPr>
          <p:cNvPr id="3" name="">
            <a:extLst xmlns:a="http://schemas.openxmlformats.org/drawingml/2006/main">
              <a:ext uri="{FF2B5EF4-FFF2-40B4-BE49-F238E27FC236}">
                <a16:creationId xmlns:a16="http://schemas.microsoft.com/office/drawing/2014/main" id="{3FB6185F-F005-4FC7-896E-5C70924D5BA9}"/>
              </a:ext>
            </a:extLst>
          </p:cNvPr>
          <p:cNvSpPr>
            <a:spLocks xmlns:a="http://schemas.openxmlformats.org/drawingml/2006/main" noGrp="1"/>
          </p:cNvSpPr>
          <p:nvPr/>
        </p:nvSpPr>
        <p:spPr>
          <a:xfrm xmlns:a="http://schemas.openxmlformats.org/drawingml/2006/main">
            <a:off x="1000125" y="172402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00000"/>
                </a:solidFill>
              </a:defRPr>
            </a:defPPr>
            <a:lvl1pPr>
              <a:defRPr sz="1950" b="0">
                <a:solidFill>
                  <a:srgbClr val="000000"/>
                </a:solidFill>
              </a:defRPr>
            </a:lvl1pPr>
            <a:lvl2pPr>
              <a:defRPr sz="1950" b="0">
                <a:solidFill>
                  <a:srgbClr val="000000"/>
                </a:solidFill>
              </a:defRPr>
            </a:lvl2pPr>
            <a:lvl3pPr>
              <a:defRPr sz="1950" b="0">
                <a:solidFill>
                  <a:srgbClr val="000000"/>
                </a:solidFill>
              </a:defRPr>
            </a:lvl3pPr>
            <a:lvl4pPr>
              <a:defRPr sz="1950" b="0">
                <a:solidFill>
                  <a:srgbClr val="000000"/>
                </a:solidFill>
              </a:defRPr>
            </a:lvl4pPr>
            <a:lvl5pPr>
              <a:defRPr sz="1950" b="0">
                <a:solidFill>
                  <a:srgbClr val="000000"/>
                </a:solidFill>
              </a:defRPr>
            </a:lvl5pPr>
            <a:lvl6pPr>
              <a:defRPr sz="1950" b="0">
                <a:solidFill>
                  <a:srgbClr val="000000"/>
                </a:solidFill>
              </a:defRPr>
            </a:lvl6pPr>
            <a:lvl7pPr>
              <a:defRPr sz="1950" b="0">
                <a:solidFill>
                  <a:srgbClr val="000000"/>
                </a:solidFill>
              </a:defRPr>
            </a:lvl7pPr>
            <a:lvl8pPr>
              <a:defRPr sz="1950" b="0">
                <a:solidFill>
                  <a:srgbClr val="000000"/>
                </a:solidFill>
              </a:defRPr>
            </a:lvl8pPr>
            <a:lvl9pPr>
              <a:defRPr sz="1950" b="0">
                <a:solidFill>
                  <a:srgbClr val="000000"/>
                </a:solidFill>
              </a:defRPr>
            </a:lvl9pPr>
          </a:lstStyle>
          <a:p xmlns:a="http://schemas.openxmlformats.org/drawingml/2006/main">
            <a:pPr>
              <a:defRPr sz="1950" b="0">
                <a:solidFill>
                  <a:srgbClr val="000000"/>
                </a:solidFill>
              </a:defRPr>
            </a:pPr>
            <a:r>
              <a:rPr sz="1950" b="0">
                <a:solidFill>
                  <a:srgbClr val="000000"/>
                </a:solidFill>
              </a:rPr>
              <a:t>The tree returns a class-level recommendation and the evidence supporting its path.</a:t>
            </a:r>
          </a:p>
        </p:txBody>
      </p:sp>
      <p:sp>
        <p:nvSpPr>
          <p:cNvPr id="4" name="">
            <a:extLst xmlns:a="http://schemas.openxmlformats.org/drawingml/2006/main">
              <a:ext uri="{FF2B5EF4-FFF2-40B4-BE49-F238E27FC236}">
                <a16:creationId xmlns:a16="http://schemas.microsoft.com/office/drawing/2014/main" id="{71FE349B-CD7A-4AB1-B0F8-1AED930C667A}"/>
              </a:ext>
            </a:extLst>
          </p:cNvPr>
          <p:cNvSpPr>
            <a:spLocks xmlns:a="http://schemas.openxmlformats.org/drawingml/2006/main" noGrp="1"/>
          </p:cNvSpPr>
          <p:nvPr/>
        </p:nvSpPr>
        <p:spPr>
          <a:xfrm xmlns:a="http://schemas.openxmlformats.org/drawingml/2006/main">
            <a:off x="666750" y="25050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0000"/>
                </a:solidFill>
              </a:defRPr>
            </a:defPPr>
            <a:lvl1pPr>
              <a:defRPr sz="2175" b="1">
                <a:solidFill>
                  <a:srgbClr val="000000"/>
                </a:solidFill>
              </a:defRPr>
            </a:lvl1pPr>
            <a:lvl2pPr>
              <a:defRPr sz="2175" b="1">
                <a:solidFill>
                  <a:srgbClr val="000000"/>
                </a:solidFill>
              </a:defRPr>
            </a:lvl2pPr>
            <a:lvl3pPr>
              <a:defRPr sz="2175" b="1">
                <a:solidFill>
                  <a:srgbClr val="000000"/>
                </a:solidFill>
              </a:defRPr>
            </a:lvl3pPr>
            <a:lvl4pPr>
              <a:defRPr sz="2175" b="1">
                <a:solidFill>
                  <a:srgbClr val="000000"/>
                </a:solidFill>
              </a:defRPr>
            </a:lvl4pPr>
            <a:lvl5pPr>
              <a:defRPr sz="2175" b="1">
                <a:solidFill>
                  <a:srgbClr val="000000"/>
                </a:solidFill>
              </a:defRPr>
            </a:lvl5pPr>
            <a:lvl6pPr>
              <a:defRPr sz="2175" b="1">
                <a:solidFill>
                  <a:srgbClr val="000000"/>
                </a:solidFill>
              </a:defRPr>
            </a:lvl6pPr>
            <a:lvl7pPr>
              <a:defRPr sz="2175" b="1">
                <a:solidFill>
                  <a:srgbClr val="000000"/>
                </a:solidFill>
              </a:defRPr>
            </a:lvl7pPr>
            <a:lvl8pPr>
              <a:defRPr sz="2175" b="1">
                <a:solidFill>
                  <a:srgbClr val="000000"/>
                </a:solidFill>
              </a:defRPr>
            </a:lvl8pPr>
            <a:lvl9pPr>
              <a:defRPr sz="2175" b="1">
                <a:solidFill>
                  <a:srgbClr val="000000"/>
                </a:solidFill>
              </a:defRPr>
            </a:lvl9pPr>
          </a:lstStyle>
          <a:p xmlns:a="http://schemas.openxmlformats.org/drawingml/2006/main">
            <a:pPr>
              <a:defRPr sz="2175" b="1">
                <a:solidFill>
                  <a:srgbClr val="000000"/>
                </a:solidFill>
              </a:defRPr>
            </a:pPr>
            <a:r>
              <a:rPr sz="2175" b="1">
                <a:solidFill>
                  <a:srgbClr val="000000"/>
                </a:solidFill>
              </a:rPr>
              <a:t>2. Resolve the medication and dose</a:t>
            </a:r>
          </a:p>
        </p:txBody>
      </p:sp>
      <p:sp>
        <p:nvSpPr>
          <p:cNvPr id="5" name="">
            <a:extLst xmlns:a="http://schemas.openxmlformats.org/drawingml/2006/main">
              <a:ext uri="{FF2B5EF4-FFF2-40B4-BE49-F238E27FC236}">
                <a16:creationId xmlns:a16="http://schemas.microsoft.com/office/drawing/2014/main" id="{798D9E67-37F5-43C6-BA31-B81CCA9253A9}"/>
              </a:ext>
            </a:extLst>
          </p:cNvPr>
          <p:cNvSpPr>
            <a:spLocks xmlns:a="http://schemas.openxmlformats.org/drawingml/2006/main" noGrp="1"/>
          </p:cNvSpPr>
          <p:nvPr/>
        </p:nvSpPr>
        <p:spPr>
          <a:xfrm xmlns:a="http://schemas.openxmlformats.org/drawingml/2006/main">
            <a:off x="1000125" y="294322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00000"/>
                </a:solidFill>
              </a:defRPr>
            </a:defPPr>
            <a:lvl1pPr>
              <a:defRPr sz="1950" b="0">
                <a:solidFill>
                  <a:srgbClr val="000000"/>
                </a:solidFill>
              </a:defRPr>
            </a:lvl1pPr>
            <a:lvl2pPr>
              <a:defRPr sz="1950" b="0">
                <a:solidFill>
                  <a:srgbClr val="000000"/>
                </a:solidFill>
              </a:defRPr>
            </a:lvl2pPr>
            <a:lvl3pPr>
              <a:defRPr sz="1950" b="0">
                <a:solidFill>
                  <a:srgbClr val="000000"/>
                </a:solidFill>
              </a:defRPr>
            </a:lvl3pPr>
            <a:lvl4pPr>
              <a:defRPr sz="1950" b="0">
                <a:solidFill>
                  <a:srgbClr val="000000"/>
                </a:solidFill>
              </a:defRPr>
            </a:lvl4pPr>
            <a:lvl5pPr>
              <a:defRPr sz="1950" b="0">
                <a:solidFill>
                  <a:srgbClr val="000000"/>
                </a:solidFill>
              </a:defRPr>
            </a:lvl5pPr>
            <a:lvl6pPr>
              <a:defRPr sz="1950" b="0">
                <a:solidFill>
                  <a:srgbClr val="000000"/>
                </a:solidFill>
              </a:defRPr>
            </a:lvl6pPr>
            <a:lvl7pPr>
              <a:defRPr sz="1950" b="0">
                <a:solidFill>
                  <a:srgbClr val="000000"/>
                </a:solidFill>
              </a:defRPr>
            </a:lvl7pPr>
            <a:lvl8pPr>
              <a:defRPr sz="1950" b="0">
                <a:solidFill>
                  <a:srgbClr val="000000"/>
                </a:solidFill>
              </a:defRPr>
            </a:lvl8pPr>
            <a:lvl9pPr>
              <a:defRPr sz="1950" b="0">
                <a:solidFill>
                  <a:srgbClr val="000000"/>
                </a:solidFill>
              </a:defRPr>
            </a:lvl9pPr>
          </a:lstStyle>
          <a:p xmlns:a="http://schemas.openxmlformats.org/drawingml/2006/main">
            <a:pPr>
              <a:defRPr sz="1950" b="0">
                <a:solidFill>
                  <a:srgbClr val="000000"/>
                </a:solidFill>
              </a:defRPr>
            </a:pPr>
            <a:r>
              <a:rPr sz="1950" b="0">
                <a:solidFill>
                  <a:srgbClr val="000000"/>
                </a:solidFill>
              </a:rPr>
              <a:t>Reference tables apply allergies, renal function, prior tolerance, and formulation constraints.</a:t>
            </a:r>
          </a:p>
        </p:txBody>
      </p:sp>
      <p:sp>
        <p:nvSpPr>
          <p:cNvPr id="6" name="">
            <a:extLst xmlns:a="http://schemas.openxmlformats.org/drawingml/2006/main">
              <a:ext uri="{FF2B5EF4-FFF2-40B4-BE49-F238E27FC236}">
                <a16:creationId xmlns:a16="http://schemas.microsoft.com/office/drawing/2014/main" id="{F3C41D58-D2F0-4ABE-B8E6-04AEC27DC958}"/>
              </a:ext>
            </a:extLst>
          </p:cNvPr>
          <p:cNvSpPr>
            <a:spLocks xmlns:a="http://schemas.openxmlformats.org/drawingml/2006/main" noGrp="1"/>
          </p:cNvSpPr>
          <p:nvPr/>
        </p:nvSpPr>
        <p:spPr>
          <a:xfrm xmlns:a="http://schemas.openxmlformats.org/drawingml/2006/main">
            <a:off x="666750" y="3724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0000"/>
                </a:solidFill>
              </a:defRPr>
            </a:defPPr>
            <a:lvl1pPr>
              <a:defRPr sz="2175" b="1">
                <a:solidFill>
                  <a:srgbClr val="000000"/>
                </a:solidFill>
              </a:defRPr>
            </a:lvl1pPr>
            <a:lvl2pPr>
              <a:defRPr sz="2175" b="1">
                <a:solidFill>
                  <a:srgbClr val="000000"/>
                </a:solidFill>
              </a:defRPr>
            </a:lvl2pPr>
            <a:lvl3pPr>
              <a:defRPr sz="2175" b="1">
                <a:solidFill>
                  <a:srgbClr val="000000"/>
                </a:solidFill>
              </a:defRPr>
            </a:lvl3pPr>
            <a:lvl4pPr>
              <a:defRPr sz="2175" b="1">
                <a:solidFill>
                  <a:srgbClr val="000000"/>
                </a:solidFill>
              </a:defRPr>
            </a:lvl4pPr>
            <a:lvl5pPr>
              <a:defRPr sz="2175" b="1">
                <a:solidFill>
                  <a:srgbClr val="000000"/>
                </a:solidFill>
              </a:defRPr>
            </a:lvl5pPr>
            <a:lvl6pPr>
              <a:defRPr sz="2175" b="1">
                <a:solidFill>
                  <a:srgbClr val="000000"/>
                </a:solidFill>
              </a:defRPr>
            </a:lvl6pPr>
            <a:lvl7pPr>
              <a:defRPr sz="2175" b="1">
                <a:solidFill>
                  <a:srgbClr val="000000"/>
                </a:solidFill>
              </a:defRPr>
            </a:lvl7pPr>
            <a:lvl8pPr>
              <a:defRPr sz="2175" b="1">
                <a:solidFill>
                  <a:srgbClr val="000000"/>
                </a:solidFill>
              </a:defRPr>
            </a:lvl8pPr>
            <a:lvl9pPr>
              <a:defRPr sz="2175" b="1">
                <a:solidFill>
                  <a:srgbClr val="000000"/>
                </a:solidFill>
              </a:defRPr>
            </a:lvl9pPr>
          </a:lstStyle>
          <a:p xmlns:a="http://schemas.openxmlformats.org/drawingml/2006/main">
            <a:pPr>
              <a:defRPr sz="2175" b="1">
                <a:solidFill>
                  <a:srgbClr val="000000"/>
                </a:solidFill>
              </a:defRPr>
            </a:pPr>
            <a:r>
              <a:rPr sz="2175" b="1">
                <a:solidFill>
                  <a:srgbClr val="000000"/>
                </a:solidFill>
              </a:rPr>
              <a:t>3. Run the safety pipeline</a:t>
            </a:r>
          </a:p>
        </p:txBody>
      </p:sp>
      <p:sp>
        <p:nvSpPr>
          <p:cNvPr id="7" name="">
            <a:extLst xmlns:a="http://schemas.openxmlformats.org/drawingml/2006/main">
              <a:ext uri="{FF2B5EF4-FFF2-40B4-BE49-F238E27FC236}">
                <a16:creationId xmlns:a16="http://schemas.microsoft.com/office/drawing/2014/main" id="{D7484318-A276-4F5A-83FB-CB638254BEED}"/>
              </a:ext>
            </a:extLst>
          </p:cNvPr>
          <p:cNvSpPr>
            <a:spLocks xmlns:a="http://schemas.openxmlformats.org/drawingml/2006/main" noGrp="1"/>
          </p:cNvSpPr>
          <p:nvPr/>
        </p:nvSpPr>
        <p:spPr>
          <a:xfrm xmlns:a="http://schemas.openxmlformats.org/drawingml/2006/main">
            <a:off x="1000125" y="416242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00000"/>
                </a:solidFill>
              </a:defRPr>
            </a:defPPr>
            <a:lvl1pPr>
              <a:defRPr sz="1950" b="0">
                <a:solidFill>
                  <a:srgbClr val="000000"/>
                </a:solidFill>
              </a:defRPr>
            </a:lvl1pPr>
            <a:lvl2pPr>
              <a:defRPr sz="1950" b="0">
                <a:solidFill>
                  <a:srgbClr val="000000"/>
                </a:solidFill>
              </a:defRPr>
            </a:lvl2pPr>
            <a:lvl3pPr>
              <a:defRPr sz="1950" b="0">
                <a:solidFill>
                  <a:srgbClr val="000000"/>
                </a:solidFill>
              </a:defRPr>
            </a:lvl3pPr>
            <a:lvl4pPr>
              <a:defRPr sz="1950" b="0">
                <a:solidFill>
                  <a:srgbClr val="000000"/>
                </a:solidFill>
              </a:defRPr>
            </a:lvl4pPr>
            <a:lvl5pPr>
              <a:defRPr sz="1950" b="0">
                <a:solidFill>
                  <a:srgbClr val="000000"/>
                </a:solidFill>
              </a:defRPr>
            </a:lvl5pPr>
            <a:lvl6pPr>
              <a:defRPr sz="1950" b="0">
                <a:solidFill>
                  <a:srgbClr val="000000"/>
                </a:solidFill>
              </a:defRPr>
            </a:lvl6pPr>
            <a:lvl7pPr>
              <a:defRPr sz="1950" b="0">
                <a:solidFill>
                  <a:srgbClr val="000000"/>
                </a:solidFill>
              </a:defRPr>
            </a:lvl7pPr>
            <a:lvl8pPr>
              <a:defRPr sz="1950" b="0">
                <a:solidFill>
                  <a:srgbClr val="000000"/>
                </a:solidFill>
              </a:defRPr>
            </a:lvl8pPr>
            <a:lvl9pPr>
              <a:defRPr sz="1950" b="0">
                <a:solidFill>
                  <a:srgbClr val="000000"/>
                </a:solidFill>
              </a:defRPr>
            </a:lvl9pPr>
          </a:lstStyle>
          <a:p xmlns:a="http://schemas.openxmlformats.org/drawingml/2006/main">
            <a:pPr>
              <a:defRPr sz="1950" b="0">
                <a:solidFill>
                  <a:srgbClr val="000000"/>
                </a:solidFill>
              </a:defRPr>
            </a:pPr>
            <a:r>
              <a:rPr sz="1950" b="0">
                <a:solidFill>
                  <a:srgbClr val="000000"/>
                </a:solidFill>
              </a:rPr>
              <a:t>Deterministic checks and a separate model review assess the proposed action.</a:t>
            </a:r>
          </a:p>
        </p:txBody>
      </p:sp>
      <p:sp>
        <p:nvSpPr>
          <p:cNvPr id="8" name="">
            <a:extLst xmlns:a="http://schemas.openxmlformats.org/drawingml/2006/main">
              <a:ext uri="{FF2B5EF4-FFF2-40B4-BE49-F238E27FC236}">
                <a16:creationId xmlns:a16="http://schemas.microsoft.com/office/drawing/2014/main" id="{D47A629A-377C-4E65-8FBC-C915CFF077A3}"/>
              </a:ext>
            </a:extLst>
          </p:cNvPr>
          <p:cNvSpPr>
            <a:spLocks xmlns:a="http://schemas.openxmlformats.org/drawingml/2006/main" noGrp="1"/>
          </p:cNvSpPr>
          <p:nvPr/>
        </p:nvSpPr>
        <p:spPr>
          <a:xfrm xmlns:a="http://schemas.openxmlformats.org/drawingml/2006/main">
            <a:off x="666750" y="49434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0000"/>
                </a:solidFill>
              </a:defRPr>
            </a:defPPr>
            <a:lvl1pPr>
              <a:defRPr sz="2175" b="1">
                <a:solidFill>
                  <a:srgbClr val="000000"/>
                </a:solidFill>
              </a:defRPr>
            </a:lvl1pPr>
            <a:lvl2pPr>
              <a:defRPr sz="2175" b="1">
                <a:solidFill>
                  <a:srgbClr val="000000"/>
                </a:solidFill>
              </a:defRPr>
            </a:lvl2pPr>
            <a:lvl3pPr>
              <a:defRPr sz="2175" b="1">
                <a:solidFill>
                  <a:srgbClr val="000000"/>
                </a:solidFill>
              </a:defRPr>
            </a:lvl3pPr>
            <a:lvl4pPr>
              <a:defRPr sz="2175" b="1">
                <a:solidFill>
                  <a:srgbClr val="000000"/>
                </a:solidFill>
              </a:defRPr>
            </a:lvl4pPr>
            <a:lvl5pPr>
              <a:defRPr sz="2175" b="1">
                <a:solidFill>
                  <a:srgbClr val="000000"/>
                </a:solidFill>
              </a:defRPr>
            </a:lvl5pPr>
            <a:lvl6pPr>
              <a:defRPr sz="2175" b="1">
                <a:solidFill>
                  <a:srgbClr val="000000"/>
                </a:solidFill>
              </a:defRPr>
            </a:lvl6pPr>
            <a:lvl7pPr>
              <a:defRPr sz="2175" b="1">
                <a:solidFill>
                  <a:srgbClr val="000000"/>
                </a:solidFill>
              </a:defRPr>
            </a:lvl7pPr>
            <a:lvl8pPr>
              <a:defRPr sz="2175" b="1">
                <a:solidFill>
                  <a:srgbClr val="000000"/>
                </a:solidFill>
              </a:defRPr>
            </a:lvl8pPr>
            <a:lvl9pPr>
              <a:defRPr sz="2175" b="1">
                <a:solidFill>
                  <a:srgbClr val="000000"/>
                </a:solidFill>
              </a:defRPr>
            </a:lvl9pPr>
          </a:lstStyle>
          <a:p xmlns:a="http://schemas.openxmlformats.org/drawingml/2006/main">
            <a:pPr>
              <a:defRPr sz="2175" b="1">
                <a:solidFill>
                  <a:srgbClr val="000000"/>
                </a:solidFill>
              </a:defRPr>
            </a:pPr>
            <a:r>
              <a:rPr sz="2175" b="1">
                <a:solidFill>
                  <a:srgbClr val="000000"/>
                </a:solidFill>
              </a:rPr>
              <a:t>4. Apply the authorization policy</a:t>
            </a:r>
          </a:p>
        </p:txBody>
      </p:sp>
      <p:sp>
        <p:nvSpPr>
          <p:cNvPr id="9" name="">
            <a:extLst xmlns:a="http://schemas.openxmlformats.org/drawingml/2006/main">
              <a:ext uri="{FF2B5EF4-FFF2-40B4-BE49-F238E27FC236}">
                <a16:creationId xmlns:a16="http://schemas.microsoft.com/office/drawing/2014/main" id="{8B18EBC1-AEF6-471F-B146-7AB2D6D29A6E}"/>
              </a:ext>
            </a:extLst>
          </p:cNvPr>
          <p:cNvSpPr>
            <a:spLocks xmlns:a="http://schemas.openxmlformats.org/drawingml/2006/main" noGrp="1"/>
          </p:cNvSpPr>
          <p:nvPr/>
        </p:nvSpPr>
        <p:spPr>
          <a:xfrm xmlns:a="http://schemas.openxmlformats.org/drawingml/2006/main">
            <a:off x="1000125" y="538162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00000"/>
                </a:solidFill>
              </a:defRPr>
            </a:defPPr>
            <a:lvl1pPr>
              <a:defRPr sz="1950" b="0">
                <a:solidFill>
                  <a:srgbClr val="000000"/>
                </a:solidFill>
              </a:defRPr>
            </a:lvl1pPr>
            <a:lvl2pPr>
              <a:defRPr sz="1950" b="0">
                <a:solidFill>
                  <a:srgbClr val="000000"/>
                </a:solidFill>
              </a:defRPr>
            </a:lvl2pPr>
            <a:lvl3pPr>
              <a:defRPr sz="1950" b="0">
                <a:solidFill>
                  <a:srgbClr val="000000"/>
                </a:solidFill>
              </a:defRPr>
            </a:lvl3pPr>
            <a:lvl4pPr>
              <a:defRPr sz="1950" b="0">
                <a:solidFill>
                  <a:srgbClr val="000000"/>
                </a:solidFill>
              </a:defRPr>
            </a:lvl4pPr>
            <a:lvl5pPr>
              <a:defRPr sz="1950" b="0">
                <a:solidFill>
                  <a:srgbClr val="000000"/>
                </a:solidFill>
              </a:defRPr>
            </a:lvl5pPr>
            <a:lvl6pPr>
              <a:defRPr sz="1950" b="0">
                <a:solidFill>
                  <a:srgbClr val="000000"/>
                </a:solidFill>
              </a:defRPr>
            </a:lvl6pPr>
            <a:lvl7pPr>
              <a:defRPr sz="1950" b="0">
                <a:solidFill>
                  <a:srgbClr val="000000"/>
                </a:solidFill>
              </a:defRPr>
            </a:lvl7pPr>
            <a:lvl8pPr>
              <a:defRPr sz="1950" b="0">
                <a:solidFill>
                  <a:srgbClr val="000000"/>
                </a:solidFill>
              </a:defRPr>
            </a:lvl8pPr>
            <a:lvl9pPr>
              <a:defRPr sz="1950" b="0">
                <a:solidFill>
                  <a:srgbClr val="000000"/>
                </a:solidFill>
              </a:defRPr>
            </a:lvl9pPr>
          </a:lstStyle>
          <a:p xmlns:a="http://schemas.openxmlformats.org/drawingml/2006/main">
            <a:pPr>
              <a:defRPr sz="1950" b="0">
                <a:solidFill>
                  <a:srgbClr val="000000"/>
                </a:solidFill>
              </a:defRPr>
            </a:pPr>
            <a:r>
              <a:rPr sz="1950" b="0">
                <a:solidFill>
                  <a:srgbClr val="000000"/>
                </a:solidFill>
              </a:rPr>
              <a:t>Required clinician approval precedes execution. The system records the decision and schedules follow-up.</a:t>
            </a:r>
          </a:p>
        </p:txBody>
      </p:sp>
    </p:spTree>
    <p:extLst>
      <p:ext uri="{BB962C8B-B14F-4D97-AF65-F5344CB8AC3E}">
        <p14:creationId xmlns:p14="http://schemas.microsoft.com/office/powerpoint/2010/main" val="747140384"/>
      </p:ext>
    </p:extLst>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EB9CB-D71B-F9D8-409E-8206F3AA8BA5}"/>
              </a:ext>
            </a:extLst>
          </p:cNvPr>
          <p:cNvSpPr>
            <a:spLocks noGrp="1"/>
          </p:cNvSpPr>
          <p:nvPr>
            <p:ph type="title"/>
          </p:nvPr>
        </p:nvSpPr>
        <p:spPr>
          <a:xfrm>
            <a:off x="2276263" y="89762"/>
            <a:ext cx="7735699" cy="442365"/>
          </a:xfrm>
        </p:spPr>
        <p:txBody>
          <a:bodyPr>
            <a:normAutofit fontScale="90000"/>
          </a:bodyPr>
          <a:lstStyle/>
          <a:p>
            <a:r>
              <a:rPr lang="en-US" dirty="0"/>
              <a:t>3 Layer Clinical Decision Model</a:t>
            </a:r>
          </a:p>
        </p:txBody>
      </p:sp>
      <p:sp>
        <p:nvSpPr>
          <p:cNvPr id="4" name="Rounded Rectangle 3">
            <a:extLst>
              <a:ext uri="{FF2B5EF4-FFF2-40B4-BE49-F238E27FC236}">
                <a16:creationId xmlns:a16="http://schemas.microsoft.com/office/drawing/2014/main" id="{CBCEB812-852F-964C-6F93-361F34A7F4CA}"/>
              </a:ext>
            </a:extLst>
          </p:cNvPr>
          <p:cNvSpPr/>
          <p:nvPr/>
        </p:nvSpPr>
        <p:spPr>
          <a:xfrm>
            <a:off x="4058142" y="691263"/>
            <a:ext cx="2085975" cy="753960"/>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Layer 1 - Traverse Decision Tree</a:t>
            </a:r>
          </a:p>
        </p:txBody>
      </p:sp>
      <p:sp>
        <p:nvSpPr>
          <p:cNvPr id="9" name="Diamond 8">
            <a:extLst>
              <a:ext uri="{FF2B5EF4-FFF2-40B4-BE49-F238E27FC236}">
                <a16:creationId xmlns:a16="http://schemas.microsoft.com/office/drawing/2014/main" id="{065D2D2F-5916-CF83-85CA-AD14A5C1B639}"/>
              </a:ext>
            </a:extLst>
          </p:cNvPr>
          <p:cNvSpPr/>
          <p:nvPr/>
        </p:nvSpPr>
        <p:spPr>
          <a:xfrm>
            <a:off x="4191984" y="1738254"/>
            <a:ext cx="1818290" cy="1646840"/>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chemeClr val="tx1"/>
                </a:solidFill>
              </a:rPr>
              <a:t>All nodes</a:t>
            </a:r>
          </a:p>
          <a:p>
            <a:pPr algn="ctr"/>
            <a:r>
              <a:rPr lang="en-US" sz="1600" dirty="0">
                <a:solidFill>
                  <a:schemeClr val="tx1"/>
                </a:solidFill>
              </a:rPr>
              <a:t>resolved?</a:t>
            </a:r>
          </a:p>
        </p:txBody>
      </p:sp>
      <p:sp>
        <p:nvSpPr>
          <p:cNvPr id="10" name="Rounded Rectangle 9">
            <a:extLst>
              <a:ext uri="{FF2B5EF4-FFF2-40B4-BE49-F238E27FC236}">
                <a16:creationId xmlns:a16="http://schemas.microsoft.com/office/drawing/2014/main" id="{FE5DADCD-050E-8AA5-2AB5-E0D39758D585}"/>
              </a:ext>
            </a:extLst>
          </p:cNvPr>
          <p:cNvSpPr/>
          <p:nvPr/>
        </p:nvSpPr>
        <p:spPr>
          <a:xfrm>
            <a:off x="704538" y="2200423"/>
            <a:ext cx="2219637" cy="89307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a:t>
            </a:r>
          </a:p>
          <a:p>
            <a:pPr algn="ctr"/>
            <a:r>
              <a:rPr lang="en-US" dirty="0">
                <a:solidFill>
                  <a:schemeClr val="tx1"/>
                </a:solidFill>
              </a:rPr>
              <a:t>blocked or requires judgment</a:t>
            </a:r>
          </a:p>
        </p:txBody>
      </p:sp>
      <p:sp>
        <p:nvSpPr>
          <p:cNvPr id="11" name="Rounded Rectangle 10">
            <a:extLst>
              <a:ext uri="{FF2B5EF4-FFF2-40B4-BE49-F238E27FC236}">
                <a16:creationId xmlns:a16="http://schemas.microsoft.com/office/drawing/2014/main" id="{18EFFBAA-CE99-9423-12AC-CED3C46894FD}"/>
              </a:ext>
            </a:extLst>
          </p:cNvPr>
          <p:cNvSpPr/>
          <p:nvPr/>
        </p:nvSpPr>
        <p:spPr>
          <a:xfrm>
            <a:off x="3924476" y="3694970"/>
            <a:ext cx="2219637" cy="102179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Yes</a:t>
            </a:r>
          </a:p>
          <a:p>
            <a:pPr algn="ctr"/>
            <a:r>
              <a:rPr lang="en-US" dirty="0">
                <a:solidFill>
                  <a:schemeClr val="tx1"/>
                </a:solidFill>
              </a:rPr>
              <a:t>some contextual bypasses confidence .70-.95</a:t>
            </a:r>
          </a:p>
        </p:txBody>
      </p:sp>
      <p:sp>
        <p:nvSpPr>
          <p:cNvPr id="12" name="Rounded Rectangle 11">
            <a:extLst>
              <a:ext uri="{FF2B5EF4-FFF2-40B4-BE49-F238E27FC236}">
                <a16:creationId xmlns:a16="http://schemas.microsoft.com/office/drawing/2014/main" id="{E55A853F-D424-211F-65D9-3FF82E20906D}"/>
              </a:ext>
            </a:extLst>
          </p:cNvPr>
          <p:cNvSpPr/>
          <p:nvPr/>
        </p:nvSpPr>
        <p:spPr>
          <a:xfrm>
            <a:off x="6791324" y="3722129"/>
            <a:ext cx="2085975" cy="99463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Yes</a:t>
            </a:r>
          </a:p>
          <a:p>
            <a:pPr algn="ctr"/>
            <a:r>
              <a:rPr lang="en-US" dirty="0">
                <a:solidFill>
                  <a:schemeClr val="tx1"/>
                </a:solidFill>
              </a:rPr>
              <a:t>all </a:t>
            </a:r>
            <a:r>
              <a:rPr lang="en-US" dirty="0" err="1">
                <a:solidFill>
                  <a:schemeClr val="tx1"/>
                </a:solidFill>
              </a:rPr>
              <a:t>data_lookup</a:t>
            </a:r>
            <a:r>
              <a:rPr lang="en-US" dirty="0">
                <a:solidFill>
                  <a:schemeClr val="tx1"/>
                </a:solidFill>
              </a:rPr>
              <a:t> confidence &gt; .95</a:t>
            </a:r>
          </a:p>
        </p:txBody>
      </p:sp>
      <p:sp>
        <p:nvSpPr>
          <p:cNvPr id="13" name="Rounded Rectangle 12">
            <a:extLst>
              <a:ext uri="{FF2B5EF4-FFF2-40B4-BE49-F238E27FC236}">
                <a16:creationId xmlns:a16="http://schemas.microsoft.com/office/drawing/2014/main" id="{D3171348-89A1-861A-1B2E-B89A00C9F2C7}"/>
              </a:ext>
            </a:extLst>
          </p:cNvPr>
          <p:cNvSpPr/>
          <p:nvPr/>
        </p:nvSpPr>
        <p:spPr>
          <a:xfrm>
            <a:off x="704537" y="3397302"/>
            <a:ext cx="2219637"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Falls outside tree coverage</a:t>
            </a:r>
          </a:p>
        </p:txBody>
      </p:sp>
      <p:sp>
        <p:nvSpPr>
          <p:cNvPr id="14" name="Rounded Rectangle 13">
            <a:extLst>
              <a:ext uri="{FF2B5EF4-FFF2-40B4-BE49-F238E27FC236}">
                <a16:creationId xmlns:a16="http://schemas.microsoft.com/office/drawing/2014/main" id="{E683EAF9-008E-FA45-34D0-74EB4BED7236}"/>
              </a:ext>
            </a:extLst>
          </p:cNvPr>
          <p:cNvSpPr/>
          <p:nvPr/>
        </p:nvSpPr>
        <p:spPr>
          <a:xfrm>
            <a:off x="4010025" y="5096103"/>
            <a:ext cx="2085975" cy="75396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Layer 3 - Clinician review</a:t>
            </a:r>
          </a:p>
        </p:txBody>
      </p:sp>
      <p:sp>
        <p:nvSpPr>
          <p:cNvPr id="15" name="Rounded Rectangle 14">
            <a:extLst>
              <a:ext uri="{FF2B5EF4-FFF2-40B4-BE49-F238E27FC236}">
                <a16:creationId xmlns:a16="http://schemas.microsoft.com/office/drawing/2014/main" id="{D366595E-8591-6EAD-C85C-BA4B934424E6}"/>
              </a:ext>
            </a:extLst>
          </p:cNvPr>
          <p:cNvSpPr/>
          <p:nvPr/>
        </p:nvSpPr>
        <p:spPr>
          <a:xfrm>
            <a:off x="6791324" y="4928256"/>
            <a:ext cx="2085975"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Auto approvable</a:t>
            </a:r>
          </a:p>
        </p:txBody>
      </p:sp>
      <p:sp>
        <p:nvSpPr>
          <p:cNvPr id="18" name="Rounded Rectangle 17">
            <a:extLst>
              <a:ext uri="{FF2B5EF4-FFF2-40B4-BE49-F238E27FC236}">
                <a16:creationId xmlns:a16="http://schemas.microsoft.com/office/drawing/2014/main" id="{AC655BED-54F2-290E-3244-E06D3BAFAA08}"/>
              </a:ext>
            </a:extLst>
          </p:cNvPr>
          <p:cNvSpPr/>
          <p:nvPr/>
        </p:nvSpPr>
        <p:spPr>
          <a:xfrm>
            <a:off x="6791324" y="5823264"/>
            <a:ext cx="2085975"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Safety Pipeline</a:t>
            </a:r>
          </a:p>
        </p:txBody>
      </p:sp>
      <p:sp>
        <p:nvSpPr>
          <p:cNvPr id="19" name="Rounded Rectangle 18">
            <a:extLst>
              <a:ext uri="{FF2B5EF4-FFF2-40B4-BE49-F238E27FC236}">
                <a16:creationId xmlns:a16="http://schemas.microsoft.com/office/drawing/2014/main" id="{1AE6018E-993D-AFB7-8F29-E06B4004D9D1}"/>
              </a:ext>
            </a:extLst>
          </p:cNvPr>
          <p:cNvSpPr/>
          <p:nvPr/>
        </p:nvSpPr>
        <p:spPr>
          <a:xfrm>
            <a:off x="698324" y="4323019"/>
            <a:ext cx="2219637" cy="75396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Layer 2 – RAG Guided</a:t>
            </a:r>
          </a:p>
        </p:txBody>
      </p:sp>
      <p:cxnSp>
        <p:nvCxnSpPr>
          <p:cNvPr id="28" name="Straight Arrow Connector 27">
            <a:extLst>
              <a:ext uri="{FF2B5EF4-FFF2-40B4-BE49-F238E27FC236}">
                <a16:creationId xmlns:a16="http://schemas.microsoft.com/office/drawing/2014/main" id="{80916406-3303-E9A8-87B3-179E38C553F8}"/>
              </a:ext>
            </a:extLst>
          </p:cNvPr>
          <p:cNvCxnSpPr>
            <a:cxnSpLocks/>
            <a:endCxn id="10" idx="3"/>
          </p:cNvCxnSpPr>
          <p:nvPr/>
        </p:nvCxnSpPr>
        <p:spPr>
          <a:xfrm flipH="1">
            <a:off x="2924175" y="2575759"/>
            <a:ext cx="1267809" cy="7120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B85402A4-93E9-E316-6460-9219B23D7532}"/>
              </a:ext>
            </a:extLst>
          </p:cNvPr>
          <p:cNvCxnSpPr>
            <a:cxnSpLocks/>
          </p:cNvCxnSpPr>
          <p:nvPr/>
        </p:nvCxnSpPr>
        <p:spPr>
          <a:xfrm>
            <a:off x="5119241" y="1445223"/>
            <a:ext cx="0" cy="28999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3CDD52E7-FE6A-1A47-C098-45467B9D946B}"/>
              </a:ext>
            </a:extLst>
          </p:cNvPr>
          <p:cNvCxnSpPr>
            <a:cxnSpLocks/>
            <a:stCxn id="9" idx="3"/>
            <a:endCxn id="12" idx="0"/>
          </p:cNvCxnSpPr>
          <p:nvPr/>
        </p:nvCxnSpPr>
        <p:spPr>
          <a:xfrm>
            <a:off x="6010274" y="2561674"/>
            <a:ext cx="1824038" cy="1160455"/>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0F2D4C93-6145-A23F-2C6D-23B0F569BF3C}"/>
              </a:ext>
            </a:extLst>
          </p:cNvPr>
          <p:cNvCxnSpPr>
            <a:cxnSpLocks/>
          </p:cNvCxnSpPr>
          <p:nvPr/>
        </p:nvCxnSpPr>
        <p:spPr>
          <a:xfrm>
            <a:off x="5119241" y="3385094"/>
            <a:ext cx="0" cy="28999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CCD2BB99-96E4-16CC-8820-7CB0501C979B}"/>
              </a:ext>
            </a:extLst>
          </p:cNvPr>
          <p:cNvCxnSpPr>
            <a:cxnSpLocks/>
          </p:cNvCxnSpPr>
          <p:nvPr/>
        </p:nvCxnSpPr>
        <p:spPr>
          <a:xfrm flipH="1">
            <a:off x="1814355" y="3139002"/>
            <a:ext cx="8233" cy="246092"/>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48" name="Rounded Rectangle 47">
            <a:extLst>
              <a:ext uri="{FF2B5EF4-FFF2-40B4-BE49-F238E27FC236}">
                <a16:creationId xmlns:a16="http://schemas.microsoft.com/office/drawing/2014/main" id="{341B9928-AD39-BB19-44F0-7F6A9D2B82E6}"/>
              </a:ext>
            </a:extLst>
          </p:cNvPr>
          <p:cNvSpPr/>
          <p:nvPr/>
        </p:nvSpPr>
        <p:spPr>
          <a:xfrm>
            <a:off x="9267825" y="5850063"/>
            <a:ext cx="2085975" cy="75396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Execute or queue for clinician</a:t>
            </a:r>
          </a:p>
        </p:txBody>
      </p:sp>
      <p:cxnSp>
        <p:nvCxnSpPr>
          <p:cNvPr id="49" name="Straight Arrow Connector 48">
            <a:extLst>
              <a:ext uri="{FF2B5EF4-FFF2-40B4-BE49-F238E27FC236}">
                <a16:creationId xmlns:a16="http://schemas.microsoft.com/office/drawing/2014/main" id="{64288CC0-50A0-2ED7-DE30-0C78C59C0683}"/>
              </a:ext>
            </a:extLst>
          </p:cNvPr>
          <p:cNvCxnSpPr>
            <a:cxnSpLocks/>
          </p:cNvCxnSpPr>
          <p:nvPr/>
        </p:nvCxnSpPr>
        <p:spPr>
          <a:xfrm>
            <a:off x="7834311" y="4708114"/>
            <a:ext cx="0" cy="28999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4FC5C567-C6CA-7F60-C080-465EE611DD9C}"/>
              </a:ext>
            </a:extLst>
          </p:cNvPr>
          <p:cNvCxnSpPr>
            <a:cxnSpLocks/>
          </p:cNvCxnSpPr>
          <p:nvPr/>
        </p:nvCxnSpPr>
        <p:spPr>
          <a:xfrm>
            <a:off x="7834311" y="5606472"/>
            <a:ext cx="0" cy="28999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9487B53D-641C-A83A-EA9B-B8467B4B5B6F}"/>
              </a:ext>
            </a:extLst>
          </p:cNvPr>
          <p:cNvCxnSpPr>
            <a:cxnSpLocks/>
          </p:cNvCxnSpPr>
          <p:nvPr/>
        </p:nvCxnSpPr>
        <p:spPr>
          <a:xfrm>
            <a:off x="5039030" y="4732631"/>
            <a:ext cx="0" cy="28999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F9B7E4E8-1717-F60C-664C-C1BC478029CF}"/>
              </a:ext>
            </a:extLst>
          </p:cNvPr>
          <p:cNvCxnSpPr>
            <a:cxnSpLocks/>
            <a:endCxn id="19" idx="0"/>
          </p:cNvCxnSpPr>
          <p:nvPr/>
        </p:nvCxnSpPr>
        <p:spPr>
          <a:xfrm>
            <a:off x="1808143" y="4113592"/>
            <a:ext cx="0" cy="209427"/>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a:extLst>
              <a:ext uri="{FF2B5EF4-FFF2-40B4-BE49-F238E27FC236}">
                <a16:creationId xmlns:a16="http://schemas.microsoft.com/office/drawing/2014/main" id="{42CD9480-0187-9EB6-851D-05FBC17F44D4}"/>
              </a:ext>
            </a:extLst>
          </p:cNvPr>
          <p:cNvCxnSpPr>
            <a:cxnSpLocks/>
          </p:cNvCxnSpPr>
          <p:nvPr/>
        </p:nvCxnSpPr>
        <p:spPr>
          <a:xfrm>
            <a:off x="8877299" y="6200244"/>
            <a:ext cx="478757"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59" name="Rounded Rectangle 58">
            <a:extLst>
              <a:ext uri="{FF2B5EF4-FFF2-40B4-BE49-F238E27FC236}">
                <a16:creationId xmlns:a16="http://schemas.microsoft.com/office/drawing/2014/main" id="{DB9D81B0-BE64-CF7D-8093-F38A648DAE75}"/>
              </a:ext>
            </a:extLst>
          </p:cNvPr>
          <p:cNvSpPr/>
          <p:nvPr/>
        </p:nvSpPr>
        <p:spPr>
          <a:xfrm>
            <a:off x="708652" y="5160889"/>
            <a:ext cx="2219637" cy="7539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Recommendation with citations</a:t>
            </a:r>
          </a:p>
        </p:txBody>
      </p:sp>
      <p:sp>
        <p:nvSpPr>
          <p:cNvPr id="60" name="Rounded Rectangle 59">
            <a:extLst>
              <a:ext uri="{FF2B5EF4-FFF2-40B4-BE49-F238E27FC236}">
                <a16:creationId xmlns:a16="http://schemas.microsoft.com/office/drawing/2014/main" id="{2A2809F9-6368-2B2C-F13C-7EA6FA158059}"/>
              </a:ext>
            </a:extLst>
          </p:cNvPr>
          <p:cNvSpPr/>
          <p:nvPr/>
        </p:nvSpPr>
        <p:spPr>
          <a:xfrm>
            <a:off x="708652" y="6020446"/>
            <a:ext cx="2085975" cy="75396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Layer 3 - Clinician review</a:t>
            </a:r>
          </a:p>
        </p:txBody>
      </p:sp>
      <p:cxnSp>
        <p:nvCxnSpPr>
          <p:cNvPr id="63" name="Straight Arrow Connector 62">
            <a:extLst>
              <a:ext uri="{FF2B5EF4-FFF2-40B4-BE49-F238E27FC236}">
                <a16:creationId xmlns:a16="http://schemas.microsoft.com/office/drawing/2014/main" id="{F2BEF6ED-5A77-1049-48B2-801978261272}"/>
              </a:ext>
            </a:extLst>
          </p:cNvPr>
          <p:cNvCxnSpPr>
            <a:cxnSpLocks/>
          </p:cNvCxnSpPr>
          <p:nvPr/>
        </p:nvCxnSpPr>
        <p:spPr>
          <a:xfrm>
            <a:off x="1808142" y="5056175"/>
            <a:ext cx="0" cy="209427"/>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64" name="Straight Arrow Connector 63">
            <a:extLst>
              <a:ext uri="{FF2B5EF4-FFF2-40B4-BE49-F238E27FC236}">
                <a16:creationId xmlns:a16="http://schemas.microsoft.com/office/drawing/2014/main" id="{646C379C-C303-528C-2006-8FF0CAF0C900}"/>
              </a:ext>
            </a:extLst>
          </p:cNvPr>
          <p:cNvCxnSpPr>
            <a:cxnSpLocks/>
          </p:cNvCxnSpPr>
          <p:nvPr/>
        </p:nvCxnSpPr>
        <p:spPr>
          <a:xfrm>
            <a:off x="1751639" y="5914849"/>
            <a:ext cx="0" cy="209427"/>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39469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4923A-A17C-1C93-80BA-CE00211DA08C}"/>
              </a:ext>
            </a:extLst>
          </p:cNvPr>
          <p:cNvSpPr>
            <a:spLocks noGrp="1"/>
          </p:cNvSpPr>
          <p:nvPr>
            <p:ph type="title"/>
          </p:nvPr>
        </p:nvSpPr>
        <p:spPr>
          <a:xfrm>
            <a:off x="838200" y="365125"/>
            <a:ext cx="10515600" cy="821991"/>
          </a:xfrm>
        </p:spPr>
        <p:txBody>
          <a:bodyPr/>
          <a:lstStyle/>
          <a:p>
            <a:r>
              <a:rPr lang="en-US" dirty="0"/>
              <a:t>RAG Uses – patient and clinical</a:t>
            </a:r>
          </a:p>
        </p:txBody>
      </p:sp>
      <p:sp>
        <p:nvSpPr>
          <p:cNvPr id="3" name="Content Placeholder 2">
            <a:extLst>
              <a:ext uri="{FF2B5EF4-FFF2-40B4-BE49-F238E27FC236}">
                <a16:creationId xmlns:a16="http://schemas.microsoft.com/office/drawing/2014/main" id="{8A841D26-3A07-542A-71E4-74932AB4F9DF}"/>
              </a:ext>
            </a:extLst>
          </p:cNvPr>
          <p:cNvSpPr>
            <a:spLocks noGrp="1"/>
          </p:cNvSpPr>
          <p:nvPr>
            <p:ph idx="1"/>
          </p:nvPr>
        </p:nvSpPr>
        <p:spPr>
          <a:xfrm>
            <a:off x="838200" y="1310583"/>
            <a:ext cx="10515600" cy="4993964"/>
          </a:xfrm>
        </p:spPr>
        <p:txBody>
          <a:bodyPr>
            <a:noAutofit/>
          </a:bodyPr>
          <a:lstStyle/>
          <a:p>
            <a:pPr marL="0" indent="0">
              <a:buNone/>
            </a:pPr>
            <a:r>
              <a:rPr lang="en-US" sz="2100" b="1" dirty="0"/>
              <a:t>Patient communication</a:t>
            </a:r>
          </a:p>
          <a:p>
            <a:r>
              <a:rPr lang="en-US" sz="2100" dirty="0"/>
              <a:t>Patient education ("What does Stage 2 hypertension mean?")</a:t>
            </a:r>
          </a:p>
          <a:p>
            <a:pPr lvl="0"/>
            <a:r>
              <a:rPr lang="en-US" sz="2100" dirty="0"/>
              <a:t>Side effect counseling ("I've been having swollen ankles")</a:t>
            </a:r>
          </a:p>
          <a:p>
            <a:pPr lvl="0"/>
            <a:r>
              <a:rPr lang="en-US" sz="2100" dirty="0"/>
              <a:t>Lifestyle coaching ("What dietary changes help?")</a:t>
            </a:r>
          </a:p>
          <a:p>
            <a:pPr lvl="0"/>
            <a:r>
              <a:rPr lang="en-US" sz="2100" dirty="0"/>
              <a:t>Drug explanations ("Why was I started on this drug?")</a:t>
            </a:r>
          </a:p>
          <a:p>
            <a:pPr lvl="0"/>
            <a:r>
              <a:rPr lang="en-US" sz="2100" dirty="0"/>
              <a:t>Decision justification ("Why this drug instead of another?")</a:t>
            </a:r>
          </a:p>
          <a:p>
            <a:pPr marL="0" indent="0">
              <a:buNone/>
            </a:pPr>
            <a:r>
              <a:rPr lang="en-US" sz="2100" dirty="0"/>
              <a:t> </a:t>
            </a:r>
          </a:p>
          <a:p>
            <a:pPr marL="0" indent="0">
              <a:buNone/>
            </a:pPr>
            <a:r>
              <a:rPr lang="en-US" sz="2100" b="1" dirty="0"/>
              <a:t>Clinical reasoning</a:t>
            </a:r>
            <a:endParaRPr lang="en-US" sz="2100" dirty="0"/>
          </a:p>
          <a:p>
            <a:pPr lvl="0"/>
            <a:r>
              <a:rPr lang="en-US" sz="2100" dirty="0"/>
              <a:t>Side effect-driven drug changes (e.g. no tree covers "controlled but needs to switch")</a:t>
            </a:r>
          </a:p>
          <a:p>
            <a:pPr lvl="0"/>
            <a:r>
              <a:rPr lang="en-US" sz="2100" dirty="0"/>
              <a:t>Lab-driven dose adjustments ("K+ is 5.1 on </a:t>
            </a:r>
            <a:r>
              <a:rPr lang="en-US" sz="2100" dirty="0" err="1"/>
              <a:t>ACEi</a:t>
            </a:r>
            <a:r>
              <a:rPr lang="en-US" sz="2100" dirty="0"/>
              <a:t>, what to do?")</a:t>
            </a:r>
          </a:p>
          <a:p>
            <a:pPr lvl="0"/>
            <a:r>
              <a:rPr lang="en-US" sz="2100" dirty="0"/>
              <a:t>Comorbidity-specific nuances (diabetes + thiazide metabolic effects)</a:t>
            </a:r>
          </a:p>
          <a:p>
            <a:endParaRPr lang="en-US" sz="2100" dirty="0"/>
          </a:p>
        </p:txBody>
      </p:sp>
    </p:spTree>
    <p:extLst>
      <p:ext uri="{BB962C8B-B14F-4D97-AF65-F5344CB8AC3E}">
        <p14:creationId xmlns:p14="http://schemas.microsoft.com/office/powerpoint/2010/main" val="36889386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9988C-7D3A-85F9-BDD1-D44F933F1900}"/>
              </a:ext>
            </a:extLst>
          </p:cNvPr>
          <p:cNvSpPr>
            <a:spLocks noGrp="1"/>
          </p:cNvSpPr>
          <p:nvPr>
            <p:ph type="title"/>
          </p:nvPr>
        </p:nvSpPr>
        <p:spPr>
          <a:xfrm>
            <a:off x="838200" y="365126"/>
            <a:ext cx="10515600" cy="617008"/>
          </a:xfrm>
        </p:spPr>
        <p:txBody>
          <a:bodyPr>
            <a:normAutofit fontScale="90000"/>
          </a:bodyPr>
          <a:lstStyle/>
          <a:p>
            <a:r>
              <a:rPr lang="en-US" dirty="0"/>
              <a:t>RAG Constraints</a:t>
            </a:r>
          </a:p>
        </p:txBody>
      </p:sp>
      <p:sp>
        <p:nvSpPr>
          <p:cNvPr id="3" name="Content Placeholder 2">
            <a:extLst>
              <a:ext uri="{FF2B5EF4-FFF2-40B4-BE49-F238E27FC236}">
                <a16:creationId xmlns:a16="http://schemas.microsoft.com/office/drawing/2014/main" id="{6A88249A-CA72-64C6-90C1-AC800099EA75}"/>
              </a:ext>
            </a:extLst>
          </p:cNvPr>
          <p:cNvSpPr>
            <a:spLocks noGrp="1"/>
          </p:cNvSpPr>
          <p:nvPr>
            <p:ph idx="1"/>
          </p:nvPr>
        </p:nvSpPr>
        <p:spPr>
          <a:xfrm>
            <a:off x="838200" y="1253331"/>
            <a:ext cx="10515600" cy="4351338"/>
          </a:xfrm>
        </p:spPr>
        <p:txBody>
          <a:bodyPr>
            <a:normAutofit/>
          </a:bodyPr>
          <a:lstStyle/>
          <a:p>
            <a:r>
              <a:rPr lang="en-US" sz="2200" dirty="0"/>
              <a:t>Layer 2 recommendations ALWAYS go to clinician review -- never autonomous</a:t>
            </a:r>
          </a:p>
          <a:p>
            <a:r>
              <a:rPr lang="en-US" sz="2200" dirty="0"/>
              <a:t>LLM can only cite from uploaded guidelines, not training data</a:t>
            </a:r>
          </a:p>
          <a:p>
            <a:r>
              <a:rPr lang="en-US" sz="2200" dirty="0"/>
              <a:t>All citations are verified against retrieved chunks before output</a:t>
            </a:r>
          </a:p>
          <a:p>
            <a:r>
              <a:rPr lang="en-US" sz="2200" dirty="0"/>
              <a:t>Safety layer still runs on Layer 2 recommendations</a:t>
            </a:r>
          </a:p>
          <a:p>
            <a:r>
              <a:rPr lang="en-US" sz="2200" dirty="0"/>
              <a:t>Audit trail captures exact quotes the AI relied on + retrieval metadata</a:t>
            </a:r>
          </a:p>
          <a:p>
            <a:r>
              <a:rPr lang="en-US" sz="2200" dirty="0"/>
              <a:t>If guidelines don't address a scenario, AI says "insufficient guidance" (Layer 3)</a:t>
            </a:r>
          </a:p>
          <a:p>
            <a:endParaRPr lang="en-US" sz="2200" dirty="0"/>
          </a:p>
        </p:txBody>
      </p:sp>
    </p:spTree>
    <p:extLst>
      <p:ext uri="{BB962C8B-B14F-4D97-AF65-F5344CB8AC3E}">
        <p14:creationId xmlns:p14="http://schemas.microsoft.com/office/powerpoint/2010/main" val="2268389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676C2-02DE-2BA2-247F-FE2AF934F5E5}"/>
              </a:ext>
            </a:extLst>
          </p:cNvPr>
          <p:cNvSpPr>
            <a:spLocks noGrp="1"/>
          </p:cNvSpPr>
          <p:nvPr>
            <p:ph type="title"/>
          </p:nvPr>
        </p:nvSpPr>
        <p:spPr>
          <a:xfrm>
            <a:off x="320841" y="18256"/>
            <a:ext cx="11662611" cy="981870"/>
          </a:xfrm>
        </p:spPr>
        <p:txBody>
          <a:bodyPr>
            <a:normAutofit fontScale="90000"/>
          </a:bodyPr>
          <a:lstStyle/>
          <a:p>
            <a:r>
              <a:rPr lang="en-US" dirty="0"/>
              <a:t>Safety Layer – deterministic checks + LLM-as-judge</a:t>
            </a:r>
          </a:p>
        </p:txBody>
      </p:sp>
      <p:sp>
        <p:nvSpPr>
          <p:cNvPr id="3" name="Content Placeholder 2">
            <a:extLst>
              <a:ext uri="{FF2B5EF4-FFF2-40B4-BE49-F238E27FC236}">
                <a16:creationId xmlns:a16="http://schemas.microsoft.com/office/drawing/2014/main" id="{986DDE70-BB01-9CF9-C44B-7597FF2BAE7E}"/>
              </a:ext>
            </a:extLst>
          </p:cNvPr>
          <p:cNvSpPr>
            <a:spLocks noGrp="1"/>
          </p:cNvSpPr>
          <p:nvPr>
            <p:ph idx="1"/>
          </p:nvPr>
        </p:nvSpPr>
        <p:spPr>
          <a:xfrm>
            <a:off x="838200" y="1125538"/>
            <a:ext cx="10515600" cy="5259220"/>
          </a:xfrm>
        </p:spPr>
        <p:txBody>
          <a:bodyPr>
            <a:normAutofit fontScale="85000" lnSpcReduction="20000"/>
          </a:bodyPr>
          <a:lstStyle/>
          <a:p>
            <a:pPr marL="514350" indent="-514350">
              <a:buFont typeface="+mj-lt"/>
              <a:buAutoNum type="arabicPeriod"/>
            </a:pPr>
            <a:r>
              <a:rPr lang="en-US" dirty="0"/>
              <a:t>Dangerous combination (e.g. </a:t>
            </a:r>
            <a:r>
              <a:rPr lang="en-US" dirty="0" err="1"/>
              <a:t>ACEi</a:t>
            </a:r>
            <a:r>
              <a:rPr lang="en-US" dirty="0"/>
              <a:t> + ARB)</a:t>
            </a:r>
          </a:p>
          <a:p>
            <a:pPr marL="514350" indent="-514350">
              <a:buFont typeface="+mj-lt"/>
              <a:buAutoNum type="arabicPeriod"/>
            </a:pPr>
            <a:r>
              <a:rPr lang="en-US" dirty="0"/>
              <a:t>Allergy (matches proposed drug and class against allergy list)</a:t>
            </a:r>
          </a:p>
          <a:p>
            <a:pPr marL="514350" indent="-514350">
              <a:buFont typeface="+mj-lt"/>
              <a:buAutoNum type="arabicPeriod"/>
            </a:pPr>
            <a:r>
              <a:rPr lang="en-US" dirty="0"/>
              <a:t>Contraindications (e.g. severe asthma for BB)</a:t>
            </a:r>
          </a:p>
          <a:p>
            <a:pPr marL="514350" indent="-514350">
              <a:buFont typeface="+mj-lt"/>
              <a:buAutoNum type="arabicPeriod"/>
            </a:pPr>
            <a:r>
              <a:rPr lang="en-US" dirty="0"/>
              <a:t>Lab safety (K, GFR, </a:t>
            </a:r>
            <a:r>
              <a:rPr lang="en-US" dirty="0" err="1"/>
              <a:t>hCG</a:t>
            </a:r>
            <a:r>
              <a:rPr lang="en-US" dirty="0"/>
              <a:t>)</a:t>
            </a:r>
          </a:p>
          <a:p>
            <a:pPr marL="514350" indent="-514350">
              <a:buFont typeface="+mj-lt"/>
              <a:buAutoNum type="arabicPeriod"/>
            </a:pPr>
            <a:r>
              <a:rPr lang="en-US" dirty="0"/>
              <a:t>Hypotension and orthostatic risk (recent readings, fall risk)</a:t>
            </a:r>
          </a:p>
          <a:p>
            <a:pPr marL="514350" indent="-514350">
              <a:buFont typeface="+mj-lt"/>
              <a:buAutoNum type="arabicPeriod"/>
            </a:pPr>
            <a:r>
              <a:rPr lang="en-US" dirty="0"/>
              <a:t>Side effect history (matches proposed against intolerance list)</a:t>
            </a:r>
          </a:p>
          <a:p>
            <a:pPr marL="514350" indent="-514350">
              <a:buFont typeface="+mj-lt"/>
              <a:buAutoNum type="arabicPeriod"/>
            </a:pPr>
            <a:r>
              <a:rPr lang="en-US" dirty="0"/>
              <a:t>Drug interactions (e.g. thiazide + lithium)</a:t>
            </a:r>
          </a:p>
          <a:p>
            <a:pPr marL="514350" indent="-514350">
              <a:buFont typeface="+mj-lt"/>
              <a:buAutoNum type="arabicPeriod"/>
            </a:pPr>
            <a:r>
              <a:rPr lang="en-US" dirty="0"/>
              <a:t>Dose ceiling check</a:t>
            </a:r>
          </a:p>
          <a:p>
            <a:pPr marL="514350" indent="-514350">
              <a:buFont typeface="+mj-lt"/>
              <a:buAutoNum type="arabicPeriod"/>
            </a:pPr>
            <a:r>
              <a:rPr lang="en-US" dirty="0"/>
              <a:t>Renal dosing adjustment (e.g. if GFR &lt; 30 start </a:t>
            </a:r>
            <a:r>
              <a:rPr lang="en-US" dirty="0" err="1"/>
              <a:t>ACEi</a:t>
            </a:r>
            <a:r>
              <a:rPr lang="en-US" dirty="0"/>
              <a:t> at lowest dose)</a:t>
            </a:r>
          </a:p>
          <a:p>
            <a:pPr marL="514350" indent="-514350">
              <a:buFont typeface="+mj-lt"/>
              <a:buAutoNum type="arabicPeriod"/>
            </a:pPr>
            <a:r>
              <a:rPr lang="en-US" dirty="0"/>
              <a:t>LLM-as-judge</a:t>
            </a:r>
          </a:p>
          <a:p>
            <a:pPr lvl="1"/>
            <a:r>
              <a:rPr lang="en-US" sz="2800" dirty="0"/>
              <a:t>Approve, caution, reject</a:t>
            </a:r>
          </a:p>
          <a:p>
            <a:pPr lvl="1"/>
            <a:r>
              <a:rPr lang="en-US" sz="2800" dirty="0"/>
              <a:t>Receives patient context, proposed action, decision tree path and/or RAG citations, and results of all 9 preceding safety checks)</a:t>
            </a:r>
          </a:p>
          <a:p>
            <a:pPr lvl="1"/>
            <a:r>
              <a:rPr lang="en-US" sz="2800" dirty="0"/>
              <a:t>Model from different vendor</a:t>
            </a:r>
          </a:p>
          <a:p>
            <a:endParaRPr lang="en-US" dirty="0"/>
          </a:p>
        </p:txBody>
      </p:sp>
    </p:spTree>
    <p:extLst>
      <p:ext uri="{BB962C8B-B14F-4D97-AF65-F5344CB8AC3E}">
        <p14:creationId xmlns:p14="http://schemas.microsoft.com/office/powerpoint/2010/main" val="1216114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53E965-C9DE-8897-2B7A-1CAF39C17A2E}"/>
              </a:ext>
            </a:extLst>
          </p:cNvPr>
          <p:cNvSpPr>
            <a:spLocks noGrp="1"/>
          </p:cNvSpPr>
          <p:nvPr>
            <p:ph idx="1"/>
          </p:nvPr>
        </p:nvSpPr>
        <p:spPr>
          <a:xfrm>
            <a:off x="366505" y="-43947"/>
            <a:ext cx="11458990" cy="485107"/>
          </a:xfrm>
        </p:spPr>
        <p:txBody>
          <a:bodyPr/>
          <a:lstStyle/>
          <a:p>
            <a:r>
              <a:rPr lang="en-US" sz="2200" dirty="0"/>
              <a:t>Failure 1: Missed emergency (hypertensive emergency, chest pain)</a:t>
            </a:r>
            <a:endParaRPr lang="en-US" dirty="0"/>
          </a:p>
          <a:p>
            <a:endParaRPr lang="en-US" dirty="0"/>
          </a:p>
        </p:txBody>
      </p:sp>
      <p:graphicFrame>
        <p:nvGraphicFramePr>
          <p:cNvPr id="4" name="Table 3">
            <a:extLst>
              <a:ext uri="{FF2B5EF4-FFF2-40B4-BE49-F238E27FC236}">
                <a16:creationId xmlns:a16="http://schemas.microsoft.com/office/drawing/2014/main" id="{B6B3111A-0152-8B2F-AD7D-2BA200F771C2}"/>
              </a:ext>
            </a:extLst>
          </p:cNvPr>
          <p:cNvGraphicFramePr>
            <a:graphicFrameLocks noGrp="1"/>
          </p:cNvGraphicFramePr>
          <p:nvPr>
            <p:extLst>
              <p:ext uri="{D42A27DB-BD31-4B8C-83A1-F6EECF244321}">
                <p14:modId xmlns:p14="http://schemas.microsoft.com/office/powerpoint/2010/main" val="2589482585"/>
              </p:ext>
            </p:extLst>
          </p:nvPr>
        </p:nvGraphicFramePr>
        <p:xfrm>
          <a:off x="0" y="360950"/>
          <a:ext cx="12191999" cy="6120061"/>
        </p:xfrm>
        <a:graphic>
          <a:graphicData uri="http://schemas.openxmlformats.org/drawingml/2006/table">
            <a:tbl>
              <a:tblPr firstRow="1" firstCol="1" bandRow="1">
                <a:tableStyleId>{5C22544A-7EE6-4342-B048-85BDC9FD1C3A}</a:tableStyleId>
              </a:tblPr>
              <a:tblGrid>
                <a:gridCol w="2338102">
                  <a:extLst>
                    <a:ext uri="{9D8B030D-6E8A-4147-A177-3AD203B41FA5}">
                      <a16:colId xmlns:a16="http://schemas.microsoft.com/office/drawing/2014/main" val="130075565"/>
                    </a:ext>
                  </a:extLst>
                </a:gridCol>
                <a:gridCol w="4091354">
                  <a:extLst>
                    <a:ext uri="{9D8B030D-6E8A-4147-A177-3AD203B41FA5}">
                      <a16:colId xmlns:a16="http://schemas.microsoft.com/office/drawing/2014/main" val="633681660"/>
                    </a:ext>
                  </a:extLst>
                </a:gridCol>
                <a:gridCol w="2839589">
                  <a:extLst>
                    <a:ext uri="{9D8B030D-6E8A-4147-A177-3AD203B41FA5}">
                      <a16:colId xmlns:a16="http://schemas.microsoft.com/office/drawing/2014/main" val="1224734839"/>
                    </a:ext>
                  </a:extLst>
                </a:gridCol>
                <a:gridCol w="2922954">
                  <a:extLst>
                    <a:ext uri="{9D8B030D-6E8A-4147-A177-3AD203B41FA5}">
                      <a16:colId xmlns:a16="http://schemas.microsoft.com/office/drawing/2014/main" val="1688392180"/>
                    </a:ext>
                  </a:extLst>
                </a:gridCol>
              </a:tblGrid>
              <a:tr h="433155">
                <a:tc>
                  <a:txBody>
                    <a:bodyPr/>
                    <a:lstStyle/>
                    <a:p>
                      <a:pPr marL="0" marR="0">
                        <a:buNone/>
                      </a:pPr>
                      <a:r>
                        <a:rPr lang="en-US" sz="1700">
                          <a:effectLst/>
                          <a:latin typeface="Aptos" panose="020B0004020202020204" pitchFamily="34" charset="0"/>
                        </a:rPr>
                        <a:t>Defense layer</a:t>
                      </a:r>
                      <a:endParaRPr lang="en-US" sz="170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dirty="0">
                          <a:effectLst/>
                          <a:latin typeface="Aptos" panose="020B0004020202020204" pitchFamily="34" charset="0"/>
                        </a:rPr>
                        <a:t>Mechanism</a:t>
                      </a:r>
                      <a:endParaRPr lang="en-US" sz="1700" dirty="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a:effectLst/>
                          <a:latin typeface="Aptos" panose="020B0004020202020204" pitchFamily="34" charset="0"/>
                        </a:rPr>
                        <a:t>Catches</a:t>
                      </a:r>
                      <a:endParaRPr lang="en-US" sz="170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a:effectLst/>
                          <a:latin typeface="Aptos" panose="020B0004020202020204" pitchFamily="34" charset="0"/>
                        </a:rPr>
                        <a:t>Can fail?</a:t>
                      </a:r>
                      <a:endParaRPr lang="en-US" sz="1700">
                        <a:effectLst/>
                        <a:latin typeface="Aptos" panose="020B0004020202020204" pitchFamily="34" charset="0"/>
                        <a:ea typeface="Times New Roman" panose="02020603050405020304" pitchFamily="18" charset="0"/>
                      </a:endParaRPr>
                    </a:p>
                  </a:txBody>
                  <a:tcPr marL="83036" marR="83036" marT="55357" marB="55357"/>
                </a:tc>
                <a:extLst>
                  <a:ext uri="{0D108BD9-81ED-4DB2-BD59-A6C34878D82A}">
                    <a16:rowId xmlns:a16="http://schemas.microsoft.com/office/drawing/2014/main" val="211134243"/>
                  </a:ext>
                </a:extLst>
              </a:tr>
              <a:tr h="1313438">
                <a:tc>
                  <a:txBody>
                    <a:bodyPr/>
                    <a:lstStyle/>
                    <a:p>
                      <a:pPr marL="0" marR="0">
                        <a:buNone/>
                      </a:pPr>
                      <a:r>
                        <a:rPr lang="en-US" sz="1700" dirty="0">
                          <a:effectLst/>
                          <a:latin typeface="Aptos" panose="020B0004020202020204" pitchFamily="34" charset="0"/>
                        </a:rPr>
                        <a:t>Pre-processing layer: Emergency keyword detection</a:t>
                      </a:r>
                      <a:endParaRPr lang="en-US" sz="1700" dirty="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dirty="0">
                          <a:effectLst/>
                          <a:latin typeface="Aptos" panose="020B0004020202020204" pitchFamily="34" charset="0"/>
                        </a:rPr>
                        <a:t>Hard-coded keywords/phrases ("chest pain", "can't breathe", "worst headache", "can't see", etc.) run on every inbound message, ~0ms, no LLM dependency</a:t>
                      </a:r>
                      <a:endParaRPr lang="en-US" sz="1700" dirty="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a:effectLst/>
                          <a:latin typeface="Aptos" panose="020B0004020202020204" pitchFamily="34" charset="0"/>
                        </a:rPr>
                        <a:t>Direct, unambiguous emergency language</a:t>
                      </a:r>
                      <a:endParaRPr lang="en-US" sz="170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dirty="0">
                          <a:effectLst/>
                          <a:latin typeface="Aptos" panose="020B0004020202020204" pitchFamily="34" charset="0"/>
                        </a:rPr>
                        <a:t>Yes — patient uses non-standard wording ("my chest feels heavy and weird")</a:t>
                      </a:r>
                      <a:endParaRPr lang="en-US" sz="1700" dirty="0">
                        <a:effectLst/>
                        <a:latin typeface="Aptos" panose="020B0004020202020204" pitchFamily="34" charset="0"/>
                        <a:ea typeface="Times New Roman" panose="02020603050405020304" pitchFamily="18" charset="0"/>
                      </a:endParaRPr>
                    </a:p>
                  </a:txBody>
                  <a:tcPr marL="83036" marR="83036" marT="55357" marB="55357"/>
                </a:tc>
                <a:extLst>
                  <a:ext uri="{0D108BD9-81ED-4DB2-BD59-A6C34878D82A}">
                    <a16:rowId xmlns:a16="http://schemas.microsoft.com/office/drawing/2014/main" val="2604613454"/>
                  </a:ext>
                </a:extLst>
              </a:tr>
              <a:tr h="1020010">
                <a:tc>
                  <a:txBody>
                    <a:bodyPr/>
                    <a:lstStyle/>
                    <a:p>
                      <a:pPr marL="0" marR="0">
                        <a:buNone/>
                      </a:pPr>
                      <a:r>
                        <a:rPr lang="en-US" sz="1700" dirty="0">
                          <a:effectLst/>
                          <a:latin typeface="Aptos" panose="020B0004020202020204" pitchFamily="34" charset="0"/>
                        </a:rPr>
                        <a:t>Main agent: LLM classification</a:t>
                      </a:r>
                      <a:endParaRPr lang="en-US" sz="1700" dirty="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dirty="0">
                          <a:effectLst/>
                          <a:latin typeface="Aptos" panose="020B0004020202020204" pitchFamily="34" charset="0"/>
                        </a:rPr>
                        <a:t>GPT-4o evaluates messages that don't trigger keywords. Trained to ask targeted follow-ups for ambiguous messages.</a:t>
                      </a:r>
                      <a:endParaRPr lang="en-US" sz="1700" dirty="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a:effectLst/>
                          <a:latin typeface="Aptos" panose="020B0004020202020204" pitchFamily="34" charset="0"/>
                        </a:rPr>
                        <a:t>Nuanced, indirect, or partial descriptions</a:t>
                      </a:r>
                      <a:endParaRPr lang="en-US" sz="170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a:effectLst/>
                          <a:latin typeface="Aptos" panose="020B0004020202020204" pitchFamily="34" charset="0"/>
                        </a:rPr>
                        <a:t>Yes — LLM could misclassify or fail to ask the right follow-up</a:t>
                      </a:r>
                      <a:endParaRPr lang="en-US" sz="1700">
                        <a:effectLst/>
                        <a:latin typeface="Aptos" panose="020B0004020202020204" pitchFamily="34" charset="0"/>
                        <a:ea typeface="Times New Roman" panose="02020603050405020304" pitchFamily="18" charset="0"/>
                      </a:endParaRPr>
                    </a:p>
                  </a:txBody>
                  <a:tcPr marL="83036" marR="83036" marT="55357" marB="55357"/>
                </a:tc>
                <a:extLst>
                  <a:ext uri="{0D108BD9-81ED-4DB2-BD59-A6C34878D82A}">
                    <a16:rowId xmlns:a16="http://schemas.microsoft.com/office/drawing/2014/main" val="2428094064"/>
                  </a:ext>
                </a:extLst>
              </a:tr>
              <a:tr h="1313438">
                <a:tc>
                  <a:txBody>
                    <a:bodyPr/>
                    <a:lstStyle/>
                    <a:p>
                      <a:pPr marL="0" marR="0">
                        <a:buNone/>
                      </a:pPr>
                      <a:r>
                        <a:rPr lang="en-US" sz="1700" dirty="0">
                          <a:effectLst/>
                          <a:latin typeface="Aptos" panose="020B0004020202020204" pitchFamily="34" charset="0"/>
                        </a:rPr>
                        <a:t>Post-processing layer: Emergency re-scan</a:t>
                      </a:r>
                      <a:endParaRPr lang="en-US" sz="1700" dirty="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a:effectLst/>
                          <a:latin typeface="Aptos" panose="020B0004020202020204" pitchFamily="34" charset="0"/>
                        </a:rPr>
                        <a:t>Same keyword scan applied to agent's response. If agent's reasoning mentions emergency indicators, catches them even if the agent didn't escalate.</a:t>
                      </a:r>
                      <a:endParaRPr lang="en-US" sz="170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a:effectLst/>
                          <a:latin typeface="Aptos" panose="020B0004020202020204" pitchFamily="34" charset="0"/>
                        </a:rPr>
                        <a:t>Agent identifies danger in its reasoning but fails to act on it</a:t>
                      </a:r>
                      <a:endParaRPr lang="en-US" sz="170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a:effectLst/>
                          <a:latin typeface="Aptos" panose="020B0004020202020204" pitchFamily="34" charset="0"/>
                        </a:rPr>
                        <a:t>Yes — only catches keyword matches in the response text</a:t>
                      </a:r>
                      <a:endParaRPr lang="en-US" sz="1700">
                        <a:effectLst/>
                        <a:latin typeface="Aptos" panose="020B0004020202020204" pitchFamily="34" charset="0"/>
                        <a:ea typeface="Times New Roman" panose="02020603050405020304" pitchFamily="18" charset="0"/>
                      </a:endParaRPr>
                    </a:p>
                  </a:txBody>
                  <a:tcPr marL="83036" marR="83036" marT="55357" marB="55357"/>
                </a:tc>
                <a:extLst>
                  <a:ext uri="{0D108BD9-81ED-4DB2-BD59-A6C34878D82A}">
                    <a16:rowId xmlns:a16="http://schemas.microsoft.com/office/drawing/2014/main" val="3285823893"/>
                  </a:ext>
                </a:extLst>
              </a:tr>
              <a:tr h="1020010">
                <a:tc>
                  <a:txBody>
                    <a:bodyPr/>
                    <a:lstStyle/>
                    <a:p>
                      <a:pPr marL="0" marR="0">
                        <a:buNone/>
                      </a:pPr>
                      <a:r>
                        <a:rPr lang="en-US" sz="1700">
                          <a:effectLst/>
                          <a:latin typeface="Aptos" panose="020B0004020202020204" pitchFamily="34" charset="0"/>
                        </a:rPr>
                        <a:t>BP reading classification</a:t>
                      </a:r>
                      <a:endParaRPr lang="en-US" sz="170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dirty="0">
                          <a:effectLst/>
                          <a:latin typeface="Aptos" panose="020B0004020202020204" pitchFamily="34" charset="0"/>
                        </a:rPr>
                        <a:t>Deterministic: any reading ≥180/120 → crisis pathway regardless of what the patient says</a:t>
                      </a:r>
                      <a:endParaRPr lang="en-US" sz="1700" dirty="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a:effectLst/>
                          <a:latin typeface="Aptos" panose="020B0004020202020204" pitchFamily="34" charset="0"/>
                        </a:rPr>
                        <a:t>Numerically dangerous readings even when patient reports "feeling fine"</a:t>
                      </a:r>
                      <a:endParaRPr lang="en-US" sz="170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a:effectLst/>
                          <a:latin typeface="Aptos" panose="020B0004020202020204" pitchFamily="34" charset="0"/>
                        </a:rPr>
                        <a:t>No — deterministic, cannot fail if reading is recorded</a:t>
                      </a:r>
                      <a:endParaRPr lang="en-US" sz="1700">
                        <a:effectLst/>
                        <a:latin typeface="Aptos" panose="020B0004020202020204" pitchFamily="34" charset="0"/>
                        <a:ea typeface="Times New Roman" panose="02020603050405020304" pitchFamily="18" charset="0"/>
                      </a:endParaRPr>
                    </a:p>
                  </a:txBody>
                  <a:tcPr marL="83036" marR="83036" marT="55357" marB="55357"/>
                </a:tc>
                <a:extLst>
                  <a:ext uri="{0D108BD9-81ED-4DB2-BD59-A6C34878D82A}">
                    <a16:rowId xmlns:a16="http://schemas.microsoft.com/office/drawing/2014/main" val="3235601437"/>
                  </a:ext>
                </a:extLst>
              </a:tr>
              <a:tr h="1020010">
                <a:tc>
                  <a:txBody>
                    <a:bodyPr/>
                    <a:lstStyle/>
                    <a:p>
                      <a:pPr marL="0" marR="0">
                        <a:buNone/>
                      </a:pPr>
                      <a:r>
                        <a:rPr lang="en-US" sz="1700">
                          <a:effectLst/>
                          <a:latin typeface="Aptos" panose="020B0004020202020204" pitchFamily="34" charset="0"/>
                        </a:rPr>
                        <a:t>Safety invariant #1</a:t>
                      </a:r>
                      <a:endParaRPr lang="en-US" sz="170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dirty="0">
                          <a:effectLst/>
                          <a:latin typeface="Aptos" panose="020B0004020202020204" pitchFamily="34" charset="0"/>
                        </a:rPr>
                        <a:t>Emergency keyword scan works even when GPT-4o, Claude, FHIR, and all external services are down</a:t>
                      </a:r>
                      <a:endParaRPr lang="en-US" sz="1700" dirty="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a:effectLst/>
                          <a:latin typeface="Aptos" panose="020B0004020202020204" pitchFamily="34" charset="0"/>
                        </a:rPr>
                        <a:t>Total system degradation</a:t>
                      </a:r>
                      <a:endParaRPr lang="en-US" sz="1700">
                        <a:effectLst/>
                        <a:latin typeface="Aptos" panose="020B0004020202020204" pitchFamily="34" charset="0"/>
                        <a:ea typeface="Times New Roman" panose="02020603050405020304" pitchFamily="18" charset="0"/>
                      </a:endParaRPr>
                    </a:p>
                  </a:txBody>
                  <a:tcPr marL="83036" marR="83036" marT="55357" marB="55357"/>
                </a:tc>
                <a:tc>
                  <a:txBody>
                    <a:bodyPr/>
                    <a:lstStyle/>
                    <a:p>
                      <a:pPr marL="0" marR="0">
                        <a:buNone/>
                      </a:pPr>
                      <a:r>
                        <a:rPr lang="en-US" sz="1700" dirty="0">
                          <a:effectLst/>
                          <a:latin typeface="Aptos" panose="020B0004020202020204" pitchFamily="34" charset="0"/>
                        </a:rPr>
                        <a:t>No — keyword list is in-memory, zero external dependencies</a:t>
                      </a:r>
                      <a:endParaRPr lang="en-US" sz="1700" dirty="0">
                        <a:effectLst/>
                        <a:latin typeface="Aptos" panose="020B0004020202020204" pitchFamily="34" charset="0"/>
                        <a:ea typeface="Times New Roman" panose="02020603050405020304" pitchFamily="18" charset="0"/>
                      </a:endParaRPr>
                    </a:p>
                  </a:txBody>
                  <a:tcPr marL="83036" marR="83036" marT="55357" marB="55357"/>
                </a:tc>
                <a:extLst>
                  <a:ext uri="{0D108BD9-81ED-4DB2-BD59-A6C34878D82A}">
                    <a16:rowId xmlns:a16="http://schemas.microsoft.com/office/drawing/2014/main" val="1844866450"/>
                  </a:ext>
                </a:extLst>
              </a:tr>
            </a:tbl>
          </a:graphicData>
        </a:graphic>
      </p:graphicFrame>
    </p:spTree>
    <p:extLst>
      <p:ext uri="{BB962C8B-B14F-4D97-AF65-F5344CB8AC3E}">
        <p14:creationId xmlns:p14="http://schemas.microsoft.com/office/powerpoint/2010/main" val="1991408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8" name="Group 147">
            <a:extLst>
              <a:ext uri="{FF2B5EF4-FFF2-40B4-BE49-F238E27FC236}">
                <a16:creationId xmlns:a16="http://schemas.microsoft.com/office/drawing/2014/main" id="{F8D3F526-360A-21C4-A5FB-B97391BCE6D5}"/>
              </a:ext>
            </a:extLst>
          </p:cNvPr>
          <p:cNvGrpSpPr/>
          <p:nvPr/>
        </p:nvGrpSpPr>
        <p:grpSpPr>
          <a:xfrm rot="15300000">
            <a:off x="3895789" y="4155599"/>
            <a:ext cx="1144206" cy="892368"/>
            <a:chOff x="2870213" y="3395802"/>
            <a:chExt cx="1144206" cy="892368"/>
          </a:xfrm>
          <a:noFill/>
        </p:grpSpPr>
        <p:cxnSp>
          <p:nvCxnSpPr>
            <p:cNvPr id="149" name="Straight Arrow Connector 148">
              <a:extLst>
                <a:ext uri="{FF2B5EF4-FFF2-40B4-BE49-F238E27FC236}">
                  <a16:creationId xmlns:a16="http://schemas.microsoft.com/office/drawing/2014/main" id="{6C1D56DA-2D28-4E34-2CF8-51712C4F95C8}"/>
                </a:ext>
              </a:extLst>
            </p:cNvPr>
            <p:cNvCxnSpPr>
              <a:cxnSpLocks/>
            </p:cNvCxnSpPr>
            <p:nvPr/>
          </p:nvCxnSpPr>
          <p:spPr>
            <a:xfrm rot="6300000" flipV="1">
              <a:off x="3339196" y="3264934"/>
              <a:ext cx="544355" cy="806091"/>
            </a:xfrm>
            <a:prstGeom prst="straightConnector1">
              <a:avLst/>
            </a:prstGeom>
            <a:grpFill/>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0" name="Straight Arrow Connector 149">
              <a:extLst>
                <a:ext uri="{FF2B5EF4-FFF2-40B4-BE49-F238E27FC236}">
                  <a16:creationId xmlns:a16="http://schemas.microsoft.com/office/drawing/2014/main" id="{E87D12ED-B8FA-DDB4-5ABA-FC4C77CD82C3}"/>
                </a:ext>
              </a:extLst>
            </p:cNvPr>
            <p:cNvCxnSpPr>
              <a:cxnSpLocks/>
            </p:cNvCxnSpPr>
            <p:nvPr/>
          </p:nvCxnSpPr>
          <p:spPr>
            <a:xfrm>
              <a:off x="2870213" y="3562840"/>
              <a:ext cx="634933" cy="725330"/>
            </a:xfrm>
            <a:prstGeom prst="straightConnector1">
              <a:avLst/>
            </a:prstGeom>
            <a:grpFill/>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137" name="Straight Arrow Connector 136">
            <a:extLst>
              <a:ext uri="{FF2B5EF4-FFF2-40B4-BE49-F238E27FC236}">
                <a16:creationId xmlns:a16="http://schemas.microsoft.com/office/drawing/2014/main" id="{12F7A6D3-1E00-B71E-9E5B-81B34145C7B7}"/>
              </a:ext>
            </a:extLst>
          </p:cNvPr>
          <p:cNvCxnSpPr>
            <a:cxnSpLocks/>
          </p:cNvCxnSpPr>
          <p:nvPr/>
        </p:nvCxnSpPr>
        <p:spPr>
          <a:xfrm>
            <a:off x="4128114" y="2659143"/>
            <a:ext cx="647506" cy="718287"/>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4C712E5A-5393-AA0A-719D-D94797F469EA}"/>
              </a:ext>
            </a:extLst>
          </p:cNvPr>
          <p:cNvCxnSpPr>
            <a:cxnSpLocks/>
          </p:cNvCxnSpPr>
          <p:nvPr/>
        </p:nvCxnSpPr>
        <p:spPr>
          <a:xfrm>
            <a:off x="5970322" y="3852131"/>
            <a:ext cx="1179523" cy="0"/>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4D85CEFB-2CAE-0F09-D169-656CAEE9BF4B}"/>
              </a:ext>
            </a:extLst>
          </p:cNvPr>
          <p:cNvSpPr/>
          <p:nvPr/>
        </p:nvSpPr>
        <p:spPr>
          <a:xfrm>
            <a:off x="279575" y="3521703"/>
            <a:ext cx="1241015" cy="659525"/>
          </a:xfrm>
          <a:prstGeom prst="rect">
            <a:avLst/>
          </a:prstGeom>
          <a:solidFill>
            <a:schemeClr val="accent4">
              <a:lumMod val="20000"/>
              <a:lumOff val="8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BP Above Goal (CONFIRMING_UNCONTROL)</a:t>
            </a:r>
          </a:p>
        </p:txBody>
      </p:sp>
      <p:grpSp>
        <p:nvGrpSpPr>
          <p:cNvPr id="36" name="Group 35">
            <a:extLst>
              <a:ext uri="{FF2B5EF4-FFF2-40B4-BE49-F238E27FC236}">
                <a16:creationId xmlns:a16="http://schemas.microsoft.com/office/drawing/2014/main" id="{BDC669A0-32DB-0435-5CE9-AB051D109B61}"/>
              </a:ext>
            </a:extLst>
          </p:cNvPr>
          <p:cNvGrpSpPr/>
          <p:nvPr/>
        </p:nvGrpSpPr>
        <p:grpSpPr>
          <a:xfrm>
            <a:off x="900083" y="2272121"/>
            <a:ext cx="534620" cy="3171046"/>
            <a:chOff x="996037" y="1726736"/>
            <a:chExt cx="955341" cy="4327968"/>
          </a:xfrm>
          <a:noFill/>
        </p:grpSpPr>
        <p:cxnSp>
          <p:nvCxnSpPr>
            <p:cNvPr id="5" name="Curved Connector 4">
              <a:extLst>
                <a:ext uri="{FF2B5EF4-FFF2-40B4-BE49-F238E27FC236}">
                  <a16:creationId xmlns:a16="http://schemas.microsoft.com/office/drawing/2014/main" id="{86DFEF29-BE32-EF69-CA99-F7DC3DCE2ED6}"/>
                </a:ext>
              </a:extLst>
            </p:cNvPr>
            <p:cNvCxnSpPr>
              <a:cxnSpLocks/>
              <a:stCxn id="8" idx="0"/>
              <a:endCxn id="10" idx="1"/>
            </p:cNvCxnSpPr>
            <p:nvPr/>
          </p:nvCxnSpPr>
          <p:spPr>
            <a:xfrm rot="5400000" flipH="1" flipV="1">
              <a:off x="620968" y="2101805"/>
              <a:ext cx="1705480" cy="955341"/>
            </a:xfrm>
            <a:prstGeom prst="curvedConnector2">
              <a:avLst/>
            </a:prstGeom>
            <a:grpFill/>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Curved Connector 5">
              <a:extLst>
                <a:ext uri="{FF2B5EF4-FFF2-40B4-BE49-F238E27FC236}">
                  <a16:creationId xmlns:a16="http://schemas.microsoft.com/office/drawing/2014/main" id="{483404C4-61F8-89BF-1ECD-F0B654ED09E1}"/>
                </a:ext>
              </a:extLst>
            </p:cNvPr>
            <p:cNvCxnSpPr>
              <a:cxnSpLocks/>
              <a:stCxn id="8" idx="2"/>
              <a:endCxn id="15" idx="1"/>
            </p:cNvCxnSpPr>
            <p:nvPr/>
          </p:nvCxnSpPr>
          <p:spPr>
            <a:xfrm rot="16200000" flipH="1">
              <a:off x="612536" y="4715861"/>
              <a:ext cx="1722344" cy="955341"/>
            </a:xfrm>
            <a:prstGeom prst="curvedConnector2">
              <a:avLst/>
            </a:prstGeom>
            <a:grpFill/>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0" name="Rectangle 9">
            <a:extLst>
              <a:ext uri="{FF2B5EF4-FFF2-40B4-BE49-F238E27FC236}">
                <a16:creationId xmlns:a16="http://schemas.microsoft.com/office/drawing/2014/main" id="{22FBA858-E079-9F9C-7B5A-2F7B0B384223}"/>
              </a:ext>
            </a:extLst>
          </p:cNvPr>
          <p:cNvSpPr/>
          <p:nvPr/>
        </p:nvSpPr>
        <p:spPr>
          <a:xfrm>
            <a:off x="1434703" y="1771782"/>
            <a:ext cx="1236623" cy="1000675"/>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Administer 3-Question Adherence Screener</a:t>
            </a:r>
          </a:p>
        </p:txBody>
      </p:sp>
      <p:sp>
        <p:nvSpPr>
          <p:cNvPr id="15" name="Rectangle 14">
            <a:extLst>
              <a:ext uri="{FF2B5EF4-FFF2-40B4-BE49-F238E27FC236}">
                <a16:creationId xmlns:a16="http://schemas.microsoft.com/office/drawing/2014/main" id="{6966BA12-064E-E06D-2F40-A9ABFA1CFC3C}"/>
              </a:ext>
            </a:extLst>
          </p:cNvPr>
          <p:cNvSpPr/>
          <p:nvPr/>
        </p:nvSpPr>
        <p:spPr>
          <a:xfrm>
            <a:off x="1434703" y="4942830"/>
            <a:ext cx="1236623" cy="1000674"/>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Check Pharmacy</a:t>
            </a:r>
            <a:br>
              <a:rPr lang="en-US" sz="1200" dirty="0">
                <a:solidFill>
                  <a:schemeClr val="tx1"/>
                </a:solidFill>
              </a:rPr>
            </a:br>
            <a:r>
              <a:rPr lang="en-US" sz="1200" dirty="0">
                <a:solidFill>
                  <a:schemeClr val="tx1"/>
                </a:solidFill>
              </a:rPr>
              <a:t>Fill Data</a:t>
            </a:r>
          </a:p>
        </p:txBody>
      </p:sp>
      <p:cxnSp>
        <p:nvCxnSpPr>
          <p:cNvPr id="20" name="Straight Arrow Connector 19">
            <a:extLst>
              <a:ext uri="{FF2B5EF4-FFF2-40B4-BE49-F238E27FC236}">
                <a16:creationId xmlns:a16="http://schemas.microsoft.com/office/drawing/2014/main" id="{247FADF1-CA5C-0669-2808-04399787B974}"/>
              </a:ext>
            </a:extLst>
          </p:cNvPr>
          <p:cNvCxnSpPr>
            <a:cxnSpLocks/>
            <a:endCxn id="34" idx="1"/>
          </p:cNvCxnSpPr>
          <p:nvPr/>
        </p:nvCxnSpPr>
        <p:spPr>
          <a:xfrm>
            <a:off x="2671326" y="2302062"/>
            <a:ext cx="461861" cy="1"/>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43F6EB6E-10FB-DCC6-8349-3AA69EEAA450}"/>
              </a:ext>
            </a:extLst>
          </p:cNvPr>
          <p:cNvCxnSpPr>
            <a:cxnSpLocks/>
            <a:endCxn id="29" idx="1"/>
          </p:cNvCxnSpPr>
          <p:nvPr/>
        </p:nvCxnSpPr>
        <p:spPr>
          <a:xfrm>
            <a:off x="2671326" y="5415965"/>
            <a:ext cx="461861" cy="0"/>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Diamond 28">
            <a:extLst>
              <a:ext uri="{FF2B5EF4-FFF2-40B4-BE49-F238E27FC236}">
                <a16:creationId xmlns:a16="http://schemas.microsoft.com/office/drawing/2014/main" id="{911E0423-2DDB-C8AE-8308-FE9024A8606A}"/>
              </a:ext>
            </a:extLst>
          </p:cNvPr>
          <p:cNvSpPr/>
          <p:nvPr/>
        </p:nvSpPr>
        <p:spPr>
          <a:xfrm>
            <a:off x="3133187" y="4728531"/>
            <a:ext cx="1374868" cy="1374868"/>
          </a:xfrm>
          <a:prstGeom prst="diamond">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dirty="0">
                <a:solidFill>
                  <a:schemeClr val="tx1"/>
                </a:solidFill>
              </a:rPr>
              <a:t>Fills on schedule?</a:t>
            </a:r>
          </a:p>
        </p:txBody>
      </p:sp>
      <p:sp>
        <p:nvSpPr>
          <p:cNvPr id="34" name="Diamond 33">
            <a:extLst>
              <a:ext uri="{FF2B5EF4-FFF2-40B4-BE49-F238E27FC236}">
                <a16:creationId xmlns:a16="http://schemas.microsoft.com/office/drawing/2014/main" id="{C41BBBE6-A3F9-40ED-E11B-A46FAFE28A39}"/>
              </a:ext>
            </a:extLst>
          </p:cNvPr>
          <p:cNvSpPr/>
          <p:nvPr/>
        </p:nvSpPr>
        <p:spPr>
          <a:xfrm>
            <a:off x="3133187" y="1614629"/>
            <a:ext cx="1374868" cy="1374868"/>
          </a:xfrm>
          <a:prstGeom prst="diamond">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dirty="0">
                <a:solidFill>
                  <a:schemeClr val="tx1"/>
                </a:solidFill>
              </a:rPr>
              <a:t>Score?</a:t>
            </a:r>
          </a:p>
        </p:txBody>
      </p:sp>
      <p:sp>
        <p:nvSpPr>
          <p:cNvPr id="37" name="Diamond 36">
            <a:extLst>
              <a:ext uri="{FF2B5EF4-FFF2-40B4-BE49-F238E27FC236}">
                <a16:creationId xmlns:a16="http://schemas.microsoft.com/office/drawing/2014/main" id="{37287CB6-95E0-9BFD-51E8-48EA4BA2D012}"/>
              </a:ext>
            </a:extLst>
          </p:cNvPr>
          <p:cNvSpPr/>
          <p:nvPr/>
        </p:nvSpPr>
        <p:spPr>
          <a:xfrm>
            <a:off x="4314955" y="3023781"/>
            <a:ext cx="1655367" cy="1655367"/>
          </a:xfrm>
          <a:prstGeom prst="diamond">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dirty="0">
                <a:solidFill>
                  <a:schemeClr val="tx1"/>
                </a:solidFill>
              </a:rPr>
              <a:t>Combined Assessment</a:t>
            </a:r>
          </a:p>
        </p:txBody>
      </p:sp>
      <p:sp>
        <p:nvSpPr>
          <p:cNvPr id="54" name="TextBox 53">
            <a:extLst>
              <a:ext uri="{FF2B5EF4-FFF2-40B4-BE49-F238E27FC236}">
                <a16:creationId xmlns:a16="http://schemas.microsoft.com/office/drawing/2014/main" id="{6D86A527-C547-9204-E873-CA866CD409B2}"/>
              </a:ext>
            </a:extLst>
          </p:cNvPr>
          <p:cNvSpPr txBox="1"/>
          <p:nvPr/>
        </p:nvSpPr>
        <p:spPr>
          <a:xfrm>
            <a:off x="4028384" y="2813010"/>
            <a:ext cx="1054366" cy="276999"/>
          </a:xfrm>
          <a:prstGeom prst="rect">
            <a:avLst/>
          </a:prstGeom>
          <a:noFill/>
        </p:spPr>
        <p:txBody>
          <a:bodyPr wrap="square" rtlCol="0">
            <a:spAutoFit/>
          </a:bodyPr>
          <a:lstStyle/>
          <a:p>
            <a:pPr algn="ctr"/>
            <a:r>
              <a:rPr lang="en-US" sz="1200" dirty="0"/>
              <a:t>0 (Low Risk)</a:t>
            </a:r>
          </a:p>
        </p:txBody>
      </p:sp>
      <p:sp>
        <p:nvSpPr>
          <p:cNvPr id="58" name="TextBox 57">
            <a:extLst>
              <a:ext uri="{FF2B5EF4-FFF2-40B4-BE49-F238E27FC236}">
                <a16:creationId xmlns:a16="http://schemas.microsoft.com/office/drawing/2014/main" id="{9EF4AB4C-5B11-140C-BD93-5FA4857B5487}"/>
              </a:ext>
            </a:extLst>
          </p:cNvPr>
          <p:cNvSpPr txBox="1"/>
          <p:nvPr/>
        </p:nvSpPr>
        <p:spPr>
          <a:xfrm>
            <a:off x="4268114" y="4781948"/>
            <a:ext cx="731678" cy="276999"/>
          </a:xfrm>
          <a:prstGeom prst="rect">
            <a:avLst/>
          </a:prstGeom>
          <a:noFill/>
        </p:spPr>
        <p:txBody>
          <a:bodyPr wrap="square" rtlCol="0">
            <a:spAutoFit/>
          </a:bodyPr>
          <a:lstStyle/>
          <a:p>
            <a:pPr algn="ctr"/>
            <a:r>
              <a:rPr lang="en-US" sz="1200" dirty="0"/>
              <a:t>Missed</a:t>
            </a:r>
          </a:p>
        </p:txBody>
      </p:sp>
      <p:sp>
        <p:nvSpPr>
          <p:cNvPr id="59" name="TextBox 58">
            <a:extLst>
              <a:ext uri="{FF2B5EF4-FFF2-40B4-BE49-F238E27FC236}">
                <a16:creationId xmlns:a16="http://schemas.microsoft.com/office/drawing/2014/main" id="{ADC11EEE-B050-89F6-B481-B10BC69E9382}"/>
              </a:ext>
            </a:extLst>
          </p:cNvPr>
          <p:cNvSpPr txBox="1"/>
          <p:nvPr/>
        </p:nvSpPr>
        <p:spPr>
          <a:xfrm>
            <a:off x="3855283" y="4410671"/>
            <a:ext cx="731678" cy="276999"/>
          </a:xfrm>
          <a:prstGeom prst="rect">
            <a:avLst/>
          </a:prstGeom>
          <a:noFill/>
        </p:spPr>
        <p:txBody>
          <a:bodyPr wrap="square" rtlCol="0">
            <a:spAutoFit/>
          </a:bodyPr>
          <a:lstStyle/>
          <a:p>
            <a:pPr algn="ctr"/>
            <a:r>
              <a:rPr lang="en-US" sz="1200" dirty="0"/>
              <a:t>Yes</a:t>
            </a:r>
          </a:p>
        </p:txBody>
      </p:sp>
      <p:cxnSp>
        <p:nvCxnSpPr>
          <p:cNvPr id="64" name="Straight Arrow Connector 63">
            <a:extLst>
              <a:ext uri="{FF2B5EF4-FFF2-40B4-BE49-F238E27FC236}">
                <a16:creationId xmlns:a16="http://schemas.microsoft.com/office/drawing/2014/main" id="{2BCF8C3A-49AE-9959-A4F5-75CE37B2FE46}"/>
              </a:ext>
            </a:extLst>
          </p:cNvPr>
          <p:cNvCxnSpPr>
            <a:cxnSpLocks/>
          </p:cNvCxnSpPr>
          <p:nvPr/>
        </p:nvCxnSpPr>
        <p:spPr>
          <a:xfrm>
            <a:off x="4414202" y="2416954"/>
            <a:ext cx="685894" cy="711459"/>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4506B6D3-4C4B-FC6E-D352-E983794A2D18}"/>
              </a:ext>
            </a:extLst>
          </p:cNvPr>
          <p:cNvSpPr/>
          <p:nvPr/>
        </p:nvSpPr>
        <p:spPr>
          <a:xfrm>
            <a:off x="7152959" y="3377430"/>
            <a:ext cx="1260947" cy="948067"/>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dirty="0">
                <a:solidFill>
                  <a:schemeClr val="tx1"/>
                </a:solidFill>
              </a:rPr>
              <a:t>Counsel on</a:t>
            </a:r>
            <a:br>
              <a:rPr lang="en-US" sz="1200" dirty="0">
                <a:solidFill>
                  <a:schemeClr val="tx1"/>
                </a:solidFill>
              </a:rPr>
            </a:br>
            <a:r>
              <a:rPr lang="en-US" sz="1200" dirty="0">
                <a:solidFill>
                  <a:schemeClr val="tx1"/>
                </a:solidFill>
              </a:rPr>
              <a:t>Barriers +</a:t>
            </a:r>
            <a:br>
              <a:rPr lang="en-US" sz="1200" dirty="0">
                <a:solidFill>
                  <a:schemeClr val="tx1"/>
                </a:solidFill>
              </a:rPr>
            </a:br>
            <a:r>
              <a:rPr lang="en-US" sz="1200" dirty="0">
                <a:solidFill>
                  <a:schemeClr val="tx1"/>
                </a:solidFill>
              </a:rPr>
              <a:t>Proceed</a:t>
            </a:r>
          </a:p>
        </p:txBody>
      </p:sp>
      <p:sp>
        <p:nvSpPr>
          <p:cNvPr id="70" name="TextBox 69">
            <a:extLst>
              <a:ext uri="{FF2B5EF4-FFF2-40B4-BE49-F238E27FC236}">
                <a16:creationId xmlns:a16="http://schemas.microsoft.com/office/drawing/2014/main" id="{024FF647-21BC-ACC4-7657-AE6D6019CCE3}"/>
              </a:ext>
            </a:extLst>
          </p:cNvPr>
          <p:cNvSpPr txBox="1"/>
          <p:nvPr/>
        </p:nvSpPr>
        <p:spPr>
          <a:xfrm>
            <a:off x="6091181" y="3630690"/>
            <a:ext cx="826188" cy="461665"/>
          </a:xfrm>
          <a:prstGeom prst="rect">
            <a:avLst/>
          </a:prstGeom>
          <a:noFill/>
        </p:spPr>
        <p:txBody>
          <a:bodyPr wrap="square" rtlCol="0">
            <a:spAutoFit/>
          </a:bodyPr>
          <a:lstStyle/>
          <a:p>
            <a:pPr algn="ctr"/>
            <a:r>
              <a:rPr lang="en-US" sz="1200" dirty="0"/>
              <a:t>Medium + fills OK</a:t>
            </a:r>
          </a:p>
        </p:txBody>
      </p:sp>
      <p:cxnSp>
        <p:nvCxnSpPr>
          <p:cNvPr id="71" name="Straight Arrow Connector 70">
            <a:extLst>
              <a:ext uri="{FF2B5EF4-FFF2-40B4-BE49-F238E27FC236}">
                <a16:creationId xmlns:a16="http://schemas.microsoft.com/office/drawing/2014/main" id="{79889369-A084-AAE4-19E2-1395DA6CB4DF}"/>
              </a:ext>
            </a:extLst>
          </p:cNvPr>
          <p:cNvCxnSpPr>
            <a:cxnSpLocks/>
          </p:cNvCxnSpPr>
          <p:nvPr/>
        </p:nvCxnSpPr>
        <p:spPr>
          <a:xfrm>
            <a:off x="5246405" y="4580265"/>
            <a:ext cx="3537118" cy="0"/>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6" name="Rectangle 75">
            <a:extLst>
              <a:ext uri="{FF2B5EF4-FFF2-40B4-BE49-F238E27FC236}">
                <a16:creationId xmlns:a16="http://schemas.microsoft.com/office/drawing/2014/main" id="{9529029D-1AE8-7B81-1B53-CB9EE088970A}"/>
              </a:ext>
            </a:extLst>
          </p:cNvPr>
          <p:cNvSpPr/>
          <p:nvPr/>
        </p:nvSpPr>
        <p:spPr>
          <a:xfrm>
            <a:off x="8783523" y="4007260"/>
            <a:ext cx="1188977" cy="1086647"/>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dirty="0">
                <a:solidFill>
                  <a:schemeClr val="tx1"/>
                </a:solidFill>
              </a:rPr>
              <a:t>Proceed to Confirm Uncontrolled</a:t>
            </a:r>
            <a:br>
              <a:rPr lang="en-US" sz="1200" dirty="0">
                <a:solidFill>
                  <a:schemeClr val="tx1"/>
                </a:solidFill>
              </a:rPr>
            </a:br>
            <a:r>
              <a:rPr lang="en-US" sz="1200" dirty="0">
                <a:solidFill>
                  <a:schemeClr val="tx1"/>
                </a:solidFill>
              </a:rPr>
              <a:t>(out-of-office BP)</a:t>
            </a:r>
          </a:p>
        </p:txBody>
      </p:sp>
      <p:sp>
        <p:nvSpPr>
          <p:cNvPr id="77" name="TextBox 76">
            <a:extLst>
              <a:ext uri="{FF2B5EF4-FFF2-40B4-BE49-F238E27FC236}">
                <a16:creationId xmlns:a16="http://schemas.microsoft.com/office/drawing/2014/main" id="{55CA1D76-2D87-E234-C5D5-046A0D7C925C}"/>
              </a:ext>
            </a:extLst>
          </p:cNvPr>
          <p:cNvSpPr txBox="1"/>
          <p:nvPr/>
        </p:nvSpPr>
        <p:spPr>
          <a:xfrm>
            <a:off x="6301395" y="4371658"/>
            <a:ext cx="1357275" cy="276999"/>
          </a:xfrm>
          <a:prstGeom prst="rect">
            <a:avLst/>
          </a:prstGeom>
          <a:noFill/>
        </p:spPr>
        <p:txBody>
          <a:bodyPr wrap="square" rtlCol="0">
            <a:spAutoFit/>
          </a:bodyPr>
          <a:lstStyle/>
          <a:p>
            <a:pPr algn="ctr"/>
            <a:r>
              <a:rPr lang="en-US" sz="1200" dirty="0"/>
              <a:t>Low risk + fills OK</a:t>
            </a:r>
          </a:p>
        </p:txBody>
      </p:sp>
      <p:cxnSp>
        <p:nvCxnSpPr>
          <p:cNvPr id="82" name="Straight Arrow Connector 81">
            <a:extLst>
              <a:ext uri="{FF2B5EF4-FFF2-40B4-BE49-F238E27FC236}">
                <a16:creationId xmlns:a16="http://schemas.microsoft.com/office/drawing/2014/main" id="{5778CC05-5756-4B87-E8EF-7BD358EED44D}"/>
              </a:ext>
            </a:extLst>
          </p:cNvPr>
          <p:cNvCxnSpPr>
            <a:cxnSpLocks/>
          </p:cNvCxnSpPr>
          <p:nvPr/>
        </p:nvCxnSpPr>
        <p:spPr>
          <a:xfrm>
            <a:off x="8267852" y="1989465"/>
            <a:ext cx="550573" cy="0"/>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9" name="Rectangle 88">
            <a:extLst>
              <a:ext uri="{FF2B5EF4-FFF2-40B4-BE49-F238E27FC236}">
                <a16:creationId xmlns:a16="http://schemas.microsoft.com/office/drawing/2014/main" id="{BB637CD1-37C8-97E1-3D20-2FD1AA104C2D}"/>
              </a:ext>
            </a:extLst>
          </p:cNvPr>
          <p:cNvSpPr/>
          <p:nvPr/>
        </p:nvSpPr>
        <p:spPr>
          <a:xfrm>
            <a:off x="10776617" y="585702"/>
            <a:ext cx="1151605" cy="865454"/>
          </a:xfrm>
          <a:prstGeom prst="rect">
            <a:avLst/>
          </a:prstGeom>
          <a:solidFill>
            <a:schemeClr val="accent2">
              <a:lumMod val="20000"/>
              <a:lumOff val="8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dirty="0">
                <a:solidFill>
                  <a:schemeClr val="tx1"/>
                </a:solidFill>
              </a:rPr>
              <a:t>PENDING CLINICIAN</a:t>
            </a:r>
          </a:p>
        </p:txBody>
      </p:sp>
      <p:cxnSp>
        <p:nvCxnSpPr>
          <p:cNvPr id="92" name="Curved Connector 91">
            <a:extLst>
              <a:ext uri="{FF2B5EF4-FFF2-40B4-BE49-F238E27FC236}">
                <a16:creationId xmlns:a16="http://schemas.microsoft.com/office/drawing/2014/main" id="{BA476E09-3FE7-2506-15D7-52D520CF4312}"/>
              </a:ext>
            </a:extLst>
          </p:cNvPr>
          <p:cNvCxnSpPr>
            <a:cxnSpLocks/>
            <a:stCxn id="84" idx="3"/>
            <a:endCxn id="89" idx="1"/>
          </p:cNvCxnSpPr>
          <p:nvPr/>
        </p:nvCxnSpPr>
        <p:spPr>
          <a:xfrm flipV="1">
            <a:off x="10142783" y="1018429"/>
            <a:ext cx="633834" cy="959945"/>
          </a:xfrm>
          <a:prstGeom prst="curvedConnector3">
            <a:avLst>
              <a:gd name="adj1" fmla="val 50000"/>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BD4D0178-3BD4-0741-FD69-AB2613F5BA92}"/>
              </a:ext>
            </a:extLst>
          </p:cNvPr>
          <p:cNvSpPr txBox="1"/>
          <p:nvPr/>
        </p:nvSpPr>
        <p:spPr>
          <a:xfrm>
            <a:off x="9766314" y="1180019"/>
            <a:ext cx="1151605" cy="276999"/>
          </a:xfrm>
          <a:prstGeom prst="rect">
            <a:avLst/>
          </a:prstGeom>
          <a:noFill/>
        </p:spPr>
        <p:txBody>
          <a:bodyPr wrap="square" rtlCol="0">
            <a:spAutoFit/>
          </a:bodyPr>
          <a:lstStyle/>
          <a:p>
            <a:pPr algn="ctr"/>
            <a:r>
              <a:rPr lang="en-US" sz="1200" dirty="0"/>
              <a:t>Not improved</a:t>
            </a:r>
          </a:p>
        </p:txBody>
      </p:sp>
      <p:sp>
        <p:nvSpPr>
          <p:cNvPr id="94" name="Rectangle 93">
            <a:extLst>
              <a:ext uri="{FF2B5EF4-FFF2-40B4-BE49-F238E27FC236}">
                <a16:creationId xmlns:a16="http://schemas.microsoft.com/office/drawing/2014/main" id="{92523075-1744-92A9-D889-16CA30C91627}"/>
              </a:ext>
            </a:extLst>
          </p:cNvPr>
          <p:cNvSpPr/>
          <p:nvPr/>
        </p:nvSpPr>
        <p:spPr>
          <a:xfrm>
            <a:off x="10716114" y="5093907"/>
            <a:ext cx="1151605" cy="865454"/>
          </a:xfrm>
          <a:prstGeom prst="rect">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dirty="0">
                <a:solidFill>
                  <a:schemeClr val="tx1"/>
                </a:solidFill>
              </a:rPr>
              <a:t>THERAPY ADJUSTMENT</a:t>
            </a:r>
          </a:p>
        </p:txBody>
      </p:sp>
      <p:cxnSp>
        <p:nvCxnSpPr>
          <p:cNvPr id="98" name="Curved Connector 97">
            <a:extLst>
              <a:ext uri="{FF2B5EF4-FFF2-40B4-BE49-F238E27FC236}">
                <a16:creationId xmlns:a16="http://schemas.microsoft.com/office/drawing/2014/main" id="{B39731AE-54EA-6519-B312-ECE4C6EA8F00}"/>
              </a:ext>
            </a:extLst>
          </p:cNvPr>
          <p:cNvCxnSpPr>
            <a:cxnSpLocks/>
            <a:stCxn id="84" idx="3"/>
            <a:endCxn id="94" idx="0"/>
          </p:cNvCxnSpPr>
          <p:nvPr/>
        </p:nvCxnSpPr>
        <p:spPr>
          <a:xfrm>
            <a:off x="10142783" y="1978374"/>
            <a:ext cx="1149134" cy="3115533"/>
          </a:xfrm>
          <a:prstGeom prst="curvedConnector2">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577AC793-F941-A5B3-A064-5B552D5AA6C7}"/>
              </a:ext>
            </a:extLst>
          </p:cNvPr>
          <p:cNvSpPr txBox="1"/>
          <p:nvPr/>
        </p:nvSpPr>
        <p:spPr>
          <a:xfrm>
            <a:off x="10222257" y="2141171"/>
            <a:ext cx="1660650" cy="461665"/>
          </a:xfrm>
          <a:prstGeom prst="rect">
            <a:avLst/>
          </a:prstGeom>
          <a:noFill/>
        </p:spPr>
        <p:txBody>
          <a:bodyPr wrap="square" rtlCol="0">
            <a:spAutoFit/>
          </a:bodyPr>
          <a:lstStyle/>
          <a:p>
            <a:pPr algn="ctr"/>
            <a:r>
              <a:rPr lang="en-US" sz="1200" dirty="0"/>
              <a:t>Adherence improved</a:t>
            </a:r>
            <a:br>
              <a:rPr lang="en-US" sz="1200" dirty="0"/>
            </a:br>
            <a:r>
              <a:rPr lang="en-US" sz="1200" dirty="0"/>
              <a:t>but still above goal</a:t>
            </a:r>
          </a:p>
        </p:txBody>
      </p:sp>
      <p:sp>
        <p:nvSpPr>
          <p:cNvPr id="106" name="Rectangle 105">
            <a:extLst>
              <a:ext uri="{FF2B5EF4-FFF2-40B4-BE49-F238E27FC236}">
                <a16:creationId xmlns:a16="http://schemas.microsoft.com/office/drawing/2014/main" id="{ED3D947D-02D8-F3BD-5C6F-7FF96B56C849}"/>
              </a:ext>
            </a:extLst>
          </p:cNvPr>
          <p:cNvSpPr/>
          <p:nvPr/>
        </p:nvSpPr>
        <p:spPr>
          <a:xfrm>
            <a:off x="8927761" y="2990423"/>
            <a:ext cx="1151605" cy="865454"/>
          </a:xfrm>
          <a:prstGeom prst="rect">
            <a:avLst/>
          </a:prstGeom>
          <a:solidFill>
            <a:schemeClr val="accent6">
              <a:lumMod val="20000"/>
              <a:lumOff val="8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dirty="0">
                <a:solidFill>
                  <a:schemeClr val="tx1"/>
                </a:solidFill>
              </a:rPr>
              <a:t>AT_GOAL</a:t>
            </a:r>
          </a:p>
        </p:txBody>
      </p:sp>
      <p:cxnSp>
        <p:nvCxnSpPr>
          <p:cNvPr id="107" name="Curved Connector 106">
            <a:extLst>
              <a:ext uri="{FF2B5EF4-FFF2-40B4-BE49-F238E27FC236}">
                <a16:creationId xmlns:a16="http://schemas.microsoft.com/office/drawing/2014/main" id="{D4DC5B8F-13DC-3AB4-6064-58FC725286E3}"/>
              </a:ext>
            </a:extLst>
          </p:cNvPr>
          <p:cNvCxnSpPr>
            <a:cxnSpLocks/>
            <a:stCxn id="76" idx="3"/>
            <a:endCxn id="7" idx="1"/>
          </p:cNvCxnSpPr>
          <p:nvPr/>
        </p:nvCxnSpPr>
        <p:spPr>
          <a:xfrm flipV="1">
            <a:off x="9972500" y="4154713"/>
            <a:ext cx="546723" cy="395871"/>
          </a:xfrm>
          <a:prstGeom prst="curvedConnector3">
            <a:avLst>
              <a:gd name="adj1" fmla="val 50000"/>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4" name="Diamond 83">
            <a:extLst>
              <a:ext uri="{FF2B5EF4-FFF2-40B4-BE49-F238E27FC236}">
                <a16:creationId xmlns:a16="http://schemas.microsoft.com/office/drawing/2014/main" id="{2EB7CD78-3A58-B3E6-E2C9-F2E6DC786226}"/>
              </a:ext>
            </a:extLst>
          </p:cNvPr>
          <p:cNvSpPr/>
          <p:nvPr/>
        </p:nvSpPr>
        <p:spPr>
          <a:xfrm>
            <a:off x="8795823" y="1304894"/>
            <a:ext cx="1346960" cy="1346960"/>
          </a:xfrm>
          <a:prstGeom prst="diamond">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dirty="0">
                <a:solidFill>
                  <a:schemeClr val="tx1"/>
                </a:solidFill>
              </a:rPr>
              <a:t>Reassess</a:t>
            </a:r>
          </a:p>
        </p:txBody>
      </p:sp>
      <p:cxnSp>
        <p:nvCxnSpPr>
          <p:cNvPr id="115" name="Curved Connector 114">
            <a:extLst>
              <a:ext uri="{FF2B5EF4-FFF2-40B4-BE49-F238E27FC236}">
                <a16:creationId xmlns:a16="http://schemas.microsoft.com/office/drawing/2014/main" id="{C5908A07-E608-518B-16E7-FE2FE5E7046B}"/>
              </a:ext>
            </a:extLst>
          </p:cNvPr>
          <p:cNvCxnSpPr>
            <a:stCxn id="84" idx="2"/>
            <a:endCxn id="106" idx="0"/>
          </p:cNvCxnSpPr>
          <p:nvPr/>
        </p:nvCxnSpPr>
        <p:spPr>
          <a:xfrm rot="16200000" flipH="1">
            <a:off x="9317149" y="2804007"/>
            <a:ext cx="338569" cy="34261"/>
          </a:xfrm>
          <a:prstGeom prst="curvedConnector3">
            <a:avLst>
              <a:gd name="adj1" fmla="val 50000"/>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6" name="TextBox 115">
            <a:extLst>
              <a:ext uri="{FF2B5EF4-FFF2-40B4-BE49-F238E27FC236}">
                <a16:creationId xmlns:a16="http://schemas.microsoft.com/office/drawing/2014/main" id="{E9859E21-A5DA-55BE-5F94-4854DA01EE6A}"/>
              </a:ext>
            </a:extLst>
          </p:cNvPr>
          <p:cNvSpPr txBox="1"/>
          <p:nvPr/>
        </p:nvSpPr>
        <p:spPr>
          <a:xfrm>
            <a:off x="8470078" y="2592008"/>
            <a:ext cx="2049145" cy="461664"/>
          </a:xfrm>
          <a:prstGeom prst="rect">
            <a:avLst/>
          </a:prstGeom>
          <a:noFill/>
        </p:spPr>
        <p:txBody>
          <a:bodyPr wrap="square" rtlCol="0">
            <a:spAutoFit/>
          </a:bodyPr>
          <a:lstStyle/>
          <a:p>
            <a:r>
              <a:rPr lang="en-US" sz="1200" dirty="0"/>
              <a:t>Adherence improved and BP at goal</a:t>
            </a:r>
          </a:p>
        </p:txBody>
      </p:sp>
      <p:sp>
        <p:nvSpPr>
          <p:cNvPr id="60" name="Rectangle 59">
            <a:extLst>
              <a:ext uri="{FF2B5EF4-FFF2-40B4-BE49-F238E27FC236}">
                <a16:creationId xmlns:a16="http://schemas.microsoft.com/office/drawing/2014/main" id="{258C6DED-9FA9-6322-57F8-34379FC94D8D}"/>
              </a:ext>
            </a:extLst>
          </p:cNvPr>
          <p:cNvSpPr/>
          <p:nvPr/>
        </p:nvSpPr>
        <p:spPr>
          <a:xfrm>
            <a:off x="7149845" y="1516672"/>
            <a:ext cx="1260947" cy="948066"/>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ADHERENCE INTERVENTION</a:t>
            </a:r>
          </a:p>
          <a:p>
            <a:pPr algn="ctr"/>
            <a:r>
              <a:rPr lang="en-US" sz="1200" dirty="0">
                <a:solidFill>
                  <a:schemeClr val="tx1"/>
                </a:solidFill>
              </a:rPr>
              <a:t>Identify barriers</a:t>
            </a:r>
            <a:br>
              <a:rPr lang="en-US" sz="1200" dirty="0">
                <a:solidFill>
                  <a:schemeClr val="tx1"/>
                </a:solidFill>
              </a:rPr>
            </a:br>
            <a:r>
              <a:rPr lang="en-US" sz="1200" dirty="0">
                <a:solidFill>
                  <a:schemeClr val="tx1"/>
                </a:solidFill>
              </a:rPr>
              <a:t>(2-4 weeks)</a:t>
            </a:r>
          </a:p>
        </p:txBody>
      </p:sp>
      <p:sp>
        <p:nvSpPr>
          <p:cNvPr id="135" name="TextBox 134">
            <a:extLst>
              <a:ext uri="{FF2B5EF4-FFF2-40B4-BE49-F238E27FC236}">
                <a16:creationId xmlns:a16="http://schemas.microsoft.com/office/drawing/2014/main" id="{DED4C626-A5C4-0A0E-5F88-A2B8C8FB5C96}"/>
              </a:ext>
            </a:extLst>
          </p:cNvPr>
          <p:cNvSpPr txBox="1"/>
          <p:nvPr/>
        </p:nvSpPr>
        <p:spPr>
          <a:xfrm>
            <a:off x="4268114" y="2430275"/>
            <a:ext cx="1260946" cy="276999"/>
          </a:xfrm>
          <a:prstGeom prst="rect">
            <a:avLst/>
          </a:prstGeom>
          <a:noFill/>
        </p:spPr>
        <p:txBody>
          <a:bodyPr wrap="square" rtlCol="0">
            <a:spAutoFit/>
          </a:bodyPr>
          <a:lstStyle/>
          <a:p>
            <a:pPr algn="ctr"/>
            <a:r>
              <a:rPr lang="en-US" sz="1200" dirty="0"/>
              <a:t>8+ (High Risk)</a:t>
            </a:r>
          </a:p>
        </p:txBody>
      </p:sp>
      <p:cxnSp>
        <p:nvCxnSpPr>
          <p:cNvPr id="138" name="Straight Arrow Connector 137">
            <a:extLst>
              <a:ext uri="{FF2B5EF4-FFF2-40B4-BE49-F238E27FC236}">
                <a16:creationId xmlns:a16="http://schemas.microsoft.com/office/drawing/2014/main" id="{51E3DE95-5B92-11B5-A035-C2893E5C7DFD}"/>
              </a:ext>
            </a:extLst>
          </p:cNvPr>
          <p:cNvCxnSpPr>
            <a:cxnSpLocks/>
          </p:cNvCxnSpPr>
          <p:nvPr/>
        </p:nvCxnSpPr>
        <p:spPr>
          <a:xfrm>
            <a:off x="3845724" y="2940963"/>
            <a:ext cx="634933" cy="725330"/>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9AA00323-E1BA-3BEB-348A-483C411A91F3}"/>
              </a:ext>
            </a:extLst>
          </p:cNvPr>
          <p:cNvSpPr txBox="1"/>
          <p:nvPr/>
        </p:nvSpPr>
        <p:spPr>
          <a:xfrm>
            <a:off x="3321481" y="3269530"/>
            <a:ext cx="1054366" cy="276999"/>
          </a:xfrm>
          <a:prstGeom prst="rect">
            <a:avLst/>
          </a:prstGeom>
          <a:noFill/>
        </p:spPr>
        <p:txBody>
          <a:bodyPr wrap="square" rtlCol="0">
            <a:spAutoFit/>
          </a:bodyPr>
          <a:lstStyle/>
          <a:p>
            <a:pPr algn="ctr"/>
            <a:r>
              <a:rPr lang="en-US" sz="1200" dirty="0"/>
              <a:t>2-7 (Medium)</a:t>
            </a:r>
          </a:p>
        </p:txBody>
      </p:sp>
      <p:cxnSp>
        <p:nvCxnSpPr>
          <p:cNvPr id="151" name="Straight Arrow Connector 150">
            <a:extLst>
              <a:ext uri="{FF2B5EF4-FFF2-40B4-BE49-F238E27FC236}">
                <a16:creationId xmlns:a16="http://schemas.microsoft.com/office/drawing/2014/main" id="{B7ADB21C-AD06-2637-8057-EE3734E8C275}"/>
              </a:ext>
            </a:extLst>
          </p:cNvPr>
          <p:cNvCxnSpPr>
            <a:cxnSpLocks/>
            <a:endCxn id="60" idx="2"/>
          </p:cNvCxnSpPr>
          <p:nvPr/>
        </p:nvCxnSpPr>
        <p:spPr>
          <a:xfrm flipV="1">
            <a:off x="5465379" y="2464738"/>
            <a:ext cx="2314940" cy="891304"/>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3" name="TextBox 152">
            <a:extLst>
              <a:ext uri="{FF2B5EF4-FFF2-40B4-BE49-F238E27FC236}">
                <a16:creationId xmlns:a16="http://schemas.microsoft.com/office/drawing/2014/main" id="{FABCB8FC-2895-2EB7-31B1-DC037BCA7328}"/>
              </a:ext>
            </a:extLst>
          </p:cNvPr>
          <p:cNvSpPr txBox="1"/>
          <p:nvPr/>
        </p:nvSpPr>
        <p:spPr>
          <a:xfrm>
            <a:off x="5714779" y="2726585"/>
            <a:ext cx="1599827" cy="461665"/>
          </a:xfrm>
          <a:prstGeom prst="rect">
            <a:avLst/>
          </a:prstGeom>
          <a:noFill/>
        </p:spPr>
        <p:txBody>
          <a:bodyPr wrap="square" rtlCol="0">
            <a:spAutoFit/>
          </a:bodyPr>
          <a:lstStyle/>
          <a:p>
            <a:pPr algn="ctr"/>
            <a:r>
              <a:rPr lang="en-US" sz="1200" dirty="0"/>
              <a:t>Any discordance</a:t>
            </a:r>
            <a:br>
              <a:rPr lang="en-US" sz="1200" dirty="0"/>
            </a:br>
            <a:r>
              <a:rPr lang="en-US" sz="1200" dirty="0"/>
              <a:t>or high risk</a:t>
            </a:r>
          </a:p>
        </p:txBody>
      </p:sp>
      <p:cxnSp>
        <p:nvCxnSpPr>
          <p:cNvPr id="11" name="Straight Arrow Connector 10">
            <a:extLst>
              <a:ext uri="{FF2B5EF4-FFF2-40B4-BE49-F238E27FC236}">
                <a16:creationId xmlns:a16="http://schemas.microsoft.com/office/drawing/2014/main" id="{7B040B23-1330-AF41-8954-363425CE678D}"/>
              </a:ext>
            </a:extLst>
          </p:cNvPr>
          <p:cNvCxnSpPr>
            <a:cxnSpLocks/>
            <a:endCxn id="76" idx="1"/>
          </p:cNvCxnSpPr>
          <p:nvPr/>
        </p:nvCxnSpPr>
        <p:spPr>
          <a:xfrm>
            <a:off x="8410792" y="3767464"/>
            <a:ext cx="372731" cy="783120"/>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 name="Content Placeholder 2">
            <a:extLst>
              <a:ext uri="{FF2B5EF4-FFF2-40B4-BE49-F238E27FC236}">
                <a16:creationId xmlns:a16="http://schemas.microsoft.com/office/drawing/2014/main" id="{CA6D6F8A-93BD-658F-DE9C-2456927F7A47}"/>
              </a:ext>
            </a:extLst>
          </p:cNvPr>
          <p:cNvSpPr txBox="1">
            <a:spLocks/>
          </p:cNvSpPr>
          <p:nvPr/>
        </p:nvSpPr>
        <p:spPr>
          <a:xfrm>
            <a:off x="-1" y="32204"/>
            <a:ext cx="11225633" cy="48510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500" dirty="0"/>
              <a:t>Failure 2: Overtreatment (mitigated by adherence gating)</a:t>
            </a:r>
          </a:p>
        </p:txBody>
      </p:sp>
      <p:sp>
        <p:nvSpPr>
          <p:cNvPr id="7" name="Rectangle 6">
            <a:extLst>
              <a:ext uri="{FF2B5EF4-FFF2-40B4-BE49-F238E27FC236}">
                <a16:creationId xmlns:a16="http://schemas.microsoft.com/office/drawing/2014/main" id="{663340C2-20BC-C313-BECF-9C560C19246D}"/>
              </a:ext>
            </a:extLst>
          </p:cNvPr>
          <p:cNvSpPr/>
          <p:nvPr/>
        </p:nvSpPr>
        <p:spPr>
          <a:xfrm>
            <a:off x="10519223" y="3654375"/>
            <a:ext cx="1412821" cy="1000675"/>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Orthostatic screen (high risk patients)</a:t>
            </a:r>
          </a:p>
          <a:p>
            <a:pPr algn="ctr"/>
            <a:r>
              <a:rPr lang="en-US" sz="1200" dirty="0">
                <a:solidFill>
                  <a:schemeClr val="tx1"/>
                </a:solidFill>
              </a:rPr>
              <a:t>Interfering substance check (e.g. NSAIDs</a:t>
            </a:r>
          </a:p>
        </p:txBody>
      </p:sp>
    </p:spTree>
    <p:extLst>
      <p:ext uri="{BB962C8B-B14F-4D97-AF65-F5344CB8AC3E}">
        <p14:creationId xmlns:p14="http://schemas.microsoft.com/office/powerpoint/2010/main" val="9901319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BB22-7D26-F153-BB3C-F7F831EC7623}"/>
              </a:ext>
            </a:extLst>
          </p:cNvPr>
          <p:cNvSpPr>
            <a:spLocks noGrp="1"/>
          </p:cNvSpPr>
          <p:nvPr>
            <p:ph type="title"/>
          </p:nvPr>
        </p:nvSpPr>
        <p:spPr>
          <a:xfrm>
            <a:off x="4729163" y="-307642"/>
            <a:ext cx="4125356" cy="1325563"/>
          </a:xfrm>
        </p:spPr>
        <p:txBody>
          <a:bodyPr/>
          <a:lstStyle/>
          <a:p>
            <a:r>
              <a:rPr lang="en-US" dirty="0"/>
              <a:t>Data Stores</a:t>
            </a:r>
          </a:p>
        </p:txBody>
      </p:sp>
      <p:sp>
        <p:nvSpPr>
          <p:cNvPr id="6" name="Rounded Rectangle 5">
            <a:extLst>
              <a:ext uri="{FF2B5EF4-FFF2-40B4-BE49-F238E27FC236}">
                <a16:creationId xmlns:a16="http://schemas.microsoft.com/office/drawing/2014/main" id="{2BD21877-A75E-3FA6-332E-7AA6961E4C27}"/>
              </a:ext>
            </a:extLst>
          </p:cNvPr>
          <p:cNvSpPr/>
          <p:nvPr/>
        </p:nvSpPr>
        <p:spPr>
          <a:xfrm>
            <a:off x="239219" y="801965"/>
            <a:ext cx="9033369" cy="26975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7" name="TextBox 6">
            <a:extLst>
              <a:ext uri="{FF2B5EF4-FFF2-40B4-BE49-F238E27FC236}">
                <a16:creationId xmlns:a16="http://schemas.microsoft.com/office/drawing/2014/main" id="{814E4242-119C-2A42-0D8B-985871BD7DAC}"/>
              </a:ext>
            </a:extLst>
          </p:cNvPr>
          <p:cNvSpPr txBox="1"/>
          <p:nvPr/>
        </p:nvSpPr>
        <p:spPr>
          <a:xfrm>
            <a:off x="414403" y="840915"/>
            <a:ext cx="3839541" cy="369332"/>
          </a:xfrm>
          <a:prstGeom prst="rect">
            <a:avLst/>
          </a:prstGeom>
          <a:noFill/>
        </p:spPr>
        <p:txBody>
          <a:bodyPr wrap="square" rtlCol="0">
            <a:spAutoFit/>
          </a:bodyPr>
          <a:lstStyle/>
          <a:p>
            <a:r>
              <a:rPr lang="en-US" dirty="0"/>
              <a:t>EHR (FHIR)</a:t>
            </a:r>
          </a:p>
        </p:txBody>
      </p:sp>
      <p:sp>
        <p:nvSpPr>
          <p:cNvPr id="8" name="Rounded Rectangle 7">
            <a:extLst>
              <a:ext uri="{FF2B5EF4-FFF2-40B4-BE49-F238E27FC236}">
                <a16:creationId xmlns:a16="http://schemas.microsoft.com/office/drawing/2014/main" id="{8F0F2DDB-4368-9870-72AB-4CCF20153C7A}"/>
              </a:ext>
            </a:extLst>
          </p:cNvPr>
          <p:cNvSpPr/>
          <p:nvPr/>
        </p:nvSpPr>
        <p:spPr>
          <a:xfrm>
            <a:off x="239219" y="3783290"/>
            <a:ext cx="9033370" cy="249825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9" name="TextBox 8">
            <a:extLst>
              <a:ext uri="{FF2B5EF4-FFF2-40B4-BE49-F238E27FC236}">
                <a16:creationId xmlns:a16="http://schemas.microsoft.com/office/drawing/2014/main" id="{092BADA2-D6F0-2FC7-E35A-864B56B544D5}"/>
              </a:ext>
            </a:extLst>
          </p:cNvPr>
          <p:cNvSpPr txBox="1"/>
          <p:nvPr/>
        </p:nvSpPr>
        <p:spPr>
          <a:xfrm>
            <a:off x="414403" y="3822240"/>
            <a:ext cx="3839541" cy="369332"/>
          </a:xfrm>
          <a:prstGeom prst="rect">
            <a:avLst/>
          </a:prstGeom>
          <a:noFill/>
        </p:spPr>
        <p:txBody>
          <a:bodyPr wrap="square" rtlCol="0">
            <a:spAutoFit/>
          </a:bodyPr>
          <a:lstStyle/>
          <a:p>
            <a:r>
              <a:rPr lang="en-US" dirty="0"/>
              <a:t>Operational</a:t>
            </a:r>
          </a:p>
        </p:txBody>
      </p:sp>
      <p:sp>
        <p:nvSpPr>
          <p:cNvPr id="11" name="TextBox 10">
            <a:extLst>
              <a:ext uri="{FF2B5EF4-FFF2-40B4-BE49-F238E27FC236}">
                <a16:creationId xmlns:a16="http://schemas.microsoft.com/office/drawing/2014/main" id="{FBFA80A7-BAAB-A730-BCBD-95CF5336059C}"/>
              </a:ext>
            </a:extLst>
          </p:cNvPr>
          <p:cNvSpPr txBox="1"/>
          <p:nvPr/>
        </p:nvSpPr>
        <p:spPr>
          <a:xfrm>
            <a:off x="239218" y="1285737"/>
            <a:ext cx="9261970" cy="646331"/>
          </a:xfrm>
          <a:prstGeom prst="rect">
            <a:avLst/>
          </a:prstGeom>
          <a:noFill/>
        </p:spPr>
        <p:txBody>
          <a:bodyPr wrap="square">
            <a:spAutoFit/>
          </a:bodyPr>
          <a:lstStyle/>
          <a:p>
            <a:pPr algn="ctr"/>
            <a:r>
              <a:rPr lang="en-US" dirty="0">
                <a:solidFill>
                  <a:schemeClr val="tx1"/>
                </a:solidFill>
              </a:rPr>
              <a:t>Patient | Condition | </a:t>
            </a:r>
            <a:r>
              <a:rPr lang="en-US" dirty="0" err="1">
                <a:solidFill>
                  <a:schemeClr val="tx1"/>
                </a:solidFill>
              </a:rPr>
              <a:t>MedicationStatement</a:t>
            </a:r>
            <a:r>
              <a:rPr lang="en-US" dirty="0">
                <a:solidFill>
                  <a:schemeClr val="tx1"/>
                </a:solidFill>
              </a:rPr>
              <a:t> | </a:t>
            </a:r>
            <a:r>
              <a:rPr lang="en-US" dirty="0" err="1">
                <a:solidFill>
                  <a:schemeClr val="tx1"/>
                </a:solidFill>
              </a:rPr>
              <a:t>MedicationDispense</a:t>
            </a:r>
            <a:r>
              <a:rPr lang="en-US" dirty="0">
                <a:solidFill>
                  <a:schemeClr val="tx1"/>
                </a:solidFill>
              </a:rPr>
              <a:t> | </a:t>
            </a:r>
            <a:r>
              <a:rPr lang="en-US" dirty="0" err="1">
                <a:solidFill>
                  <a:schemeClr val="tx1"/>
                </a:solidFill>
              </a:rPr>
              <a:t>AllergyIntolerance</a:t>
            </a:r>
            <a:r>
              <a:rPr lang="en-US" dirty="0">
                <a:solidFill>
                  <a:schemeClr val="tx1"/>
                </a:solidFill>
              </a:rPr>
              <a:t> | Observation | Goal | Composition | </a:t>
            </a:r>
            <a:r>
              <a:rPr lang="en-US" dirty="0" err="1">
                <a:solidFill>
                  <a:schemeClr val="tx1"/>
                </a:solidFill>
              </a:rPr>
              <a:t>DocumentReference</a:t>
            </a:r>
            <a:r>
              <a:rPr lang="en-US" dirty="0">
                <a:solidFill>
                  <a:schemeClr val="tx1"/>
                </a:solidFill>
              </a:rPr>
              <a:t> | Care Plan</a:t>
            </a:r>
          </a:p>
        </p:txBody>
      </p:sp>
      <p:sp>
        <p:nvSpPr>
          <p:cNvPr id="12" name="TextBox 11">
            <a:extLst>
              <a:ext uri="{FF2B5EF4-FFF2-40B4-BE49-F238E27FC236}">
                <a16:creationId xmlns:a16="http://schemas.microsoft.com/office/drawing/2014/main" id="{76CC5B49-6965-CDCF-0A74-95D81199126A}"/>
              </a:ext>
            </a:extLst>
          </p:cNvPr>
          <p:cNvSpPr txBox="1"/>
          <p:nvPr/>
        </p:nvSpPr>
        <p:spPr>
          <a:xfrm>
            <a:off x="414404" y="2743200"/>
            <a:ext cx="8658160" cy="646331"/>
          </a:xfrm>
          <a:prstGeom prst="rect">
            <a:avLst/>
          </a:prstGeom>
          <a:noFill/>
        </p:spPr>
        <p:txBody>
          <a:bodyPr wrap="square" rtlCol="0">
            <a:spAutoFit/>
          </a:bodyPr>
          <a:lstStyle/>
          <a:p>
            <a:r>
              <a:rPr lang="en-US" dirty="0"/>
              <a:t>Write access: Agent </a:t>
            </a:r>
            <a:r>
              <a:rPr lang="en-US" b="1" dirty="0"/>
              <a:t>tools</a:t>
            </a:r>
            <a:r>
              <a:rPr lang="en-US" dirty="0"/>
              <a:t> (e.g. </a:t>
            </a:r>
            <a:r>
              <a:rPr lang="en-US" dirty="0" err="1"/>
              <a:t>record_bp_reading</a:t>
            </a:r>
            <a:r>
              <a:rPr lang="en-US" dirty="0"/>
              <a:t>), ingestion services (e.g. Surescripts), clinicians</a:t>
            </a:r>
          </a:p>
        </p:txBody>
      </p:sp>
      <p:sp>
        <p:nvSpPr>
          <p:cNvPr id="13" name="TextBox 12">
            <a:extLst>
              <a:ext uri="{FF2B5EF4-FFF2-40B4-BE49-F238E27FC236}">
                <a16:creationId xmlns:a16="http://schemas.microsoft.com/office/drawing/2014/main" id="{C2C25B91-C2A1-FF10-DFC5-B580AEEEC1D6}"/>
              </a:ext>
            </a:extLst>
          </p:cNvPr>
          <p:cNvSpPr txBox="1"/>
          <p:nvPr/>
        </p:nvSpPr>
        <p:spPr>
          <a:xfrm>
            <a:off x="414403" y="2051093"/>
            <a:ext cx="6515035" cy="369332"/>
          </a:xfrm>
          <a:prstGeom prst="rect">
            <a:avLst/>
          </a:prstGeom>
          <a:noFill/>
        </p:spPr>
        <p:txBody>
          <a:bodyPr wrap="square" rtlCol="0">
            <a:spAutoFit/>
          </a:bodyPr>
          <a:lstStyle/>
          <a:p>
            <a:r>
              <a:rPr lang="en-US" dirty="0"/>
              <a:t>Read access: Orchestrator, Agent (via tools like </a:t>
            </a:r>
            <a:r>
              <a:rPr lang="en-US" dirty="0" err="1"/>
              <a:t>get_bp_history</a:t>
            </a:r>
            <a:r>
              <a:rPr lang="en-US" dirty="0"/>
              <a:t>)</a:t>
            </a:r>
          </a:p>
        </p:txBody>
      </p:sp>
      <p:sp>
        <p:nvSpPr>
          <p:cNvPr id="14" name="TextBox 13">
            <a:extLst>
              <a:ext uri="{FF2B5EF4-FFF2-40B4-BE49-F238E27FC236}">
                <a16:creationId xmlns:a16="http://schemas.microsoft.com/office/drawing/2014/main" id="{39D50B62-85AF-645A-3710-332F59F5628F}"/>
              </a:ext>
            </a:extLst>
          </p:cNvPr>
          <p:cNvSpPr txBox="1"/>
          <p:nvPr/>
        </p:nvSpPr>
        <p:spPr>
          <a:xfrm>
            <a:off x="414403" y="4279602"/>
            <a:ext cx="8986772" cy="646331"/>
          </a:xfrm>
          <a:prstGeom prst="rect">
            <a:avLst/>
          </a:prstGeom>
          <a:noFill/>
        </p:spPr>
        <p:txBody>
          <a:bodyPr wrap="square">
            <a:spAutoFit/>
          </a:bodyPr>
          <a:lstStyle/>
          <a:p>
            <a:pPr algn="ctr"/>
            <a:r>
              <a:rPr lang="en-US" dirty="0">
                <a:solidFill>
                  <a:schemeClr val="tx1"/>
                </a:solidFill>
              </a:rPr>
              <a:t>Patient care state | conversation history (e.g. message, tool call, tool result) | decision audit log (e.g. tree traversals) | escalations | follow-up schedules | </a:t>
            </a:r>
            <a:r>
              <a:rPr lang="en-US" dirty="0"/>
              <a:t>RAG reasoning logs</a:t>
            </a:r>
          </a:p>
        </p:txBody>
      </p:sp>
      <p:sp>
        <p:nvSpPr>
          <p:cNvPr id="15" name="TextBox 14">
            <a:extLst>
              <a:ext uri="{FF2B5EF4-FFF2-40B4-BE49-F238E27FC236}">
                <a16:creationId xmlns:a16="http://schemas.microsoft.com/office/drawing/2014/main" id="{B036AC22-36A9-3BAD-D43C-69D076421BF4}"/>
              </a:ext>
            </a:extLst>
          </p:cNvPr>
          <p:cNvSpPr txBox="1"/>
          <p:nvPr/>
        </p:nvSpPr>
        <p:spPr>
          <a:xfrm>
            <a:off x="495332" y="5832419"/>
            <a:ext cx="11201335" cy="369332"/>
          </a:xfrm>
          <a:prstGeom prst="rect">
            <a:avLst/>
          </a:prstGeom>
          <a:noFill/>
        </p:spPr>
        <p:txBody>
          <a:bodyPr wrap="square" rtlCol="0">
            <a:spAutoFit/>
          </a:bodyPr>
          <a:lstStyle/>
          <a:p>
            <a:r>
              <a:rPr lang="en-US" dirty="0"/>
              <a:t>Write access: Orchestrator (e.g. state transitions), session summarizer </a:t>
            </a:r>
          </a:p>
        </p:txBody>
      </p:sp>
      <p:sp>
        <p:nvSpPr>
          <p:cNvPr id="16" name="TextBox 15">
            <a:extLst>
              <a:ext uri="{FF2B5EF4-FFF2-40B4-BE49-F238E27FC236}">
                <a16:creationId xmlns:a16="http://schemas.microsoft.com/office/drawing/2014/main" id="{CBF0E3E9-EA74-3B49-573F-544C97DEB07C}"/>
              </a:ext>
            </a:extLst>
          </p:cNvPr>
          <p:cNvSpPr txBox="1"/>
          <p:nvPr/>
        </p:nvSpPr>
        <p:spPr>
          <a:xfrm>
            <a:off x="495332" y="5140312"/>
            <a:ext cx="10486960" cy="369332"/>
          </a:xfrm>
          <a:prstGeom prst="rect">
            <a:avLst/>
          </a:prstGeom>
          <a:noFill/>
        </p:spPr>
        <p:txBody>
          <a:bodyPr wrap="square" rtlCol="0">
            <a:spAutoFit/>
          </a:bodyPr>
          <a:lstStyle/>
          <a:p>
            <a:r>
              <a:rPr lang="en-US" dirty="0"/>
              <a:t>Read access: Orchestrator, Agent (care thread summaries injected into context)</a:t>
            </a:r>
          </a:p>
        </p:txBody>
      </p:sp>
      <p:sp>
        <p:nvSpPr>
          <p:cNvPr id="18" name="Rounded Rectangle 17">
            <a:extLst>
              <a:ext uri="{FF2B5EF4-FFF2-40B4-BE49-F238E27FC236}">
                <a16:creationId xmlns:a16="http://schemas.microsoft.com/office/drawing/2014/main" id="{7F1C3395-9112-2321-21DF-37E6B9CEEEF9}"/>
              </a:ext>
            </a:extLst>
          </p:cNvPr>
          <p:cNvSpPr/>
          <p:nvPr/>
        </p:nvSpPr>
        <p:spPr>
          <a:xfrm>
            <a:off x="9501188" y="801966"/>
            <a:ext cx="2451594" cy="249825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0" name="TextBox 19">
            <a:extLst>
              <a:ext uri="{FF2B5EF4-FFF2-40B4-BE49-F238E27FC236}">
                <a16:creationId xmlns:a16="http://schemas.microsoft.com/office/drawing/2014/main" id="{7CA67C62-3B89-12EE-0076-FAE3EB444618}"/>
              </a:ext>
            </a:extLst>
          </p:cNvPr>
          <p:cNvSpPr txBox="1"/>
          <p:nvPr/>
        </p:nvSpPr>
        <p:spPr>
          <a:xfrm>
            <a:off x="10311518" y="841652"/>
            <a:ext cx="830933" cy="369332"/>
          </a:xfrm>
          <a:prstGeom prst="rect">
            <a:avLst/>
          </a:prstGeom>
          <a:noFill/>
        </p:spPr>
        <p:txBody>
          <a:bodyPr wrap="none" rtlCol="0">
            <a:spAutoFit/>
          </a:bodyPr>
          <a:lstStyle/>
          <a:p>
            <a:r>
              <a:rPr lang="en-US" dirty="0"/>
              <a:t>Vector</a:t>
            </a:r>
          </a:p>
        </p:txBody>
      </p:sp>
      <p:sp>
        <p:nvSpPr>
          <p:cNvPr id="21" name="TextBox 20">
            <a:extLst>
              <a:ext uri="{FF2B5EF4-FFF2-40B4-BE49-F238E27FC236}">
                <a16:creationId xmlns:a16="http://schemas.microsoft.com/office/drawing/2014/main" id="{581C73FD-B61C-44BF-1A90-34739F221E74}"/>
              </a:ext>
            </a:extLst>
          </p:cNvPr>
          <p:cNvSpPr txBox="1"/>
          <p:nvPr/>
        </p:nvSpPr>
        <p:spPr>
          <a:xfrm>
            <a:off x="9514278" y="1305355"/>
            <a:ext cx="2438503" cy="1477328"/>
          </a:xfrm>
          <a:prstGeom prst="rect">
            <a:avLst/>
          </a:prstGeom>
          <a:noFill/>
        </p:spPr>
        <p:txBody>
          <a:bodyPr wrap="square" rtlCol="0">
            <a:spAutoFit/>
          </a:bodyPr>
          <a:lstStyle/>
          <a:p>
            <a:r>
              <a:rPr lang="en-US" dirty="0"/>
              <a:t>Chunked clinical guidelines read by RAG reasoner</a:t>
            </a:r>
          </a:p>
          <a:p>
            <a:pPr marL="285750" indent="-285750">
              <a:buFontTx/>
              <a:buChar char="-"/>
            </a:pPr>
            <a:r>
              <a:rPr lang="en-US" dirty="0"/>
              <a:t>AHA 2025</a:t>
            </a:r>
          </a:p>
          <a:p>
            <a:pPr marL="285750" indent="-285750">
              <a:buFontTx/>
              <a:buChar char="-"/>
            </a:pPr>
            <a:r>
              <a:rPr lang="en-US" dirty="0"/>
              <a:t>UpToDate</a:t>
            </a:r>
          </a:p>
        </p:txBody>
      </p:sp>
      <p:sp>
        <p:nvSpPr>
          <p:cNvPr id="22" name="Rounded Rectangle 21">
            <a:extLst>
              <a:ext uri="{FF2B5EF4-FFF2-40B4-BE49-F238E27FC236}">
                <a16:creationId xmlns:a16="http://schemas.microsoft.com/office/drawing/2014/main" id="{E299E3A5-9C42-8BB6-499E-1617CBD286B5}"/>
              </a:ext>
            </a:extLst>
          </p:cNvPr>
          <p:cNvSpPr/>
          <p:nvPr/>
        </p:nvSpPr>
        <p:spPr>
          <a:xfrm>
            <a:off x="9501189" y="3807952"/>
            <a:ext cx="2451592" cy="249825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TextBox 22">
            <a:extLst>
              <a:ext uri="{FF2B5EF4-FFF2-40B4-BE49-F238E27FC236}">
                <a16:creationId xmlns:a16="http://schemas.microsoft.com/office/drawing/2014/main" id="{79488435-6B68-D52A-750D-32A068205F99}"/>
              </a:ext>
            </a:extLst>
          </p:cNvPr>
          <p:cNvSpPr txBox="1"/>
          <p:nvPr/>
        </p:nvSpPr>
        <p:spPr>
          <a:xfrm>
            <a:off x="9750705" y="4386074"/>
            <a:ext cx="2233788" cy="1754326"/>
          </a:xfrm>
          <a:prstGeom prst="rect">
            <a:avLst/>
          </a:prstGeom>
          <a:noFill/>
        </p:spPr>
        <p:txBody>
          <a:bodyPr wrap="square" rtlCol="0">
            <a:spAutoFit/>
          </a:bodyPr>
          <a:lstStyle/>
          <a:p>
            <a:r>
              <a:rPr lang="en-US" dirty="0"/>
              <a:t>Lookup tables that encode clinical rules</a:t>
            </a:r>
          </a:p>
          <a:p>
            <a:endParaRPr lang="en-US" dirty="0"/>
          </a:p>
          <a:p>
            <a:r>
              <a:rPr lang="en-US" dirty="0"/>
              <a:t>(separates clinical knowledge from code)</a:t>
            </a:r>
          </a:p>
        </p:txBody>
      </p:sp>
      <p:sp>
        <p:nvSpPr>
          <p:cNvPr id="24" name="TextBox 23">
            <a:extLst>
              <a:ext uri="{FF2B5EF4-FFF2-40B4-BE49-F238E27FC236}">
                <a16:creationId xmlns:a16="http://schemas.microsoft.com/office/drawing/2014/main" id="{AC8CE894-3B5B-5642-5E08-0D58D64E90BE}"/>
              </a:ext>
            </a:extLst>
          </p:cNvPr>
          <p:cNvSpPr txBox="1"/>
          <p:nvPr/>
        </p:nvSpPr>
        <p:spPr>
          <a:xfrm>
            <a:off x="9772650" y="3850935"/>
            <a:ext cx="2211843" cy="369332"/>
          </a:xfrm>
          <a:prstGeom prst="rect">
            <a:avLst/>
          </a:prstGeom>
          <a:noFill/>
        </p:spPr>
        <p:txBody>
          <a:bodyPr wrap="square" rtlCol="0">
            <a:spAutoFit/>
          </a:bodyPr>
          <a:lstStyle/>
          <a:p>
            <a:r>
              <a:rPr lang="en-US" dirty="0"/>
              <a:t>Reference Tables</a:t>
            </a:r>
          </a:p>
        </p:txBody>
      </p:sp>
    </p:spTree>
    <p:extLst>
      <p:ext uri="{BB962C8B-B14F-4D97-AF65-F5344CB8AC3E}">
        <p14:creationId xmlns:p14="http://schemas.microsoft.com/office/powerpoint/2010/main" val="3673617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FC227-1F50-9225-3F7A-44F0735168CA}"/>
              </a:ext>
            </a:extLst>
          </p:cNvPr>
          <p:cNvSpPr>
            <a:spLocks noGrp="1"/>
          </p:cNvSpPr>
          <p:nvPr>
            <p:ph type="title"/>
          </p:nvPr>
        </p:nvSpPr>
        <p:spPr>
          <a:xfrm>
            <a:off x="838200" y="146464"/>
            <a:ext cx="10515600" cy="549275"/>
          </a:xfrm>
        </p:spPr>
        <p:txBody>
          <a:bodyPr>
            <a:normAutofit fontScale="90000"/>
          </a:bodyPr>
          <a:lstStyle/>
          <a:p>
            <a:r>
              <a:rPr lang="en-US" dirty="0"/>
              <a:t>Lookup Table Example</a:t>
            </a:r>
          </a:p>
        </p:txBody>
      </p:sp>
      <p:graphicFrame>
        <p:nvGraphicFramePr>
          <p:cNvPr id="4" name="Content Placeholder 3">
            <a:extLst>
              <a:ext uri="{FF2B5EF4-FFF2-40B4-BE49-F238E27FC236}">
                <a16:creationId xmlns:a16="http://schemas.microsoft.com/office/drawing/2014/main" id="{D99866DC-D98E-908B-C570-6729AD09D9E8}"/>
              </a:ext>
            </a:extLst>
          </p:cNvPr>
          <p:cNvGraphicFramePr>
            <a:graphicFrameLocks noGrp="1"/>
          </p:cNvGraphicFramePr>
          <p:nvPr>
            <p:ph idx="1"/>
            <p:extLst>
              <p:ext uri="{D42A27DB-BD31-4B8C-83A1-F6EECF244321}">
                <p14:modId xmlns:p14="http://schemas.microsoft.com/office/powerpoint/2010/main" val="1409767321"/>
              </p:ext>
            </p:extLst>
          </p:nvPr>
        </p:nvGraphicFramePr>
        <p:xfrm>
          <a:off x="691243" y="911091"/>
          <a:ext cx="10662557" cy="3208066"/>
        </p:xfrm>
        <a:graphic>
          <a:graphicData uri="http://schemas.openxmlformats.org/drawingml/2006/table">
            <a:tbl>
              <a:tblPr firstRow="1" firstCol="1" bandRow="1">
                <a:tableStyleId>{5C22544A-7EE6-4342-B048-85BDC9FD1C3A}</a:tableStyleId>
              </a:tblPr>
              <a:tblGrid>
                <a:gridCol w="1698491">
                  <a:extLst>
                    <a:ext uri="{9D8B030D-6E8A-4147-A177-3AD203B41FA5}">
                      <a16:colId xmlns:a16="http://schemas.microsoft.com/office/drawing/2014/main" val="311723630"/>
                    </a:ext>
                  </a:extLst>
                </a:gridCol>
                <a:gridCol w="1155571">
                  <a:extLst>
                    <a:ext uri="{9D8B030D-6E8A-4147-A177-3AD203B41FA5}">
                      <a16:colId xmlns:a16="http://schemas.microsoft.com/office/drawing/2014/main" val="3352842408"/>
                    </a:ext>
                  </a:extLst>
                </a:gridCol>
                <a:gridCol w="1283369">
                  <a:extLst>
                    <a:ext uri="{9D8B030D-6E8A-4147-A177-3AD203B41FA5}">
                      <a16:colId xmlns:a16="http://schemas.microsoft.com/office/drawing/2014/main" val="2413054445"/>
                    </a:ext>
                  </a:extLst>
                </a:gridCol>
                <a:gridCol w="1892968">
                  <a:extLst>
                    <a:ext uri="{9D8B030D-6E8A-4147-A177-3AD203B41FA5}">
                      <a16:colId xmlns:a16="http://schemas.microsoft.com/office/drawing/2014/main" val="1353504421"/>
                    </a:ext>
                  </a:extLst>
                </a:gridCol>
                <a:gridCol w="1187116">
                  <a:extLst>
                    <a:ext uri="{9D8B030D-6E8A-4147-A177-3AD203B41FA5}">
                      <a16:colId xmlns:a16="http://schemas.microsoft.com/office/drawing/2014/main" val="2229582844"/>
                    </a:ext>
                  </a:extLst>
                </a:gridCol>
                <a:gridCol w="1557450">
                  <a:extLst>
                    <a:ext uri="{9D8B030D-6E8A-4147-A177-3AD203B41FA5}">
                      <a16:colId xmlns:a16="http://schemas.microsoft.com/office/drawing/2014/main" val="766823806"/>
                    </a:ext>
                  </a:extLst>
                </a:gridCol>
                <a:gridCol w="1887592">
                  <a:extLst>
                    <a:ext uri="{9D8B030D-6E8A-4147-A177-3AD203B41FA5}">
                      <a16:colId xmlns:a16="http://schemas.microsoft.com/office/drawing/2014/main" val="2586925233"/>
                    </a:ext>
                  </a:extLst>
                </a:gridCol>
              </a:tblGrid>
              <a:tr h="537233">
                <a:tc>
                  <a:txBody>
                    <a:bodyPr/>
                    <a:lstStyle/>
                    <a:p>
                      <a:pPr marL="0" marR="0">
                        <a:buNone/>
                      </a:pPr>
                      <a:r>
                        <a:rPr lang="en-US" sz="2000">
                          <a:effectLst/>
                        </a:rPr>
                        <a:t>Drug</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Class</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HTN Start</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Titration Steps</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Max HTN</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Frequency</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dirty="0">
                          <a:effectLst/>
                        </a:rPr>
                        <a:t>Tier Map</a:t>
                      </a:r>
                      <a:endParaRPr lang="en-US" sz="20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376626847"/>
                  </a:ext>
                </a:extLst>
              </a:tr>
              <a:tr h="537233">
                <a:tc>
                  <a:txBody>
                    <a:bodyPr/>
                    <a:lstStyle/>
                    <a:p>
                      <a:pPr marL="0" marR="0">
                        <a:buNone/>
                      </a:pPr>
                      <a:r>
                        <a:rPr lang="en-US" sz="2000">
                          <a:effectLst/>
                        </a:rPr>
                        <a:t>Lisinopril</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ACEi</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10mg</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10 → 20 → 40</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40mg</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Once daily</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L=10, M=20, H=40</a:t>
                      </a:r>
                      <a:endParaRPr lang="en-US" sz="20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767401387"/>
                  </a:ext>
                </a:extLst>
              </a:tr>
              <a:tr h="537233">
                <a:tc>
                  <a:txBody>
                    <a:bodyPr/>
                    <a:lstStyle/>
                    <a:p>
                      <a:pPr marL="0" marR="0">
                        <a:buNone/>
                      </a:pPr>
                      <a:r>
                        <a:rPr lang="en-US" sz="2000">
                          <a:effectLst/>
                        </a:rPr>
                        <a:t>Enalapril</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ACEi</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5mg</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5 → 10 → 20 → 40</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40mg</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Twice daily</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L=5, M=10-20, H=40</a:t>
                      </a:r>
                      <a:endParaRPr lang="en-US" sz="20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1312948142"/>
                  </a:ext>
                </a:extLst>
              </a:tr>
              <a:tr h="537233">
                <a:tc>
                  <a:txBody>
                    <a:bodyPr/>
                    <a:lstStyle/>
                    <a:p>
                      <a:pPr marL="0" marR="0">
                        <a:buNone/>
                      </a:pPr>
                      <a:r>
                        <a:rPr lang="en-US" sz="2000">
                          <a:effectLst/>
                        </a:rPr>
                        <a:t>Losartan</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ARB</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50mg</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50 → 100</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100mg</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Once daily</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L=50, H=100</a:t>
                      </a:r>
                      <a:endParaRPr lang="en-US" sz="20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585012204"/>
                  </a:ext>
                </a:extLst>
              </a:tr>
              <a:tr h="537233">
                <a:tc>
                  <a:txBody>
                    <a:bodyPr/>
                    <a:lstStyle/>
                    <a:p>
                      <a:pPr marL="0" marR="0">
                        <a:buNone/>
                      </a:pPr>
                      <a:r>
                        <a:rPr lang="en-US" sz="2000">
                          <a:effectLst/>
                        </a:rPr>
                        <a:t>Valsartan</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dirty="0">
                          <a:effectLst/>
                        </a:rPr>
                        <a:t>ARB</a:t>
                      </a:r>
                      <a:endParaRPr lang="en-US" sz="20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80mg</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80 → 160 → 320</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320mg</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Once daily</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dirty="0">
                          <a:effectLst/>
                        </a:rPr>
                        <a:t>L=80, M=160, H=320</a:t>
                      </a:r>
                      <a:endParaRPr lang="en-US" sz="20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3870711485"/>
                  </a:ext>
                </a:extLst>
              </a:tr>
            </a:tbl>
          </a:graphicData>
        </a:graphic>
      </p:graphicFrame>
      <p:sp>
        <p:nvSpPr>
          <p:cNvPr id="7" name="TextBox 6">
            <a:extLst>
              <a:ext uri="{FF2B5EF4-FFF2-40B4-BE49-F238E27FC236}">
                <a16:creationId xmlns:a16="http://schemas.microsoft.com/office/drawing/2014/main" id="{0F01C08D-EC61-F299-35AD-F5FEF191D779}"/>
              </a:ext>
            </a:extLst>
          </p:cNvPr>
          <p:cNvSpPr txBox="1"/>
          <p:nvPr/>
        </p:nvSpPr>
        <p:spPr>
          <a:xfrm>
            <a:off x="691244" y="4486274"/>
            <a:ext cx="10425936" cy="2154436"/>
          </a:xfrm>
          <a:prstGeom prst="rect">
            <a:avLst/>
          </a:prstGeom>
          <a:noFill/>
        </p:spPr>
        <p:txBody>
          <a:bodyPr wrap="square" numCol="2" rtlCol="0">
            <a:spAutoFit/>
          </a:bodyPr>
          <a:lstStyle/>
          <a:p>
            <a:r>
              <a:rPr lang="en-US" sz="2400" dirty="0"/>
              <a:t>Additional tables: </a:t>
            </a:r>
          </a:p>
          <a:p>
            <a:pPr marL="285750" indent="-285750">
              <a:buFont typeface="Arial" panose="020B0604020202020204" pitchFamily="34" charset="0"/>
              <a:buChar char="•"/>
            </a:pPr>
            <a:r>
              <a:rPr lang="en-US" sz="2200" dirty="0"/>
              <a:t>Drug interactions</a:t>
            </a:r>
          </a:p>
          <a:p>
            <a:pPr marL="285750" indent="-285750">
              <a:buFont typeface="Arial" panose="020B0604020202020204" pitchFamily="34" charset="0"/>
              <a:buChar char="•"/>
            </a:pPr>
            <a:r>
              <a:rPr lang="en-US" sz="2200" dirty="0"/>
              <a:t>Renal dosing adjustments</a:t>
            </a:r>
          </a:p>
          <a:p>
            <a:pPr marL="285750" indent="-285750">
              <a:buFont typeface="Arial" panose="020B0604020202020204" pitchFamily="34" charset="0"/>
              <a:buChar char="•"/>
            </a:pPr>
            <a:r>
              <a:rPr lang="en-US" sz="2200" dirty="0"/>
              <a:t>Disease-specific indications</a:t>
            </a:r>
          </a:p>
          <a:p>
            <a:pPr marL="285750" indent="-285750">
              <a:buFont typeface="Arial" panose="020B0604020202020204" pitchFamily="34" charset="0"/>
              <a:buChar char="•"/>
            </a:pPr>
            <a:r>
              <a:rPr lang="en-US" sz="2200" dirty="0"/>
              <a:t>Single pill combinations</a:t>
            </a:r>
          </a:p>
          <a:p>
            <a:pPr marL="285750" indent="-285750">
              <a:buFont typeface="Arial" panose="020B0604020202020204" pitchFamily="34" charset="0"/>
              <a:buChar char="•"/>
            </a:pPr>
            <a:r>
              <a:rPr lang="en-US" sz="2200" dirty="0"/>
              <a:t>Side effects</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BP goal rules</a:t>
            </a:r>
          </a:p>
          <a:p>
            <a:pPr marL="285750" indent="-285750">
              <a:buFont typeface="Arial" panose="020B0604020202020204" pitchFamily="34" charset="0"/>
              <a:buChar char="•"/>
            </a:pPr>
            <a:r>
              <a:rPr lang="en-US" sz="2200" dirty="0"/>
              <a:t>HBPM protocol parameters</a:t>
            </a:r>
          </a:p>
        </p:txBody>
      </p:sp>
    </p:spTree>
    <p:extLst>
      <p:ext uri="{BB962C8B-B14F-4D97-AF65-F5344CB8AC3E}">
        <p14:creationId xmlns:p14="http://schemas.microsoft.com/office/powerpoint/2010/main" val="39515492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21E5A-4B5F-B2D4-AFD4-AB92482BE31B}"/>
              </a:ext>
            </a:extLst>
          </p:cNvPr>
          <p:cNvSpPr>
            <a:spLocks noGrp="1"/>
          </p:cNvSpPr>
          <p:nvPr>
            <p:ph type="title"/>
          </p:nvPr>
        </p:nvSpPr>
        <p:spPr>
          <a:xfrm>
            <a:off x="3015917" y="0"/>
            <a:ext cx="6368716" cy="502024"/>
          </a:xfrm>
        </p:spPr>
        <p:txBody>
          <a:bodyPr>
            <a:normAutofit fontScale="90000"/>
          </a:bodyPr>
          <a:lstStyle/>
          <a:p>
            <a:r>
              <a:rPr lang="en-US" dirty="0"/>
              <a:t>Core Data Flows (examples)</a:t>
            </a:r>
          </a:p>
        </p:txBody>
      </p:sp>
      <p:sp>
        <p:nvSpPr>
          <p:cNvPr id="3" name="Content Placeholder 2">
            <a:extLst>
              <a:ext uri="{FF2B5EF4-FFF2-40B4-BE49-F238E27FC236}">
                <a16:creationId xmlns:a16="http://schemas.microsoft.com/office/drawing/2014/main" id="{C97BE0B0-1FB0-5BE2-369F-F270CCB9C947}"/>
              </a:ext>
            </a:extLst>
          </p:cNvPr>
          <p:cNvSpPr>
            <a:spLocks noGrp="1"/>
          </p:cNvSpPr>
          <p:nvPr>
            <p:ph idx="1"/>
          </p:nvPr>
        </p:nvSpPr>
        <p:spPr>
          <a:xfrm>
            <a:off x="0" y="502024"/>
            <a:ext cx="12192000" cy="5965825"/>
          </a:xfrm>
        </p:spPr>
        <p:txBody>
          <a:bodyPr>
            <a:noAutofit/>
          </a:bodyPr>
          <a:lstStyle/>
          <a:p>
            <a:pPr marL="0" indent="0">
              <a:buNone/>
            </a:pPr>
            <a:r>
              <a:rPr lang="en-US" sz="1800" b="1" dirty="0"/>
              <a:t>Flow 1: Patient submits BP reading </a:t>
            </a:r>
          </a:p>
          <a:p>
            <a:r>
              <a:rPr lang="en-US" sz="1800" dirty="0"/>
              <a:t>Parse -&gt; validate -&gt; store in FHIR (with position tag if orthostatic) -&gt; classify BP -&gt; assess pulse -&gt; check state machine -&gt; (possibly trigger tree traversal -&gt; safety checks -&gt; execute or queue) -&gt; generate note -&gt; respond to patient</a:t>
            </a:r>
          </a:p>
          <a:p>
            <a:pPr marL="0" indent="0">
              <a:buNone/>
            </a:pPr>
            <a:r>
              <a:rPr lang="en-US" sz="1800" b="1" dirty="0"/>
              <a:t>Flow 2: Lab result arrives</a:t>
            </a:r>
          </a:p>
          <a:p>
            <a:r>
              <a:rPr lang="en-US" sz="1800" dirty="0"/>
              <a:t>Health Gorilla -&gt; normalize to FHIR Observation -&gt; immediate lab safety check against patient's current drugs </a:t>
            </a:r>
          </a:p>
          <a:p>
            <a:pPr lvl="1"/>
            <a:r>
              <a:rPr lang="en-US" sz="1800" dirty="0"/>
              <a:t>-&gt; CRITICAL: auto-escalate + hold medication + notify clinician + message patient. WARNING: Layer 2 reasoning + queue for clinician.</a:t>
            </a:r>
          </a:p>
          <a:p>
            <a:pPr lvl="1"/>
            <a:r>
              <a:rPr lang="en-US" sz="1800" dirty="0"/>
              <a:t>-&gt; NORMAL: log, inform patient if follow-up lab.</a:t>
            </a:r>
          </a:p>
          <a:p>
            <a:r>
              <a:rPr lang="en-US" sz="1800" dirty="0"/>
              <a:t>Pregnancy detection: If lab is HCG AND result is positive/elevated AND patient is on </a:t>
            </a:r>
            <a:r>
              <a:rPr lang="en-US" sz="1800" dirty="0" err="1"/>
              <a:t>ACEi</a:t>
            </a:r>
            <a:r>
              <a:rPr lang="en-US" sz="1800" dirty="0"/>
              <a:t>/ARB → treat as CRITICAL</a:t>
            </a:r>
          </a:p>
          <a:p>
            <a:pPr marL="0" indent="0">
              <a:buNone/>
            </a:pPr>
            <a:r>
              <a:rPr lang="en-US" sz="1800" b="1" dirty="0"/>
              <a:t>Flow 3: Side effect report</a:t>
            </a:r>
          </a:p>
          <a:p>
            <a:r>
              <a:rPr lang="en-US" sz="1800" dirty="0"/>
              <a:t>Patient message -&gt; symptom extraction -&gt; structured side effect lookup (match against current meds) -&gt; RAG counseling narrative -&gt; ask follow-up questions -&gt; if drug change needed: Layer 2 reasoning -&gt; clinician review</a:t>
            </a:r>
          </a:p>
          <a:p>
            <a:pPr marL="0" indent="0">
              <a:buNone/>
            </a:pPr>
            <a:r>
              <a:rPr lang="en-US" sz="1800" b="1" dirty="0"/>
              <a:t>Flow 4: Follow-up timer</a:t>
            </a:r>
          </a:p>
          <a:p>
            <a:r>
              <a:rPr lang="en-US" sz="1800" dirty="0"/>
              <a:t>Scheduler fires daily </a:t>
            </a:r>
          </a:p>
          <a:p>
            <a:pPr lvl="1"/>
            <a:r>
              <a:rPr lang="en-US" sz="1800" dirty="0"/>
              <a:t>&gt; AWAITING_DRUG_EFFECT + follow-up due -&gt; proactive message</a:t>
            </a:r>
          </a:p>
          <a:p>
            <a:pPr lvl="1"/>
            <a:r>
              <a:rPr lang="en-US" sz="1800" dirty="0"/>
              <a:t>AT_GOAL + routine check due -&gt; request reading</a:t>
            </a:r>
          </a:p>
          <a:p>
            <a:pPr lvl="1"/>
            <a:r>
              <a:rPr lang="en-US" sz="1800" dirty="0"/>
              <a:t>LIFESTYLE_ONLY + trial end -&gt; re-evaluate</a:t>
            </a:r>
          </a:p>
          <a:p>
            <a:pPr lvl="1"/>
            <a:r>
              <a:rPr lang="en-US" sz="1800" dirty="0"/>
              <a:t>Monitoring gaps -&gt; prompt labs</a:t>
            </a:r>
          </a:p>
          <a:p>
            <a:pPr lvl="1"/>
            <a:r>
              <a:rPr lang="en-US" sz="1800" dirty="0"/>
              <a:t>PENDING_CLINICIAN &gt; 48 hours -&gt; nudge clinician</a:t>
            </a:r>
          </a:p>
        </p:txBody>
      </p:sp>
    </p:spTree>
    <p:extLst>
      <p:ext uri="{BB962C8B-B14F-4D97-AF65-F5344CB8AC3E}">
        <p14:creationId xmlns:p14="http://schemas.microsoft.com/office/powerpoint/2010/main" val="2166972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02053B6-4F63-56DA-8C0C-D99B565B5479}"/>
              </a:ext>
            </a:extLst>
          </p:cNvPr>
          <p:cNvGraphicFramePr>
            <a:graphicFrameLocks noGrp="1"/>
          </p:cNvGraphicFramePr>
          <p:nvPr>
            <p:extLst>
              <p:ext uri="{D42A27DB-BD31-4B8C-83A1-F6EECF244321}">
                <p14:modId xmlns:p14="http://schemas.microsoft.com/office/powerpoint/2010/main" val="532691265"/>
              </p:ext>
            </p:extLst>
          </p:nvPr>
        </p:nvGraphicFramePr>
        <p:xfrm>
          <a:off x="0" y="545432"/>
          <a:ext cx="12192000" cy="6298403"/>
        </p:xfrm>
        <a:graphic>
          <a:graphicData uri="http://schemas.openxmlformats.org/drawingml/2006/table">
            <a:tbl>
              <a:tblPr/>
              <a:tblGrid>
                <a:gridCol w="3048000">
                  <a:extLst>
                    <a:ext uri="{9D8B030D-6E8A-4147-A177-3AD203B41FA5}">
                      <a16:colId xmlns:a16="http://schemas.microsoft.com/office/drawing/2014/main" val="2076076665"/>
                    </a:ext>
                  </a:extLst>
                </a:gridCol>
                <a:gridCol w="3048000">
                  <a:extLst>
                    <a:ext uri="{9D8B030D-6E8A-4147-A177-3AD203B41FA5}">
                      <a16:colId xmlns:a16="http://schemas.microsoft.com/office/drawing/2014/main" val="658688882"/>
                    </a:ext>
                  </a:extLst>
                </a:gridCol>
                <a:gridCol w="3048000">
                  <a:extLst>
                    <a:ext uri="{9D8B030D-6E8A-4147-A177-3AD203B41FA5}">
                      <a16:colId xmlns:a16="http://schemas.microsoft.com/office/drawing/2014/main" val="1152950133"/>
                    </a:ext>
                  </a:extLst>
                </a:gridCol>
                <a:gridCol w="3048000">
                  <a:extLst>
                    <a:ext uri="{9D8B030D-6E8A-4147-A177-3AD203B41FA5}">
                      <a16:colId xmlns:a16="http://schemas.microsoft.com/office/drawing/2014/main" val="1067687201"/>
                    </a:ext>
                  </a:extLst>
                </a:gridCol>
              </a:tblGrid>
              <a:tr h="374270">
                <a:tc>
                  <a:txBody>
                    <a:bodyPr/>
                    <a:lstStyle/>
                    <a:p>
                      <a:pPr>
                        <a:buNone/>
                      </a:pPr>
                      <a:r>
                        <a:rPr lang="en-US" sz="2000" b="1">
                          <a:solidFill>
                            <a:srgbClr val="000000"/>
                          </a:solidFill>
                          <a:effectLst/>
                        </a:rPr>
                        <a:t>Chose</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b="1" dirty="0">
                          <a:solidFill>
                            <a:srgbClr val="000000"/>
                          </a:solidFill>
                          <a:effectLst/>
                        </a:rPr>
                        <a:t>Over</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b="1" dirty="0">
                          <a:solidFill>
                            <a:srgbClr val="000000"/>
                          </a:solidFill>
                          <a:effectLst/>
                        </a:rPr>
                        <a:t>Because</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b="1" dirty="0">
                          <a:solidFill>
                            <a:srgbClr val="000000"/>
                          </a:solidFill>
                          <a:effectLst/>
                        </a:rPr>
                        <a:t>But</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3075930060"/>
                  </a:ext>
                </a:extLst>
              </a:tr>
              <a:tr h="638462">
                <a:tc>
                  <a:txBody>
                    <a:bodyPr/>
                    <a:lstStyle/>
                    <a:p>
                      <a:pPr>
                        <a:buNone/>
                      </a:pPr>
                      <a:r>
                        <a:rPr lang="en-US" sz="2000" dirty="0">
                          <a:effectLst/>
                        </a:rPr>
                        <a:t>Single agent + policy layers</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dirty="0">
                          <a:effectLst/>
                        </a:rPr>
                        <a:t>Multi-agent</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a:effectLst/>
                        </a:rPr>
                        <a:t>Handoff failures are a safety risk</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dirty="0">
                          <a:effectLst/>
                        </a:rPr>
                        <a:t>More infrastructure than monolithic single agent, more work to add capabilities</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3497749765"/>
                  </a:ext>
                </a:extLst>
              </a:tr>
              <a:tr h="638462">
                <a:tc>
                  <a:txBody>
                    <a:bodyPr/>
                    <a:lstStyle/>
                    <a:p>
                      <a:pPr>
                        <a:buNone/>
                      </a:pPr>
                      <a:r>
                        <a:rPr lang="en-US" sz="2000" dirty="0">
                          <a:effectLst/>
                        </a:rPr>
                        <a:t>Deterministic trees (80%)</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a:effectLst/>
                        </a:rPr>
                        <a:t>Pure LLM reasoning</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a:effectLst/>
                        </a:rPr>
                        <a:t>Prescribing must be auditable</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dirty="0">
                          <a:effectLst/>
                        </a:rPr>
                        <a:t>Overhead of building and maintaining the trees</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591424907"/>
                  </a:ext>
                </a:extLst>
              </a:tr>
              <a:tr h="978189">
                <a:tc>
                  <a:txBody>
                    <a:bodyPr/>
                    <a:lstStyle/>
                    <a:p>
                      <a:pPr>
                        <a:buNone/>
                      </a:pPr>
                      <a:r>
                        <a:rPr lang="en-US" sz="2000">
                          <a:effectLst/>
                        </a:rPr>
                        <a:t>Cross-provider judge</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a:effectLst/>
                        </a:rPr>
                        <a:t>Same-provider</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a:effectLst/>
                        </a:rPr>
                        <a:t>Model diversity catches correlated failures</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dirty="0">
                          <a:effectLst/>
                        </a:rPr>
                        <a:t>Increase in infrastructure, latency</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2814872189"/>
                  </a:ext>
                </a:extLst>
              </a:tr>
              <a:tr h="902654">
                <a:tc>
                  <a:txBody>
                    <a:bodyPr/>
                    <a:lstStyle/>
                    <a:p>
                      <a:pPr>
                        <a:buNone/>
                      </a:pPr>
                      <a:r>
                        <a:rPr lang="en-US" sz="2000" dirty="0">
                          <a:effectLst/>
                        </a:rPr>
                        <a:t>Adherence gating</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a:effectLst/>
                        </a:rPr>
                        <a:t>Escalate immediately</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a:effectLst/>
                        </a:rPr>
                        <a:t>#1 cause of uncontrolled BP is non-adherence</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dirty="0">
                          <a:effectLst/>
                        </a:rPr>
                        <a:t>More complicated state machine, slower </a:t>
                      </a:r>
                      <a:r>
                        <a:rPr lang="en-US" sz="2000" dirty="0" err="1">
                          <a:effectLst/>
                        </a:rPr>
                        <a:t>uptitration</a:t>
                      </a:r>
                      <a:endParaRPr lang="en-US" sz="2000" dirty="0">
                        <a:effectLst/>
                      </a:endParaRP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4009425277"/>
                  </a:ext>
                </a:extLst>
              </a:tr>
              <a:tr h="902654">
                <a:tc>
                  <a:txBody>
                    <a:bodyPr/>
                    <a:lstStyle/>
                    <a:p>
                      <a:pPr>
                        <a:buNone/>
                      </a:pPr>
                      <a:r>
                        <a:rPr lang="en-US" sz="2000">
                          <a:effectLst/>
                        </a:rPr>
                        <a:t>Two-tier emergency</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a:effectLst/>
                        </a:rPr>
                        <a:t>LLM-only</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a:effectLst/>
                        </a:rPr>
                        <a:t>Keywords work when LLM is down</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dirty="0">
                          <a:effectLst/>
                        </a:rPr>
                        <a:t>Keyword table to maintain</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3913190780"/>
                  </a:ext>
                </a:extLst>
              </a:tr>
              <a:tr h="638462">
                <a:tc>
                  <a:txBody>
                    <a:bodyPr/>
                    <a:lstStyle/>
                    <a:p>
                      <a:pPr>
                        <a:buNone/>
                      </a:pPr>
                      <a:r>
                        <a:rPr lang="en-US" sz="2000">
                          <a:effectLst/>
                        </a:rPr>
                        <a:t>Graduation path</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a:effectLst/>
                        </a:rPr>
                        <a:t>Start autonomous</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dirty="0">
                          <a:effectLst/>
                        </a:rPr>
                        <a:t>Trust built incrementally</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buNone/>
                      </a:pPr>
                      <a:r>
                        <a:rPr lang="en-US" sz="2000" dirty="0">
                          <a:effectLst/>
                        </a:rPr>
                        <a:t>More work to assess performance, need to remediate if necessary</a:t>
                      </a:r>
                    </a:p>
                  </a:txBody>
                  <a:tcPr marL="98618" marR="98618" marT="45516" marB="4551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2776971577"/>
                  </a:ext>
                </a:extLst>
              </a:tr>
            </a:tbl>
          </a:graphicData>
        </a:graphic>
      </p:graphicFrame>
      <p:sp>
        <p:nvSpPr>
          <p:cNvPr id="6" name="Title 1">
            <a:extLst>
              <a:ext uri="{FF2B5EF4-FFF2-40B4-BE49-F238E27FC236}">
                <a16:creationId xmlns:a16="http://schemas.microsoft.com/office/drawing/2014/main" id="{25E59BBF-3AF1-CB0B-6EAA-06BAE3C5B560}"/>
              </a:ext>
            </a:extLst>
          </p:cNvPr>
          <p:cNvSpPr>
            <a:spLocks noGrp="1"/>
          </p:cNvSpPr>
          <p:nvPr>
            <p:ph type="title"/>
          </p:nvPr>
        </p:nvSpPr>
        <p:spPr>
          <a:xfrm>
            <a:off x="838200" y="36733"/>
            <a:ext cx="10515600" cy="398944"/>
          </a:xfrm>
        </p:spPr>
        <p:txBody>
          <a:bodyPr>
            <a:normAutofit fontScale="90000"/>
          </a:bodyPr>
          <a:lstStyle/>
          <a:p>
            <a:pPr algn="ctr"/>
            <a:r>
              <a:rPr lang="en-US" dirty="0"/>
              <a:t>Trade-offs</a:t>
            </a:r>
          </a:p>
        </p:txBody>
      </p:sp>
    </p:spTree>
    <p:extLst>
      <p:ext uri="{BB962C8B-B14F-4D97-AF65-F5344CB8AC3E}">
        <p14:creationId xmlns:p14="http://schemas.microsoft.com/office/powerpoint/2010/main" val="3413977516"/>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583B9-606D-7BF4-7485-176B4D0ABD28}"/>
              </a:ext>
            </a:extLst>
          </p:cNvPr>
          <p:cNvSpPr>
            <a:spLocks noGrp="1"/>
          </p:cNvSpPr>
          <p:nvPr>
            <p:ph type="title"/>
          </p:nvPr>
        </p:nvSpPr>
        <p:spPr>
          <a:xfrm>
            <a:off x="838200" y="18256"/>
            <a:ext cx="10515600" cy="683873"/>
          </a:xfrm>
        </p:spPr>
        <p:txBody>
          <a:bodyPr>
            <a:normAutofit fontScale="90000"/>
          </a:bodyPr>
          <a:lstStyle/>
          <a:p>
            <a:pPr algn="ctr"/>
            <a:r>
              <a:rPr lang="en-US" dirty="0"/>
              <a:t>Autonomy is earned (prescribing)</a:t>
            </a:r>
          </a:p>
        </p:txBody>
      </p:sp>
      <p:sp>
        <p:nvSpPr>
          <p:cNvPr id="4" name="Rounded Rectangle 3">
            <a:extLst>
              <a:ext uri="{FF2B5EF4-FFF2-40B4-BE49-F238E27FC236}">
                <a16:creationId xmlns:a16="http://schemas.microsoft.com/office/drawing/2014/main" id="{5739383C-6E5E-51A3-917F-E9B834B588EB}"/>
              </a:ext>
            </a:extLst>
          </p:cNvPr>
          <p:cNvSpPr/>
          <p:nvPr/>
        </p:nvSpPr>
        <p:spPr>
          <a:xfrm>
            <a:off x="216024" y="1669597"/>
            <a:ext cx="1497834" cy="16138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Phase 1</a:t>
            </a:r>
          </a:p>
          <a:p>
            <a:r>
              <a:rPr lang="en-US" dirty="0">
                <a:solidFill>
                  <a:schemeClr val="tx1"/>
                </a:solidFill>
              </a:rPr>
              <a:t>All clinician approval</a:t>
            </a:r>
          </a:p>
        </p:txBody>
      </p:sp>
      <p:sp>
        <p:nvSpPr>
          <p:cNvPr id="5" name="Rounded Rectangle 4">
            <a:extLst>
              <a:ext uri="{FF2B5EF4-FFF2-40B4-BE49-F238E27FC236}">
                <a16:creationId xmlns:a16="http://schemas.microsoft.com/office/drawing/2014/main" id="{235995A1-6AB2-01A8-4F4E-FA245B824520}"/>
              </a:ext>
            </a:extLst>
          </p:cNvPr>
          <p:cNvSpPr/>
          <p:nvPr/>
        </p:nvSpPr>
        <p:spPr>
          <a:xfrm>
            <a:off x="1858315" y="1682015"/>
            <a:ext cx="2988702" cy="16138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&gt;250 recs</a:t>
            </a:r>
          </a:p>
          <a:p>
            <a:r>
              <a:rPr lang="en-US" dirty="0">
                <a:solidFill>
                  <a:schemeClr val="tx1"/>
                </a:solidFill>
              </a:rPr>
              <a:t>- 95% approval</a:t>
            </a:r>
          </a:p>
          <a:p>
            <a:r>
              <a:rPr lang="en-US" dirty="0">
                <a:solidFill>
                  <a:schemeClr val="tx1"/>
                </a:solidFill>
              </a:rPr>
              <a:t>- 0 safety rejections</a:t>
            </a:r>
          </a:p>
          <a:p>
            <a:r>
              <a:rPr lang="en-US" dirty="0">
                <a:solidFill>
                  <a:schemeClr val="tx1"/>
                </a:solidFill>
              </a:rPr>
              <a:t>- Judge agreement &gt; 90%</a:t>
            </a:r>
          </a:p>
        </p:txBody>
      </p:sp>
      <p:sp>
        <p:nvSpPr>
          <p:cNvPr id="6" name="Rounded Rectangle 5">
            <a:extLst>
              <a:ext uri="{FF2B5EF4-FFF2-40B4-BE49-F238E27FC236}">
                <a16:creationId xmlns:a16="http://schemas.microsoft.com/office/drawing/2014/main" id="{3478845E-F711-CA39-503D-462991FBAAC1}"/>
              </a:ext>
            </a:extLst>
          </p:cNvPr>
          <p:cNvSpPr/>
          <p:nvPr/>
        </p:nvSpPr>
        <p:spPr>
          <a:xfrm>
            <a:off x="4982683" y="1682015"/>
            <a:ext cx="1676740" cy="1613817"/>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Phase 2</a:t>
            </a:r>
          </a:p>
          <a:p>
            <a:r>
              <a:rPr lang="en-US" dirty="0" err="1">
                <a:solidFill>
                  <a:schemeClr val="tx1"/>
                </a:solidFill>
              </a:rPr>
              <a:t>Uptitrate</a:t>
            </a:r>
            <a:r>
              <a:rPr lang="en-US" dirty="0">
                <a:solidFill>
                  <a:schemeClr val="tx1"/>
                </a:solidFill>
              </a:rPr>
              <a:t> = Autonomous</a:t>
            </a:r>
          </a:p>
        </p:txBody>
      </p:sp>
      <p:sp>
        <p:nvSpPr>
          <p:cNvPr id="7" name="Rounded Rectangle 6">
            <a:extLst>
              <a:ext uri="{FF2B5EF4-FFF2-40B4-BE49-F238E27FC236}">
                <a16:creationId xmlns:a16="http://schemas.microsoft.com/office/drawing/2014/main" id="{97A71332-7F46-2B06-088E-32193BB19E89}"/>
              </a:ext>
            </a:extLst>
          </p:cNvPr>
          <p:cNvSpPr/>
          <p:nvPr/>
        </p:nvSpPr>
        <p:spPr>
          <a:xfrm>
            <a:off x="6795089" y="1682015"/>
            <a:ext cx="2988702" cy="16138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&gt;500 total</a:t>
            </a:r>
          </a:p>
          <a:p>
            <a:r>
              <a:rPr lang="en-US" dirty="0">
                <a:solidFill>
                  <a:schemeClr val="tx1"/>
                </a:solidFill>
              </a:rPr>
              <a:t>&gt;100 </a:t>
            </a:r>
            <a:r>
              <a:rPr lang="en-US" dirty="0" err="1">
                <a:solidFill>
                  <a:schemeClr val="tx1"/>
                </a:solidFill>
              </a:rPr>
              <a:t>uptitrations</a:t>
            </a:r>
            <a:endParaRPr lang="en-US" dirty="0">
              <a:solidFill>
                <a:schemeClr val="tx1"/>
              </a:solidFill>
            </a:endParaRPr>
          </a:p>
          <a:p>
            <a:r>
              <a:rPr lang="en-US" dirty="0">
                <a:solidFill>
                  <a:schemeClr val="tx1"/>
                </a:solidFill>
              </a:rPr>
              <a:t>- 95% add drug approval</a:t>
            </a:r>
          </a:p>
          <a:p>
            <a:r>
              <a:rPr lang="en-US" dirty="0">
                <a:solidFill>
                  <a:schemeClr val="tx1"/>
                </a:solidFill>
              </a:rPr>
              <a:t>0 safety rejections</a:t>
            </a:r>
          </a:p>
          <a:p>
            <a:r>
              <a:rPr lang="en-US" dirty="0">
                <a:solidFill>
                  <a:schemeClr val="tx1"/>
                </a:solidFill>
              </a:rPr>
              <a:t>&gt; Judge agreement &gt; 90%</a:t>
            </a:r>
          </a:p>
        </p:txBody>
      </p:sp>
      <p:sp>
        <p:nvSpPr>
          <p:cNvPr id="8" name="Rounded Rectangle 7">
            <a:extLst>
              <a:ext uri="{FF2B5EF4-FFF2-40B4-BE49-F238E27FC236}">
                <a16:creationId xmlns:a16="http://schemas.microsoft.com/office/drawing/2014/main" id="{6EC8C7D3-10A6-46E1-451E-0B1B2A88C6DD}"/>
              </a:ext>
            </a:extLst>
          </p:cNvPr>
          <p:cNvSpPr/>
          <p:nvPr/>
        </p:nvSpPr>
        <p:spPr>
          <a:xfrm>
            <a:off x="9919456" y="1682015"/>
            <a:ext cx="1910239" cy="1613817"/>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Phase 3</a:t>
            </a:r>
          </a:p>
          <a:p>
            <a:r>
              <a:rPr lang="en-US" dirty="0" err="1">
                <a:solidFill>
                  <a:schemeClr val="tx1"/>
                </a:solidFill>
              </a:rPr>
              <a:t>Uptitrate</a:t>
            </a:r>
            <a:r>
              <a:rPr lang="en-US" dirty="0">
                <a:solidFill>
                  <a:schemeClr val="tx1"/>
                </a:solidFill>
              </a:rPr>
              <a:t> + add = Autonomous</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7EE0877-8594-E887-B89B-4EB4755BB420}"/>
              </a:ext>
            </a:extLst>
          </p:cNvPr>
          <p:cNvSpPr>
            <a:spLocks noGrp="1"/>
          </p:cNvSpPr>
          <p:nvPr>
            <p:ph type="title"/>
          </p:nvPr>
        </p:nvSpPr>
        <p:spPr>
          <a:xfrm>
            <a:off x="838200" y="18256"/>
            <a:ext cx="10515600" cy="683873"/>
          </a:xfrm>
        </p:spPr>
        <p:txBody>
          <a:bodyPr>
            <a:normAutofit fontScale="90000"/>
          </a:bodyPr>
          <a:lstStyle/>
          <a:p>
            <a:pPr algn="ctr"/>
            <a:r>
              <a:rPr lang="en-US" dirty="0"/>
              <a:t>Autonomy is earned (other)</a:t>
            </a:r>
          </a:p>
        </p:txBody>
      </p:sp>
      <p:sp>
        <p:nvSpPr>
          <p:cNvPr id="6" name="TextBox 5">
            <a:extLst>
              <a:ext uri="{FF2B5EF4-FFF2-40B4-BE49-F238E27FC236}">
                <a16:creationId xmlns:a16="http://schemas.microsoft.com/office/drawing/2014/main" id="{4379ADAF-0DEE-DBDE-D2E3-A4A2C2D20882}"/>
              </a:ext>
            </a:extLst>
          </p:cNvPr>
          <p:cNvSpPr txBox="1"/>
          <p:nvPr/>
        </p:nvSpPr>
        <p:spPr>
          <a:xfrm>
            <a:off x="636814" y="963386"/>
            <a:ext cx="10923815" cy="3046988"/>
          </a:xfrm>
          <a:prstGeom prst="rect">
            <a:avLst/>
          </a:prstGeom>
          <a:noFill/>
        </p:spPr>
        <p:txBody>
          <a:bodyPr wrap="square" rtlCol="0">
            <a:spAutoFit/>
          </a:bodyPr>
          <a:lstStyle/>
          <a:p>
            <a:pPr marL="285750" lvl="0" indent="-285750">
              <a:buFont typeface="Arial" panose="020B0604020202020204" pitchFamily="34" charset="0"/>
              <a:buChar char="•"/>
            </a:pPr>
            <a:r>
              <a:rPr lang="en-US" sz="2400" dirty="0"/>
              <a:t>Record BP reading</a:t>
            </a:r>
          </a:p>
          <a:p>
            <a:pPr marL="285750" lvl="0" indent="-285750">
              <a:buFont typeface="Arial" panose="020B0604020202020204" pitchFamily="34" charset="0"/>
              <a:buChar char="•"/>
            </a:pPr>
            <a:r>
              <a:rPr lang="en-US" sz="2400" dirty="0"/>
              <a:t>Classify BP (deterministic rules)</a:t>
            </a:r>
          </a:p>
          <a:p>
            <a:pPr marL="285750" lvl="0" indent="-285750">
              <a:buFont typeface="Arial" panose="020B0604020202020204" pitchFamily="34" charset="0"/>
              <a:buChar char="•"/>
            </a:pPr>
            <a:r>
              <a:rPr lang="en-US" sz="2400" dirty="0"/>
              <a:t>Lifestyle coaching</a:t>
            </a:r>
          </a:p>
          <a:p>
            <a:pPr marL="285750" lvl="0" indent="-285750">
              <a:buFont typeface="Arial" panose="020B0604020202020204" pitchFamily="34" charset="0"/>
              <a:buChar char="•"/>
            </a:pPr>
            <a:r>
              <a:rPr lang="en-US" sz="2400" dirty="0"/>
              <a:t>Trigger crisis escalation (hard-coded safety layer)</a:t>
            </a:r>
          </a:p>
          <a:p>
            <a:pPr marL="285750" lvl="0" indent="-285750">
              <a:buFont typeface="Arial" panose="020B0604020202020204" pitchFamily="34" charset="0"/>
              <a:buChar char="•"/>
            </a:pPr>
            <a:r>
              <a:rPr lang="en-US" sz="2400" dirty="0"/>
              <a:t>Schedule follow-up (guideline-based intervals)</a:t>
            </a:r>
          </a:p>
          <a:p>
            <a:pPr marL="285750" lvl="0" indent="-285750">
              <a:buFont typeface="Arial" panose="020B0604020202020204" pitchFamily="34" charset="0"/>
              <a:buChar char="•"/>
            </a:pPr>
            <a:r>
              <a:rPr lang="en-US" sz="2400" dirty="0"/>
              <a:t>Order routine monitoring labs (per drug class rules)</a:t>
            </a:r>
          </a:p>
          <a:p>
            <a:pPr marL="285750" lvl="0" indent="-285750">
              <a:buFont typeface="Arial" panose="020B0604020202020204" pitchFamily="34" charset="0"/>
              <a:buChar char="•"/>
            </a:pPr>
            <a:r>
              <a:rPr lang="en-US" sz="2400" dirty="0"/>
              <a:t>Flag monitoring gaps (deterministic)</a:t>
            </a:r>
          </a:p>
          <a:p>
            <a:pPr marL="285750" lvl="0" indent="-285750">
              <a:buFont typeface="Arial" panose="020B0604020202020204" pitchFamily="34" charset="0"/>
              <a:buChar char="•"/>
            </a:pPr>
            <a:r>
              <a:rPr lang="en-US" sz="2400" dirty="0"/>
              <a:t>Patient education (RAG over guidelines)</a:t>
            </a:r>
          </a:p>
        </p:txBody>
      </p:sp>
    </p:spTree>
    <p:extLst>
      <p:ext uri="{BB962C8B-B14F-4D97-AF65-F5344CB8AC3E}">
        <p14:creationId xmlns:p14="http://schemas.microsoft.com/office/powerpoint/2010/main" val="3099724041"/>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84ED2-DD38-5B20-E39F-85339231F2F5}"/>
              </a:ext>
            </a:extLst>
          </p:cNvPr>
          <p:cNvSpPr txBox="1"/>
          <p:nvPr/>
        </p:nvSpPr>
        <p:spPr>
          <a:xfrm>
            <a:off x="751114" y="1175657"/>
            <a:ext cx="10711543" cy="1938992"/>
          </a:xfrm>
          <a:prstGeom prst="rect">
            <a:avLst/>
          </a:prstGeom>
          <a:noFill/>
        </p:spPr>
        <p:txBody>
          <a:bodyPr wrap="square" rtlCol="0">
            <a:spAutoFit/>
          </a:bodyPr>
          <a:lstStyle/>
          <a:p>
            <a:pPr marL="342900" lvl="0" indent="-342900">
              <a:buFont typeface="Arial" panose="020B0604020202020204" pitchFamily="34" charset="0"/>
              <a:buChar char="•"/>
            </a:pPr>
            <a:r>
              <a:rPr lang="en-US" sz="2400" dirty="0"/>
              <a:t>Remove a drug</a:t>
            </a:r>
          </a:p>
          <a:p>
            <a:pPr marL="342900" lvl="0" indent="-342900">
              <a:buFont typeface="Arial" panose="020B0604020202020204" pitchFamily="34" charset="0"/>
              <a:buChar char="•"/>
            </a:pPr>
            <a:r>
              <a:rPr lang="en-US" sz="2400" dirty="0"/>
              <a:t>Down-titrate a drug</a:t>
            </a:r>
          </a:p>
          <a:p>
            <a:pPr marL="342900" lvl="0" indent="-342900">
              <a:buFont typeface="Arial" panose="020B0604020202020204" pitchFamily="34" charset="0"/>
              <a:buChar char="•"/>
            </a:pPr>
            <a:r>
              <a:rPr lang="en-US" sz="2400" dirty="0"/>
              <a:t>Switch drug due to side effect</a:t>
            </a:r>
          </a:p>
          <a:p>
            <a:pPr marL="342900" lvl="0" indent="-342900">
              <a:buFont typeface="Arial" panose="020B0604020202020204" pitchFamily="34" charset="0"/>
              <a:buChar char="•"/>
            </a:pPr>
            <a:r>
              <a:rPr lang="en-US" sz="2400" dirty="0"/>
              <a:t>Resistant HTN management</a:t>
            </a:r>
          </a:p>
          <a:p>
            <a:pPr marL="342900" lvl="0" indent="-342900">
              <a:buFont typeface="Arial" panose="020B0604020202020204" pitchFamily="34" charset="0"/>
              <a:buChar char="•"/>
            </a:pPr>
            <a:r>
              <a:rPr lang="en-US" sz="2400" dirty="0"/>
              <a:t>Crisis management</a:t>
            </a:r>
          </a:p>
        </p:txBody>
      </p:sp>
      <p:sp>
        <p:nvSpPr>
          <p:cNvPr id="8" name="Title 1">
            <a:extLst>
              <a:ext uri="{FF2B5EF4-FFF2-40B4-BE49-F238E27FC236}">
                <a16:creationId xmlns:a16="http://schemas.microsoft.com/office/drawing/2014/main" id="{D9D00CE3-A9DA-836C-120F-6B0422506C89}"/>
              </a:ext>
            </a:extLst>
          </p:cNvPr>
          <p:cNvSpPr>
            <a:spLocks noGrp="1"/>
          </p:cNvSpPr>
          <p:nvPr>
            <p:ph type="title"/>
          </p:nvPr>
        </p:nvSpPr>
        <p:spPr>
          <a:xfrm>
            <a:off x="838200" y="18256"/>
            <a:ext cx="10515600" cy="683873"/>
          </a:xfrm>
        </p:spPr>
        <p:txBody>
          <a:bodyPr>
            <a:normAutofit fontScale="90000"/>
          </a:bodyPr>
          <a:lstStyle/>
          <a:p>
            <a:pPr algn="ctr"/>
            <a:r>
              <a:rPr lang="en-US" dirty="0"/>
              <a:t>Final Levels of autonomy</a:t>
            </a:r>
          </a:p>
        </p:txBody>
      </p:sp>
    </p:spTree>
    <p:extLst>
      <p:ext uri="{BB962C8B-B14F-4D97-AF65-F5344CB8AC3E}">
        <p14:creationId xmlns:p14="http://schemas.microsoft.com/office/powerpoint/2010/main" val="2532411836"/>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59EFE00-CE0A-41A7-36B1-C913870C888A}"/>
              </a:ext>
            </a:extLst>
          </p:cNvPr>
          <p:cNvSpPr>
            <a:spLocks noGrp="1"/>
          </p:cNvSpPr>
          <p:nvPr>
            <p:ph type="title"/>
          </p:nvPr>
        </p:nvSpPr>
        <p:spPr>
          <a:xfrm>
            <a:off x="838200" y="18256"/>
            <a:ext cx="10515600" cy="761234"/>
          </a:xfrm>
        </p:spPr>
        <p:txBody>
          <a:bodyPr/>
          <a:lstStyle/>
          <a:p>
            <a:pPr algn="ctr"/>
            <a:r>
              <a:rPr lang="en-US" dirty="0"/>
              <a:t>Clinician Dashboard</a:t>
            </a:r>
          </a:p>
        </p:txBody>
      </p:sp>
      <p:sp>
        <p:nvSpPr>
          <p:cNvPr id="6" name="Rounded Rectangle 5">
            <a:extLst>
              <a:ext uri="{FF2B5EF4-FFF2-40B4-BE49-F238E27FC236}">
                <a16:creationId xmlns:a16="http://schemas.microsoft.com/office/drawing/2014/main" id="{F1395656-BBFF-FCC8-D79D-082CA0067FB4}"/>
              </a:ext>
            </a:extLst>
          </p:cNvPr>
          <p:cNvSpPr/>
          <p:nvPr/>
        </p:nvSpPr>
        <p:spPr>
          <a:xfrm>
            <a:off x="508416" y="1283433"/>
            <a:ext cx="1676740" cy="16138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Emergency</a:t>
            </a:r>
          </a:p>
        </p:txBody>
      </p:sp>
      <p:sp>
        <p:nvSpPr>
          <p:cNvPr id="7" name="Rounded Rectangle 6">
            <a:extLst>
              <a:ext uri="{FF2B5EF4-FFF2-40B4-BE49-F238E27FC236}">
                <a16:creationId xmlns:a16="http://schemas.microsoft.com/office/drawing/2014/main" id="{CB796908-08F4-981B-C965-44DC99E8C135}"/>
              </a:ext>
            </a:extLst>
          </p:cNvPr>
          <p:cNvSpPr/>
          <p:nvPr/>
        </p:nvSpPr>
        <p:spPr>
          <a:xfrm>
            <a:off x="2583978" y="1283430"/>
            <a:ext cx="1676740" cy="16138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Urgent</a:t>
            </a:r>
          </a:p>
          <a:p>
            <a:r>
              <a:rPr lang="en-US" dirty="0">
                <a:solidFill>
                  <a:schemeClr val="tx1"/>
                </a:solidFill>
              </a:rPr>
              <a:t>(critical lab, severe HTN, judge reject)</a:t>
            </a:r>
          </a:p>
        </p:txBody>
      </p:sp>
      <p:sp>
        <p:nvSpPr>
          <p:cNvPr id="8" name="Rounded Rectangle 7">
            <a:extLst>
              <a:ext uri="{FF2B5EF4-FFF2-40B4-BE49-F238E27FC236}">
                <a16:creationId xmlns:a16="http://schemas.microsoft.com/office/drawing/2014/main" id="{A823EE4D-3C22-C3BD-D387-BECDC659D61F}"/>
              </a:ext>
            </a:extLst>
          </p:cNvPr>
          <p:cNvSpPr/>
          <p:nvPr/>
        </p:nvSpPr>
        <p:spPr>
          <a:xfrm>
            <a:off x="4595862" y="1283430"/>
            <a:ext cx="2262053" cy="16138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Same-day</a:t>
            </a:r>
          </a:p>
          <a:p>
            <a:r>
              <a:rPr lang="en-US" dirty="0">
                <a:solidFill>
                  <a:schemeClr val="tx1"/>
                </a:solidFill>
              </a:rPr>
              <a:t>(prescription recs)</a:t>
            </a:r>
          </a:p>
        </p:txBody>
      </p:sp>
      <p:sp>
        <p:nvSpPr>
          <p:cNvPr id="9" name="Rounded Rectangle 8">
            <a:extLst>
              <a:ext uri="{FF2B5EF4-FFF2-40B4-BE49-F238E27FC236}">
                <a16:creationId xmlns:a16="http://schemas.microsoft.com/office/drawing/2014/main" id="{21A840DA-B68E-547F-C938-9615B96059B9}"/>
              </a:ext>
            </a:extLst>
          </p:cNvPr>
          <p:cNvSpPr/>
          <p:nvPr/>
        </p:nvSpPr>
        <p:spPr>
          <a:xfrm>
            <a:off x="7256737" y="1283430"/>
            <a:ext cx="2127105" cy="16138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Routine</a:t>
            </a:r>
          </a:p>
          <a:p>
            <a:pPr algn="ctr"/>
            <a:r>
              <a:rPr lang="en-US" dirty="0">
                <a:solidFill>
                  <a:schemeClr val="tx1"/>
                </a:solidFill>
              </a:rPr>
              <a:t>(monitoring gaps, adherence)</a:t>
            </a:r>
          </a:p>
        </p:txBody>
      </p:sp>
      <p:sp>
        <p:nvSpPr>
          <p:cNvPr id="11" name="Rounded Rectangle 10">
            <a:extLst>
              <a:ext uri="{FF2B5EF4-FFF2-40B4-BE49-F238E27FC236}">
                <a16:creationId xmlns:a16="http://schemas.microsoft.com/office/drawing/2014/main" id="{0B03A0E6-FE45-A680-A430-8F9CE0E204A7}"/>
              </a:ext>
            </a:extLst>
          </p:cNvPr>
          <p:cNvSpPr/>
          <p:nvPr/>
        </p:nvSpPr>
        <p:spPr>
          <a:xfrm>
            <a:off x="314793" y="779490"/>
            <a:ext cx="11527437" cy="226837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2" name="Rounded Rectangle 11">
            <a:extLst>
              <a:ext uri="{FF2B5EF4-FFF2-40B4-BE49-F238E27FC236}">
                <a16:creationId xmlns:a16="http://schemas.microsoft.com/office/drawing/2014/main" id="{DB0D3CFD-1D55-222B-5707-79F853161566}"/>
              </a:ext>
            </a:extLst>
          </p:cNvPr>
          <p:cNvSpPr/>
          <p:nvPr/>
        </p:nvSpPr>
        <p:spPr>
          <a:xfrm>
            <a:off x="9565798" y="1283430"/>
            <a:ext cx="2011884" cy="16138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Monthly</a:t>
            </a:r>
          </a:p>
          <a:p>
            <a:pPr algn="ctr"/>
            <a:r>
              <a:rPr lang="en-US" dirty="0">
                <a:solidFill>
                  <a:schemeClr val="tx1"/>
                </a:solidFill>
              </a:rPr>
              <a:t>(patient, performance summaries)</a:t>
            </a:r>
          </a:p>
        </p:txBody>
      </p:sp>
      <p:sp>
        <p:nvSpPr>
          <p:cNvPr id="13" name="TextBox 12">
            <a:extLst>
              <a:ext uri="{FF2B5EF4-FFF2-40B4-BE49-F238E27FC236}">
                <a16:creationId xmlns:a16="http://schemas.microsoft.com/office/drawing/2014/main" id="{DC848B3D-7BE3-B0D7-E315-4F2CAC18B02A}"/>
              </a:ext>
            </a:extLst>
          </p:cNvPr>
          <p:cNvSpPr txBox="1"/>
          <p:nvPr/>
        </p:nvSpPr>
        <p:spPr>
          <a:xfrm>
            <a:off x="5130425" y="837507"/>
            <a:ext cx="2499568" cy="461665"/>
          </a:xfrm>
          <a:prstGeom prst="rect">
            <a:avLst/>
          </a:prstGeom>
          <a:noFill/>
        </p:spPr>
        <p:txBody>
          <a:bodyPr wrap="square" rtlCol="0">
            <a:spAutoFit/>
          </a:bodyPr>
          <a:lstStyle/>
          <a:p>
            <a:r>
              <a:rPr lang="en-US" sz="2400" dirty="0"/>
              <a:t>Clinician Queue</a:t>
            </a:r>
          </a:p>
        </p:txBody>
      </p:sp>
      <p:sp>
        <p:nvSpPr>
          <p:cNvPr id="14" name="Rounded Rectangle 13">
            <a:extLst>
              <a:ext uri="{FF2B5EF4-FFF2-40B4-BE49-F238E27FC236}">
                <a16:creationId xmlns:a16="http://schemas.microsoft.com/office/drawing/2014/main" id="{005A5230-5601-93F5-ADDE-72BC4AB43876}"/>
              </a:ext>
            </a:extLst>
          </p:cNvPr>
          <p:cNvSpPr/>
          <p:nvPr/>
        </p:nvSpPr>
        <p:spPr>
          <a:xfrm>
            <a:off x="4595862" y="3311805"/>
            <a:ext cx="2660875" cy="154106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Clinician reviews:</a:t>
            </a:r>
          </a:p>
          <a:p>
            <a:pPr marL="285750" indent="-285750">
              <a:buFontTx/>
              <a:buChar char="-"/>
            </a:pPr>
            <a:r>
              <a:rPr lang="en-US" dirty="0">
                <a:solidFill>
                  <a:schemeClr val="tx1"/>
                </a:solidFill>
              </a:rPr>
              <a:t>Decision tree path</a:t>
            </a:r>
          </a:p>
          <a:p>
            <a:pPr marL="285750" indent="-285750">
              <a:buFontTx/>
              <a:buChar char="-"/>
            </a:pPr>
            <a:r>
              <a:rPr lang="en-US" dirty="0">
                <a:solidFill>
                  <a:schemeClr val="tx1"/>
                </a:solidFill>
              </a:rPr>
              <a:t>Safety check results</a:t>
            </a:r>
          </a:p>
          <a:p>
            <a:pPr marL="285750" indent="-285750">
              <a:buFontTx/>
              <a:buChar char="-"/>
            </a:pPr>
            <a:r>
              <a:rPr lang="en-US" dirty="0">
                <a:solidFill>
                  <a:schemeClr val="tx1"/>
                </a:solidFill>
              </a:rPr>
              <a:t>Judge verdict</a:t>
            </a:r>
          </a:p>
          <a:p>
            <a:pPr marL="285750" indent="-285750">
              <a:buFontTx/>
              <a:buChar char="-"/>
            </a:pPr>
            <a:r>
              <a:rPr lang="en-US" dirty="0">
                <a:solidFill>
                  <a:schemeClr val="tx1"/>
                </a:solidFill>
              </a:rPr>
              <a:t>Patient context</a:t>
            </a:r>
          </a:p>
        </p:txBody>
      </p:sp>
      <p:sp>
        <p:nvSpPr>
          <p:cNvPr id="15" name="Rounded Rectangle 14">
            <a:extLst>
              <a:ext uri="{FF2B5EF4-FFF2-40B4-BE49-F238E27FC236}">
                <a16:creationId xmlns:a16="http://schemas.microsoft.com/office/drawing/2014/main" id="{D1EEAA1E-81E4-BFEE-8623-52B0C47D6D2B}"/>
              </a:ext>
            </a:extLst>
          </p:cNvPr>
          <p:cNvSpPr/>
          <p:nvPr/>
        </p:nvSpPr>
        <p:spPr>
          <a:xfrm>
            <a:off x="133662" y="4973509"/>
            <a:ext cx="2850254" cy="1613817"/>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Approve</a:t>
            </a:r>
          </a:p>
          <a:p>
            <a:pPr marL="285750" indent="-285750">
              <a:buFontTx/>
              <a:buChar char="-"/>
            </a:pPr>
            <a:r>
              <a:rPr lang="en-US" dirty="0">
                <a:solidFill>
                  <a:schemeClr val="tx1"/>
                </a:solidFill>
              </a:rPr>
              <a:t>Execute rec</a:t>
            </a:r>
          </a:p>
          <a:p>
            <a:pPr marL="285750" indent="-285750">
              <a:buFontTx/>
              <a:buChar char="-"/>
            </a:pPr>
            <a:r>
              <a:rPr lang="en-US" dirty="0">
                <a:solidFill>
                  <a:schemeClr val="tx1"/>
                </a:solidFill>
              </a:rPr>
              <a:t>EHR updated</a:t>
            </a:r>
          </a:p>
          <a:p>
            <a:pPr marL="285750" indent="-285750">
              <a:buFontTx/>
              <a:buChar char="-"/>
            </a:pPr>
            <a:r>
              <a:rPr lang="en-US" dirty="0">
                <a:solidFill>
                  <a:schemeClr val="tx1"/>
                </a:solidFill>
              </a:rPr>
              <a:t>Patient notified</a:t>
            </a:r>
          </a:p>
          <a:p>
            <a:pPr marL="285750" indent="-285750">
              <a:buFontTx/>
              <a:buChar char="-"/>
            </a:pPr>
            <a:r>
              <a:rPr lang="en-US" dirty="0">
                <a:solidFill>
                  <a:schemeClr val="tx1"/>
                </a:solidFill>
              </a:rPr>
              <a:t>Follow-up scheduled</a:t>
            </a:r>
          </a:p>
        </p:txBody>
      </p:sp>
      <p:sp>
        <p:nvSpPr>
          <p:cNvPr id="16" name="Rounded Rectangle 15">
            <a:extLst>
              <a:ext uri="{FF2B5EF4-FFF2-40B4-BE49-F238E27FC236}">
                <a16:creationId xmlns:a16="http://schemas.microsoft.com/office/drawing/2014/main" id="{50B9E341-8030-7189-E3B9-EA3EDCB8EAF3}"/>
              </a:ext>
            </a:extLst>
          </p:cNvPr>
          <p:cNvSpPr/>
          <p:nvPr/>
        </p:nvSpPr>
        <p:spPr>
          <a:xfrm>
            <a:off x="3245619" y="4973509"/>
            <a:ext cx="2262053" cy="16138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Modify</a:t>
            </a:r>
          </a:p>
          <a:p>
            <a:r>
              <a:rPr lang="en-US" dirty="0">
                <a:solidFill>
                  <a:schemeClr val="tx1"/>
                </a:solidFill>
              </a:rPr>
              <a:t>- Clinician adjusts</a:t>
            </a:r>
          </a:p>
          <a:p>
            <a:r>
              <a:rPr lang="en-US" dirty="0">
                <a:solidFill>
                  <a:schemeClr val="tx1"/>
                </a:solidFill>
              </a:rPr>
              <a:t>- delta recorded</a:t>
            </a:r>
          </a:p>
        </p:txBody>
      </p:sp>
      <p:sp>
        <p:nvSpPr>
          <p:cNvPr id="17" name="Rounded Rectangle 16">
            <a:extLst>
              <a:ext uri="{FF2B5EF4-FFF2-40B4-BE49-F238E27FC236}">
                <a16:creationId xmlns:a16="http://schemas.microsoft.com/office/drawing/2014/main" id="{173E692B-5B83-32C4-982C-00FF4EFFBC56}"/>
              </a:ext>
            </a:extLst>
          </p:cNvPr>
          <p:cNvSpPr/>
          <p:nvPr/>
        </p:nvSpPr>
        <p:spPr>
          <a:xfrm>
            <a:off x="5769376" y="4973509"/>
            <a:ext cx="2262053" cy="1613817"/>
          </a:xfrm>
          <a:prstGeom prst="roundRect">
            <a:avLst/>
          </a:prstGeom>
          <a:solidFill>
            <a:srgbClr val="C00000">
              <a:alpha val="4392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Reject</a:t>
            </a:r>
          </a:p>
          <a:p>
            <a:pPr algn="ctr"/>
            <a:r>
              <a:rPr lang="en-US" dirty="0">
                <a:solidFill>
                  <a:schemeClr val="tx1"/>
                </a:solidFill>
              </a:rPr>
              <a:t>- Log reason</a:t>
            </a:r>
          </a:p>
          <a:p>
            <a:pPr algn="ctr"/>
            <a:endParaRPr lang="en-US" dirty="0">
              <a:solidFill>
                <a:schemeClr val="tx1"/>
              </a:solidFill>
            </a:endParaRPr>
          </a:p>
        </p:txBody>
      </p:sp>
      <p:sp>
        <p:nvSpPr>
          <p:cNvPr id="18" name="Rounded Rectangle 17">
            <a:extLst>
              <a:ext uri="{FF2B5EF4-FFF2-40B4-BE49-F238E27FC236}">
                <a16:creationId xmlns:a16="http://schemas.microsoft.com/office/drawing/2014/main" id="{3424ADE7-EBB3-68B3-419C-81A2A3C2500C}"/>
              </a:ext>
            </a:extLst>
          </p:cNvPr>
          <p:cNvSpPr/>
          <p:nvPr/>
        </p:nvSpPr>
        <p:spPr>
          <a:xfrm>
            <a:off x="8430251" y="4973509"/>
            <a:ext cx="3147431" cy="16138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Request info</a:t>
            </a:r>
          </a:p>
          <a:p>
            <a:pPr marL="285750" indent="-285750" algn="ctr">
              <a:buFontTx/>
              <a:buChar char="-"/>
            </a:pPr>
            <a:r>
              <a:rPr lang="en-US" dirty="0">
                <a:solidFill>
                  <a:schemeClr val="tx1"/>
                </a:solidFill>
              </a:rPr>
              <a:t>Agent gathers more data</a:t>
            </a:r>
          </a:p>
          <a:p>
            <a:pPr marL="285750" indent="-285750" algn="ctr">
              <a:buFontTx/>
              <a:buChar char="-"/>
            </a:pPr>
            <a:r>
              <a:rPr lang="en-US" dirty="0">
                <a:solidFill>
                  <a:schemeClr val="tx1"/>
                </a:solidFill>
              </a:rPr>
              <a:t>Item stays in queue</a:t>
            </a:r>
          </a:p>
          <a:p>
            <a:pPr algn="ctr"/>
            <a:endParaRPr lang="en-US" dirty="0">
              <a:solidFill>
                <a:schemeClr val="tx1"/>
              </a:solidFill>
            </a:endParaRPr>
          </a:p>
        </p:txBody>
      </p:sp>
      <p:cxnSp>
        <p:nvCxnSpPr>
          <p:cNvPr id="20" name="Straight Arrow Connector 19">
            <a:extLst>
              <a:ext uri="{FF2B5EF4-FFF2-40B4-BE49-F238E27FC236}">
                <a16:creationId xmlns:a16="http://schemas.microsoft.com/office/drawing/2014/main" id="{8D90D488-D9D3-54AA-9546-ABDAE1445F72}"/>
              </a:ext>
            </a:extLst>
          </p:cNvPr>
          <p:cNvCxnSpPr>
            <a:stCxn id="8" idx="2"/>
          </p:cNvCxnSpPr>
          <p:nvPr/>
        </p:nvCxnSpPr>
        <p:spPr>
          <a:xfrm flipH="1">
            <a:off x="5726888" y="2897247"/>
            <a:ext cx="1" cy="5317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B4ECA812-8C4A-8A15-22F3-DEECBAA57015}"/>
              </a:ext>
            </a:extLst>
          </p:cNvPr>
          <p:cNvCxnSpPr>
            <a:cxnSpLocks/>
            <a:endCxn id="15" idx="0"/>
          </p:cNvCxnSpPr>
          <p:nvPr/>
        </p:nvCxnSpPr>
        <p:spPr>
          <a:xfrm flipH="1">
            <a:off x="1558789" y="4061007"/>
            <a:ext cx="3037073" cy="9125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F367166C-72E8-5159-FF5B-10C31A76469D}"/>
              </a:ext>
            </a:extLst>
          </p:cNvPr>
          <p:cNvCxnSpPr>
            <a:cxnSpLocks/>
            <a:stCxn id="14" idx="2"/>
            <a:endCxn id="16" idx="0"/>
          </p:cNvCxnSpPr>
          <p:nvPr/>
        </p:nvCxnSpPr>
        <p:spPr>
          <a:xfrm flipH="1">
            <a:off x="4376646" y="4852869"/>
            <a:ext cx="1549654" cy="120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EB68A44-6EF8-FA46-6E41-212AD3106211}"/>
              </a:ext>
            </a:extLst>
          </p:cNvPr>
          <p:cNvCxnSpPr>
            <a:cxnSpLocks/>
            <a:stCxn id="14" idx="2"/>
            <a:endCxn id="17" idx="0"/>
          </p:cNvCxnSpPr>
          <p:nvPr/>
        </p:nvCxnSpPr>
        <p:spPr>
          <a:xfrm>
            <a:off x="5926300" y="4852869"/>
            <a:ext cx="974103" cy="120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76090102-544F-F759-96EA-A03D6D372EEF}"/>
              </a:ext>
            </a:extLst>
          </p:cNvPr>
          <p:cNvCxnSpPr>
            <a:cxnSpLocks/>
            <a:endCxn id="18" idx="0"/>
          </p:cNvCxnSpPr>
          <p:nvPr/>
        </p:nvCxnSpPr>
        <p:spPr>
          <a:xfrm>
            <a:off x="7256737" y="4061007"/>
            <a:ext cx="2747230" cy="9125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1879401"/>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0B28C49A-D42A-607C-F290-C2B68A4E0AF2}"/>
              </a:ext>
            </a:extLst>
          </p:cNvPr>
          <p:cNvGraphicFramePr>
            <a:graphicFrameLocks noGrp="1"/>
          </p:cNvGraphicFramePr>
          <p:nvPr>
            <p:extLst>
              <p:ext uri="{D42A27DB-BD31-4B8C-83A1-F6EECF244321}">
                <p14:modId xmlns:p14="http://schemas.microsoft.com/office/powerpoint/2010/main" val="768936574"/>
              </p:ext>
            </p:extLst>
          </p:nvPr>
        </p:nvGraphicFramePr>
        <p:xfrm>
          <a:off x="112295" y="694268"/>
          <a:ext cx="11730080" cy="5987279"/>
        </p:xfrm>
        <a:graphic>
          <a:graphicData uri="http://schemas.openxmlformats.org/drawingml/2006/table">
            <a:tbl>
              <a:tblPr firstRow="1" firstCol="1" bandRow="1">
                <a:tableStyleId>{5C22544A-7EE6-4342-B048-85BDC9FD1C3A}</a:tableStyleId>
              </a:tblPr>
              <a:tblGrid>
                <a:gridCol w="2115537">
                  <a:extLst>
                    <a:ext uri="{9D8B030D-6E8A-4147-A177-3AD203B41FA5}">
                      <a16:colId xmlns:a16="http://schemas.microsoft.com/office/drawing/2014/main" val="1463047394"/>
                    </a:ext>
                  </a:extLst>
                </a:gridCol>
                <a:gridCol w="2112165">
                  <a:extLst>
                    <a:ext uri="{9D8B030D-6E8A-4147-A177-3AD203B41FA5}">
                      <a16:colId xmlns:a16="http://schemas.microsoft.com/office/drawing/2014/main" val="2054804339"/>
                    </a:ext>
                  </a:extLst>
                </a:gridCol>
                <a:gridCol w="4633666">
                  <a:extLst>
                    <a:ext uri="{9D8B030D-6E8A-4147-A177-3AD203B41FA5}">
                      <a16:colId xmlns:a16="http://schemas.microsoft.com/office/drawing/2014/main" val="1091786808"/>
                    </a:ext>
                  </a:extLst>
                </a:gridCol>
                <a:gridCol w="2868712">
                  <a:extLst>
                    <a:ext uri="{9D8B030D-6E8A-4147-A177-3AD203B41FA5}">
                      <a16:colId xmlns:a16="http://schemas.microsoft.com/office/drawing/2014/main" val="4217547170"/>
                    </a:ext>
                  </a:extLst>
                </a:gridCol>
              </a:tblGrid>
              <a:tr h="487575">
                <a:tc>
                  <a:txBody>
                    <a:bodyPr/>
                    <a:lstStyle/>
                    <a:p>
                      <a:pPr marL="0" marR="0">
                        <a:buNone/>
                      </a:pPr>
                      <a:r>
                        <a:rPr lang="en-US" sz="1800">
                          <a:effectLst/>
                        </a:rPr>
                        <a:t>Care state</a:t>
                      </a:r>
                      <a:endParaRPr lang="en-US" sz="18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a:effectLst/>
                        </a:rPr>
                        <a:t>Follow-up interval</a:t>
                      </a:r>
                      <a:endParaRPr lang="en-US" sz="18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a:effectLst/>
                        </a:rPr>
                        <a:t>What happens at follow-up</a:t>
                      </a:r>
                      <a:endParaRPr lang="en-US" sz="18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a:effectLst/>
                        </a:rPr>
                        <a:t>Escalation if missed</a:t>
                      </a:r>
                      <a:endParaRPr lang="en-US" sz="18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2002044083"/>
                  </a:ext>
                </a:extLst>
              </a:tr>
              <a:tr h="1516078">
                <a:tc>
                  <a:txBody>
                    <a:bodyPr/>
                    <a:lstStyle/>
                    <a:p>
                      <a:pPr marL="0" marR="0">
                        <a:buNone/>
                      </a:pPr>
                      <a:r>
                        <a:rPr lang="en-US" sz="1800">
                          <a:effectLst/>
                        </a:rPr>
                        <a:t>AWAITING_DRUG_EFFECT</a:t>
                      </a:r>
                      <a:endParaRPr lang="en-US" sz="18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dirty="0">
                          <a:effectLst/>
                        </a:rPr>
                        <a:t>Monthly (typically 4 weeks) after therapy change</a:t>
                      </a:r>
                      <a:endParaRPr lang="en-US" sz="18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dirty="0">
                          <a:effectLst/>
                        </a:rPr>
                        <a:t>Request BP readings. Ask about side effects. Check if readings are trending toward goal. Per 2025 AHA/ACC Section 5.4 Rec 4: "follow-up at monthly intervals until control is achieved" (COR 1, B-R).</a:t>
                      </a:r>
                      <a:endParaRPr lang="en-US" sz="18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a:effectLst/>
                        </a:rPr>
                        <a:t>Proactive outreach at due date. If no response within 3 days, flag for care team.</a:t>
                      </a:r>
                      <a:endParaRPr lang="en-US" sz="18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1213320695"/>
                  </a:ext>
                </a:extLst>
              </a:tr>
              <a:tr h="1233774">
                <a:tc>
                  <a:txBody>
                    <a:bodyPr/>
                    <a:lstStyle/>
                    <a:p>
                      <a:pPr marL="0" marR="0">
                        <a:buNone/>
                      </a:pPr>
                      <a:r>
                        <a:rPr lang="en-US" sz="1800">
                          <a:effectLst/>
                        </a:rPr>
                        <a:t>AT_GOAL</a:t>
                      </a:r>
                      <a:endParaRPr lang="en-US" sz="18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a:effectLst/>
                        </a:rPr>
                        <a:t>3 months (routine)</a:t>
                      </a:r>
                      <a:endParaRPr lang="en-US" sz="18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a:effectLst/>
                        </a:rPr>
                        <a:t>Request BP check. Brief symptom screen. Confirm medication adherence. Review any new concerns.</a:t>
                      </a:r>
                      <a:endParaRPr lang="en-US" sz="18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a:effectLst/>
                        </a:rPr>
                        <a:t>Proactive outreach. If no response, try again in 1 week. After 2 attempts, flag for care team.</a:t>
                      </a:r>
                      <a:endParaRPr lang="en-US" sz="18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2799697713"/>
                  </a:ext>
                </a:extLst>
              </a:tr>
              <a:tr h="951470">
                <a:tc>
                  <a:txBody>
                    <a:bodyPr/>
                    <a:lstStyle/>
                    <a:p>
                      <a:pPr marL="0" marR="0">
                        <a:buNone/>
                      </a:pPr>
                      <a:r>
                        <a:rPr lang="en-US" sz="1800">
                          <a:effectLst/>
                        </a:rPr>
                        <a:t>LIFESTYLE_ONLY</a:t>
                      </a:r>
                      <a:endParaRPr lang="en-US" sz="18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a:effectLst/>
                        </a:rPr>
                        <a:t>3 months initially, extend to 6 months if stable</a:t>
                      </a:r>
                      <a:endParaRPr lang="en-US" sz="18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a:effectLst/>
                        </a:rPr>
                        <a:t>Request BP check. Review lifestyle progress. Re-evaluate whether medication is needed.</a:t>
                      </a:r>
                      <a:endParaRPr lang="en-US" sz="18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a:effectLst/>
                        </a:rPr>
                        <a:t>Same as AT_GOAL.</a:t>
                      </a:r>
                      <a:endParaRPr lang="en-US" sz="18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11863068"/>
                  </a:ext>
                </a:extLst>
              </a:tr>
              <a:tr h="1798382">
                <a:tc>
                  <a:txBody>
                    <a:bodyPr/>
                    <a:lstStyle/>
                    <a:p>
                      <a:pPr marL="0" marR="0">
                        <a:buNone/>
                      </a:pPr>
                      <a:r>
                        <a:rPr lang="en-US" sz="1800">
                          <a:effectLst/>
                        </a:rPr>
                        <a:t>CONFIRMING_UNCONTROL</a:t>
                      </a:r>
                      <a:endParaRPr lang="en-US" sz="18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a:effectLst/>
                        </a:rPr>
                        <a:t>4-10 days (HBPM protocol)</a:t>
                      </a:r>
                      <a:endParaRPr lang="en-US" sz="18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dirty="0">
                          <a:effectLst/>
                        </a:rPr>
                        <a:t>Collect ≥12 home readings over ≥3 days (first day discarded). Administer adherence screener. Cross-reference pharmacy fills. Orthostatic screen if high-risk. Day 3 and 7 reminders if insufficient readings. Day 10 timeout → clinician flag + ABPM referral.</a:t>
                      </a:r>
                      <a:endParaRPr lang="en-US" sz="18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1800" dirty="0">
                          <a:effectLst/>
                        </a:rPr>
                        <a:t>Important — uncontrolled BP should not sit unaddressed. Flag for care team after Day 10 timeout.</a:t>
                      </a:r>
                      <a:endParaRPr lang="en-US" sz="18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1490524554"/>
                  </a:ext>
                </a:extLst>
              </a:tr>
            </a:tbl>
          </a:graphicData>
        </a:graphic>
      </p:graphicFrame>
      <p:sp>
        <p:nvSpPr>
          <p:cNvPr id="8" name="Title 1">
            <a:extLst>
              <a:ext uri="{FF2B5EF4-FFF2-40B4-BE49-F238E27FC236}">
                <a16:creationId xmlns:a16="http://schemas.microsoft.com/office/drawing/2014/main" id="{028DD50F-C9FF-414E-65B3-CBE569CDAA5C}"/>
              </a:ext>
            </a:extLst>
          </p:cNvPr>
          <p:cNvSpPr>
            <a:spLocks noGrp="1"/>
          </p:cNvSpPr>
          <p:nvPr>
            <p:ph type="title"/>
          </p:nvPr>
        </p:nvSpPr>
        <p:spPr>
          <a:xfrm>
            <a:off x="838200" y="36733"/>
            <a:ext cx="10515600" cy="398944"/>
          </a:xfrm>
        </p:spPr>
        <p:txBody>
          <a:bodyPr>
            <a:normAutofit fontScale="90000"/>
          </a:bodyPr>
          <a:lstStyle/>
          <a:p>
            <a:pPr algn="ctr"/>
            <a:r>
              <a:rPr lang="en-US" dirty="0"/>
              <a:t>Follow-up based on care state (sample)</a:t>
            </a:r>
          </a:p>
        </p:txBody>
      </p:sp>
    </p:spTree>
    <p:extLst>
      <p:ext uri="{BB962C8B-B14F-4D97-AF65-F5344CB8AC3E}">
        <p14:creationId xmlns:p14="http://schemas.microsoft.com/office/powerpoint/2010/main" val="396781523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EE98A12-D437-E3AE-D757-2E02D1A159B2}"/>
              </a:ext>
            </a:extLst>
          </p:cNvPr>
          <p:cNvSpPr>
            <a:spLocks noGrp="1"/>
          </p:cNvSpPr>
          <p:nvPr>
            <p:ph type="title"/>
          </p:nvPr>
        </p:nvSpPr>
        <p:spPr>
          <a:xfrm>
            <a:off x="838200" y="108449"/>
            <a:ext cx="10515600" cy="398944"/>
          </a:xfrm>
        </p:spPr>
        <p:txBody>
          <a:bodyPr>
            <a:noAutofit/>
          </a:bodyPr>
          <a:lstStyle/>
          <a:p>
            <a:pPr algn="ctr"/>
            <a:r>
              <a:rPr lang="en-US" sz="3200" dirty="0"/>
              <a:t>Lab Monitoring Follow-Up</a:t>
            </a:r>
          </a:p>
        </p:txBody>
      </p:sp>
      <p:sp>
        <p:nvSpPr>
          <p:cNvPr id="6" name="TextBox 5">
            <a:extLst>
              <a:ext uri="{FF2B5EF4-FFF2-40B4-BE49-F238E27FC236}">
                <a16:creationId xmlns:a16="http://schemas.microsoft.com/office/drawing/2014/main" id="{EE39A21E-73B5-61F4-9DC4-5E1AB6796264}"/>
              </a:ext>
            </a:extLst>
          </p:cNvPr>
          <p:cNvSpPr txBox="1"/>
          <p:nvPr/>
        </p:nvSpPr>
        <p:spPr>
          <a:xfrm>
            <a:off x="183777" y="113818"/>
            <a:ext cx="11775141" cy="1200329"/>
          </a:xfrm>
          <a:prstGeom prst="rect">
            <a:avLst/>
          </a:prstGeom>
          <a:noFill/>
        </p:spPr>
        <p:txBody>
          <a:bodyPr wrap="square" rtlCol="0">
            <a:spAutoFit/>
          </a:bodyPr>
          <a:lstStyle/>
          <a:p>
            <a:r>
              <a:rPr lang="en-US" sz="2400" dirty="0"/>
              <a:t>Two types:</a:t>
            </a:r>
          </a:p>
          <a:p>
            <a:pPr marL="285750" indent="-285750">
              <a:buFontTx/>
              <a:buChar char="-"/>
            </a:pPr>
            <a:r>
              <a:rPr lang="en-US" sz="2400" dirty="0"/>
              <a:t>1) Event based gaps (e.g. by medication start, dose increase)</a:t>
            </a:r>
          </a:p>
          <a:p>
            <a:pPr marL="285750" indent="-285750">
              <a:buFontTx/>
              <a:buChar char="-"/>
            </a:pPr>
            <a:r>
              <a:rPr lang="en-US" sz="2400" dirty="0"/>
              <a:t>2) Interval-based gaps</a:t>
            </a:r>
          </a:p>
        </p:txBody>
      </p:sp>
      <p:graphicFrame>
        <p:nvGraphicFramePr>
          <p:cNvPr id="8" name="Table 7">
            <a:extLst>
              <a:ext uri="{FF2B5EF4-FFF2-40B4-BE49-F238E27FC236}">
                <a16:creationId xmlns:a16="http://schemas.microsoft.com/office/drawing/2014/main" id="{BFD5A29E-A02B-3C56-11FC-6A265B3C93AC}"/>
              </a:ext>
            </a:extLst>
          </p:cNvPr>
          <p:cNvGraphicFramePr>
            <a:graphicFrameLocks noGrp="1"/>
          </p:cNvGraphicFramePr>
          <p:nvPr>
            <p:extLst>
              <p:ext uri="{D42A27DB-BD31-4B8C-83A1-F6EECF244321}">
                <p14:modId xmlns:p14="http://schemas.microsoft.com/office/powerpoint/2010/main" val="3677737711"/>
              </p:ext>
            </p:extLst>
          </p:nvPr>
        </p:nvGraphicFramePr>
        <p:xfrm>
          <a:off x="0" y="1233815"/>
          <a:ext cx="12191999" cy="5510367"/>
        </p:xfrm>
        <a:graphic>
          <a:graphicData uri="http://schemas.openxmlformats.org/drawingml/2006/table">
            <a:tbl>
              <a:tblPr firstRow="1" firstCol="1" bandRow="1">
                <a:tableStyleId>{5C22544A-7EE6-4342-B048-85BDC9FD1C3A}</a:tableStyleId>
              </a:tblPr>
              <a:tblGrid>
                <a:gridCol w="2474259">
                  <a:extLst>
                    <a:ext uri="{9D8B030D-6E8A-4147-A177-3AD203B41FA5}">
                      <a16:colId xmlns:a16="http://schemas.microsoft.com/office/drawing/2014/main" val="1906905715"/>
                    </a:ext>
                  </a:extLst>
                </a:gridCol>
                <a:gridCol w="1595717">
                  <a:extLst>
                    <a:ext uri="{9D8B030D-6E8A-4147-A177-3AD203B41FA5}">
                      <a16:colId xmlns:a16="http://schemas.microsoft.com/office/drawing/2014/main" val="2188565931"/>
                    </a:ext>
                  </a:extLst>
                </a:gridCol>
                <a:gridCol w="2896136">
                  <a:extLst>
                    <a:ext uri="{9D8B030D-6E8A-4147-A177-3AD203B41FA5}">
                      <a16:colId xmlns:a16="http://schemas.microsoft.com/office/drawing/2014/main" val="1279014233"/>
                    </a:ext>
                  </a:extLst>
                </a:gridCol>
                <a:gridCol w="5225887">
                  <a:extLst>
                    <a:ext uri="{9D8B030D-6E8A-4147-A177-3AD203B41FA5}">
                      <a16:colId xmlns:a16="http://schemas.microsoft.com/office/drawing/2014/main" val="2849368377"/>
                    </a:ext>
                  </a:extLst>
                </a:gridCol>
              </a:tblGrid>
              <a:tr h="832555">
                <a:tc>
                  <a:txBody>
                    <a:bodyPr/>
                    <a:lstStyle/>
                    <a:p>
                      <a:pPr marL="0" marR="0">
                        <a:buNone/>
                      </a:pPr>
                      <a:r>
                        <a:rPr lang="en-US" sz="2000">
                          <a:effectLst/>
                        </a:rPr>
                        <a:t>Trigger</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Labs to order</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dirty="0">
                          <a:effectLst/>
                        </a:rPr>
                        <a:t>When</a:t>
                      </a:r>
                      <a:endParaRPr lang="en-US" sz="20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dirty="0">
                          <a:effectLst/>
                        </a:rPr>
                        <a:t>Follow-up</a:t>
                      </a:r>
                      <a:endParaRPr lang="en-US" sz="20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1324890622"/>
                  </a:ext>
                </a:extLst>
              </a:tr>
              <a:tr h="2021042">
                <a:tc>
                  <a:txBody>
                    <a:bodyPr/>
                    <a:lstStyle/>
                    <a:p>
                      <a:pPr marL="0" marR="0">
                        <a:buNone/>
                      </a:pPr>
                      <a:r>
                        <a:rPr lang="en-US" sz="2000" dirty="0">
                          <a:effectLst/>
                        </a:rPr>
                        <a:t>New </a:t>
                      </a:r>
                      <a:r>
                        <a:rPr lang="en-US" sz="2000" dirty="0" err="1">
                          <a:effectLst/>
                        </a:rPr>
                        <a:t>ACEi</a:t>
                      </a:r>
                      <a:r>
                        <a:rPr lang="en-US" sz="2000" dirty="0">
                          <a:effectLst/>
                        </a:rPr>
                        <a:t>/ARB/MRA started or dose increased</a:t>
                      </a:r>
                      <a:endParaRPr lang="en-US" sz="20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dirty="0">
                          <a:effectLst/>
                        </a:rPr>
                        <a:t>K+, Creatinine, eGFR</a:t>
                      </a:r>
                      <a:endParaRPr lang="en-US" sz="20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Baseline (if not recent) + 2-4 weeks post-change (2025 AHA/ACC Section 5.2.8)</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dirty="0">
                          <a:effectLst/>
                        </a:rPr>
                        <a:t>Review results when available. Critical value → immediate action. Only a persistent eGFR decline &gt;30% warrants nephrology referral (Section 5.2.9).</a:t>
                      </a:r>
                      <a:endParaRPr lang="en-US" sz="20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2808767871"/>
                  </a:ext>
                </a:extLst>
              </a:tr>
              <a:tr h="1177062">
                <a:tc>
                  <a:txBody>
                    <a:bodyPr/>
                    <a:lstStyle/>
                    <a:p>
                      <a:pPr marL="0" marR="0">
                        <a:buNone/>
                      </a:pPr>
                      <a:r>
                        <a:rPr lang="en-US" sz="2000">
                          <a:effectLst/>
                        </a:rPr>
                        <a:t>New diuretic started or dose increased</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K+, Na+, Creatinine</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Baseline + 2-4 weeks post-change (2025 AHA/ACC Section 5.2.8)</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Same as above. Watch for hypokalemia (thiazide/loop) and hyponatremia (thiazide).</a:t>
                      </a:r>
                      <a:endParaRPr lang="en-US" sz="200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2450398958"/>
                  </a:ext>
                </a:extLst>
              </a:tr>
              <a:tr h="1479708">
                <a:tc>
                  <a:txBody>
                    <a:bodyPr/>
                    <a:lstStyle/>
                    <a:p>
                      <a:pPr marL="0" marR="0">
                        <a:buNone/>
                      </a:pPr>
                      <a:r>
                        <a:rPr lang="en-US" sz="2000" dirty="0">
                          <a:effectLst/>
                        </a:rPr>
                        <a:t>Routine monitoring (</a:t>
                      </a:r>
                      <a:r>
                        <a:rPr lang="en-US" sz="2000" dirty="0" err="1">
                          <a:effectLst/>
                        </a:rPr>
                        <a:t>ACEi</a:t>
                      </a:r>
                      <a:r>
                        <a:rPr lang="en-US" sz="2000" dirty="0">
                          <a:effectLst/>
                        </a:rPr>
                        <a:t>/ARB/diuretic)</a:t>
                      </a:r>
                      <a:endParaRPr lang="en-US" sz="20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a:effectLst/>
                        </a:rPr>
                        <a:t>K+, Creatinine, eGFR</a:t>
                      </a:r>
                      <a:endParaRPr lang="en-US" sz="200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dirty="0">
                          <a:effectLst/>
                        </a:rPr>
                        <a:t>Every 6 months</a:t>
                      </a:r>
                      <a:endParaRPr lang="en-US" sz="2000" dirty="0">
                        <a:effectLst/>
                        <a:latin typeface="Times New Roman" panose="02020603050405020304" pitchFamily="18" charset="0"/>
                        <a:ea typeface="Times New Roman" panose="02020603050405020304" pitchFamily="18" charset="0"/>
                      </a:endParaRPr>
                    </a:p>
                  </a:txBody>
                  <a:tcPr marL="76200" marR="76200" marT="50800" marB="50800"/>
                </a:tc>
                <a:tc>
                  <a:txBody>
                    <a:bodyPr/>
                    <a:lstStyle/>
                    <a:p>
                      <a:pPr marL="0" marR="0">
                        <a:buNone/>
                      </a:pPr>
                      <a:r>
                        <a:rPr lang="en-US" sz="2000" dirty="0">
                          <a:effectLst/>
                        </a:rPr>
                        <a:t>Flag as monitoring gap if overdue (Section 14).</a:t>
                      </a:r>
                      <a:endParaRPr lang="en-US" sz="2000" dirty="0">
                        <a:effectLst/>
                        <a:latin typeface="Times New Roman" panose="02020603050405020304" pitchFamily="18" charset="0"/>
                        <a:ea typeface="Times New Roman" panose="02020603050405020304" pitchFamily="18" charset="0"/>
                      </a:endParaRPr>
                    </a:p>
                  </a:txBody>
                  <a:tcPr marL="76200" marR="76200" marT="50800" marB="50800"/>
                </a:tc>
                <a:extLst>
                  <a:ext uri="{0D108BD9-81ED-4DB2-BD59-A6C34878D82A}">
                    <a16:rowId xmlns:a16="http://schemas.microsoft.com/office/drawing/2014/main" val="2025164588"/>
                  </a:ext>
                </a:extLst>
              </a:tr>
            </a:tbl>
          </a:graphicData>
        </a:graphic>
      </p:graphicFrame>
    </p:spTree>
    <p:extLst>
      <p:ext uri="{BB962C8B-B14F-4D97-AF65-F5344CB8AC3E}">
        <p14:creationId xmlns:p14="http://schemas.microsoft.com/office/powerpoint/2010/main" val="1201097713"/>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F1FFA-B61F-3E23-68BA-7F8840A75527}"/>
              </a:ext>
            </a:extLst>
          </p:cNvPr>
          <p:cNvSpPr>
            <a:spLocks noGrp="1"/>
          </p:cNvSpPr>
          <p:nvPr>
            <p:ph type="title"/>
          </p:nvPr>
        </p:nvSpPr>
        <p:spPr>
          <a:xfrm>
            <a:off x="838200" y="-60940"/>
            <a:ext cx="10515600" cy="505030"/>
          </a:xfrm>
        </p:spPr>
        <p:txBody>
          <a:bodyPr>
            <a:noAutofit/>
          </a:bodyPr>
          <a:lstStyle/>
          <a:p>
            <a:pPr algn="ctr"/>
            <a:r>
              <a:rPr lang="en-US" sz="3200" dirty="0"/>
              <a:t>Feedback and Improvement</a:t>
            </a:r>
          </a:p>
        </p:txBody>
      </p:sp>
      <p:sp>
        <p:nvSpPr>
          <p:cNvPr id="5" name="TextBox 4">
            <a:extLst>
              <a:ext uri="{FF2B5EF4-FFF2-40B4-BE49-F238E27FC236}">
                <a16:creationId xmlns:a16="http://schemas.microsoft.com/office/drawing/2014/main" id="{D8D3A58A-ACE9-A4A1-A416-2E77AC5218E1}"/>
              </a:ext>
            </a:extLst>
          </p:cNvPr>
          <p:cNvSpPr txBox="1"/>
          <p:nvPr/>
        </p:nvSpPr>
        <p:spPr>
          <a:xfrm>
            <a:off x="0" y="422015"/>
            <a:ext cx="12192000" cy="8494633"/>
          </a:xfrm>
          <a:prstGeom prst="rect">
            <a:avLst/>
          </a:prstGeom>
          <a:noFill/>
        </p:spPr>
        <p:txBody>
          <a:bodyPr wrap="square" numCol="2" rtlCol="0">
            <a:spAutoFit/>
          </a:bodyPr>
          <a:lstStyle/>
          <a:p>
            <a:r>
              <a:rPr lang="en-US" sz="2100" b="1" dirty="0"/>
              <a:t>Recommendation Outcomes</a:t>
            </a:r>
          </a:p>
          <a:p>
            <a:pPr marL="285750" indent="-285750">
              <a:buFont typeface="Arial" panose="020B0604020202020204" pitchFamily="34" charset="0"/>
              <a:buChar char="•"/>
            </a:pPr>
            <a:r>
              <a:rPr lang="en-US" sz="2100" dirty="0"/>
              <a:t>% of patients at goal within 8 weeks of an executed recommendation</a:t>
            </a:r>
          </a:p>
          <a:p>
            <a:pPr marL="285750" indent="-285750">
              <a:buFont typeface="Arial" panose="020B0604020202020204" pitchFamily="34" charset="0"/>
              <a:buChar char="•"/>
            </a:pPr>
            <a:r>
              <a:rPr lang="en-US" sz="2100" dirty="0"/>
              <a:t>% of patients reporting a new side effect within 4 weeks of a therapy change  </a:t>
            </a:r>
          </a:p>
          <a:p>
            <a:pPr marL="285750" indent="-285750">
              <a:buFont typeface="Arial" panose="020B0604020202020204" pitchFamily="34" charset="0"/>
              <a:buChar char="•"/>
            </a:pPr>
            <a:r>
              <a:rPr lang="en-US" sz="2100" dirty="0"/>
              <a:t>Clinician approval, modification, and rejection rates</a:t>
            </a:r>
          </a:p>
          <a:p>
            <a:endParaRPr lang="en-US" sz="2100" b="1" dirty="0"/>
          </a:p>
          <a:p>
            <a:r>
              <a:rPr lang="en-US" sz="2100" b="1" dirty="0"/>
              <a:t>Decision Coverage</a:t>
            </a:r>
            <a:r>
              <a:rPr lang="en-US" sz="2100" dirty="0"/>
              <a:t> </a:t>
            </a:r>
          </a:p>
          <a:p>
            <a:pPr marL="285750" indent="-285750">
              <a:buFont typeface="Arial" panose="020B0604020202020204" pitchFamily="34" charset="0"/>
              <a:buChar char="•"/>
            </a:pPr>
            <a:r>
              <a:rPr lang="en-US" sz="2100" dirty="0"/>
              <a:t>% of decisions resolved by decision tree traversal</a:t>
            </a:r>
          </a:p>
          <a:p>
            <a:pPr marL="285750" indent="-285750">
              <a:buFont typeface="Arial" panose="020B0604020202020204" pitchFamily="34" charset="0"/>
              <a:buChar char="•"/>
            </a:pPr>
            <a:r>
              <a:rPr lang="en-US" sz="2100" dirty="0"/>
              <a:t>% of decisions requiring RAG (which nodes are most blocking?)</a:t>
            </a:r>
            <a:br>
              <a:rPr lang="en-US" sz="2100" dirty="0"/>
            </a:br>
            <a:r>
              <a:rPr lang="en-US" sz="2100" dirty="0"/>
              <a:t>% of decisions escalated to clinician without recommendation</a:t>
            </a:r>
          </a:p>
          <a:p>
            <a:r>
              <a:rPr lang="en-US" sz="2100" dirty="0"/>
              <a:t> </a:t>
            </a:r>
          </a:p>
          <a:p>
            <a:r>
              <a:rPr lang="en-US" sz="2100" b="1" dirty="0"/>
              <a:t>Safety Signals</a:t>
            </a:r>
            <a:endParaRPr lang="en-US" sz="2100" dirty="0"/>
          </a:p>
          <a:p>
            <a:pPr marL="285750" indent="-285750">
              <a:buFont typeface="Arial" panose="020B0604020202020204" pitchFamily="34" charset="0"/>
              <a:buChar char="•"/>
            </a:pPr>
            <a:r>
              <a:rPr lang="en-US" sz="2100" dirty="0"/>
              <a:t>Rate of side effects / abnormal labs / judge overrides / clinician rejections</a:t>
            </a:r>
          </a:p>
          <a:p>
            <a:r>
              <a:rPr lang="en-US" sz="2100" b="1" dirty="0"/>
              <a:t>Judge Calibration</a:t>
            </a:r>
          </a:p>
          <a:p>
            <a:pPr marL="285750" indent="-285750">
              <a:buFont typeface="Arial" panose="020B0604020202020204" pitchFamily="34" charset="0"/>
              <a:buChar char="•"/>
            </a:pPr>
            <a:r>
              <a:rPr lang="en-US" sz="2100" dirty="0"/>
              <a:t>Agreement matrix vs clinician</a:t>
            </a:r>
          </a:p>
          <a:p>
            <a:endParaRPr lang="en-US" sz="2100" dirty="0"/>
          </a:p>
          <a:p>
            <a:endParaRPr lang="en-US" sz="2100" b="1" dirty="0"/>
          </a:p>
          <a:p>
            <a:endParaRPr lang="en-US" sz="2100" b="1" dirty="0"/>
          </a:p>
          <a:p>
            <a:endParaRPr lang="en-US" sz="2100" b="1" dirty="0"/>
          </a:p>
          <a:p>
            <a:endParaRPr lang="en-US" sz="2100" b="1" dirty="0"/>
          </a:p>
          <a:p>
            <a:endParaRPr lang="en-US" sz="2100" b="1" dirty="0"/>
          </a:p>
          <a:p>
            <a:r>
              <a:rPr lang="en-US" sz="2100" b="1" dirty="0"/>
              <a:t>RAG Quality</a:t>
            </a:r>
          </a:p>
          <a:p>
            <a:pPr marL="285750" indent="-285750">
              <a:buFont typeface="Arial" panose="020B0604020202020204" pitchFamily="34" charset="0"/>
              <a:buChar char="•"/>
            </a:pPr>
            <a:r>
              <a:rPr lang="en-US" sz="2100" dirty="0"/>
              <a:t>Citation verification pass rate</a:t>
            </a:r>
          </a:p>
          <a:p>
            <a:pPr marL="285750" indent="-285750">
              <a:buFont typeface="Arial" panose="020B0604020202020204" pitchFamily="34" charset="0"/>
              <a:buChar char="•"/>
            </a:pPr>
            <a:r>
              <a:rPr lang="en-US" sz="2100" dirty="0"/>
              <a:t>Zero-citation recommendation rate</a:t>
            </a:r>
          </a:p>
          <a:p>
            <a:endParaRPr lang="en-US" sz="2100" b="1" dirty="0"/>
          </a:p>
          <a:p>
            <a:r>
              <a:rPr lang="en-US" sz="2100" b="1" dirty="0"/>
              <a:t>Patient Engagement</a:t>
            </a:r>
          </a:p>
          <a:p>
            <a:pPr marL="285750" indent="-285750">
              <a:buFont typeface="Arial" panose="020B0604020202020204" pitchFamily="34" charset="0"/>
              <a:buChar char="•"/>
            </a:pPr>
            <a:r>
              <a:rPr lang="en-US" sz="2100" dirty="0"/>
              <a:t>Outreach messages that resulted in a BP reading within 7 days  </a:t>
            </a:r>
          </a:p>
          <a:p>
            <a:pPr marL="285750" indent="-285750">
              <a:buFont typeface="Arial" panose="020B0604020202020204" pitchFamily="34" charset="0"/>
              <a:buChar char="•"/>
            </a:pPr>
            <a:r>
              <a:rPr lang="en-US" sz="2100" dirty="0"/>
              <a:t>Total agent messages THERAPY_ADJUSTMENT to AT_GOAL</a:t>
            </a:r>
          </a:p>
          <a:p>
            <a:pPr marL="285750" indent="-285750">
              <a:buFont typeface="Arial" panose="020B0604020202020204" pitchFamily="34" charset="0"/>
              <a:buChar char="•"/>
            </a:pPr>
            <a:endParaRPr lang="en-US" sz="2100" dirty="0"/>
          </a:p>
          <a:p>
            <a:r>
              <a:rPr lang="en-US" sz="2100" b="1" dirty="0"/>
              <a:t>Patients Like Me</a:t>
            </a:r>
          </a:p>
          <a:p>
            <a:pPr marL="285750" indent="-285750">
              <a:buFont typeface="Arial" panose="020B0604020202020204" pitchFamily="34" charset="0"/>
              <a:buChar char="•"/>
            </a:pPr>
            <a:r>
              <a:rPr lang="en-US" sz="2100" dirty="0"/>
              <a:t>Once we have sufficient number of patients, build models to predict which patients may do better on particular meds/combos/dosages than others</a:t>
            </a:r>
            <a:endParaRPr lang="en-US" sz="2100" b="1" dirty="0"/>
          </a:p>
        </p:txBody>
      </p:sp>
    </p:spTree>
    <p:extLst>
      <p:ext uri="{BB962C8B-B14F-4D97-AF65-F5344CB8AC3E}">
        <p14:creationId xmlns:p14="http://schemas.microsoft.com/office/powerpoint/2010/main" val="3117886563"/>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F863B91-3B35-308B-966C-B36BEA7FE093}"/>
              </a:ext>
            </a:extLst>
          </p:cNvPr>
          <p:cNvSpPr/>
          <p:nvPr/>
        </p:nvSpPr>
        <p:spPr>
          <a:xfrm>
            <a:off x="3517045" y="1719962"/>
            <a:ext cx="8332833" cy="2743059"/>
          </a:xfrm>
          <a:prstGeom prst="rect">
            <a:avLst/>
          </a:prstGeom>
          <a:solidFill>
            <a:srgbClr val="FAFFE2"/>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lgn="ctr"/>
            <a:r>
              <a:rPr lang="en-US" sz="1200" dirty="0">
                <a:solidFill>
                  <a:schemeClr val="tx1"/>
                </a:solidFill>
              </a:rPr>
              <a:t>Core Roles</a:t>
            </a:r>
          </a:p>
        </p:txBody>
      </p:sp>
      <p:sp>
        <p:nvSpPr>
          <p:cNvPr id="12" name="Rectangle 11">
            <a:extLst>
              <a:ext uri="{FF2B5EF4-FFF2-40B4-BE49-F238E27FC236}">
                <a16:creationId xmlns:a16="http://schemas.microsoft.com/office/drawing/2014/main" id="{116C5E98-BD4E-9494-69DC-1EF6293C674E}"/>
              </a:ext>
            </a:extLst>
          </p:cNvPr>
          <p:cNvSpPr/>
          <p:nvPr/>
        </p:nvSpPr>
        <p:spPr>
          <a:xfrm>
            <a:off x="1509341" y="1207814"/>
            <a:ext cx="1733214" cy="4461856"/>
          </a:xfrm>
          <a:prstGeom prst="rect">
            <a:avLst/>
          </a:prstGeom>
          <a:solidFill>
            <a:srgbClr val="FAFFE2"/>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lgn="ctr"/>
            <a:r>
              <a:rPr lang="en-US" sz="1200" dirty="0">
                <a:solidFill>
                  <a:schemeClr val="tx1"/>
                </a:solidFill>
              </a:rPr>
              <a:t>Pre-processing</a:t>
            </a:r>
          </a:p>
        </p:txBody>
      </p:sp>
      <p:sp>
        <p:nvSpPr>
          <p:cNvPr id="8" name="Rectangle 7">
            <a:extLst>
              <a:ext uri="{FF2B5EF4-FFF2-40B4-BE49-F238E27FC236}">
                <a16:creationId xmlns:a16="http://schemas.microsoft.com/office/drawing/2014/main" id="{4D85CEFB-2CAE-0F09-D169-656CAEE9BF4B}"/>
              </a:ext>
            </a:extLst>
          </p:cNvPr>
          <p:cNvSpPr/>
          <p:nvPr/>
        </p:nvSpPr>
        <p:spPr>
          <a:xfrm>
            <a:off x="157655" y="3460743"/>
            <a:ext cx="1082565" cy="659525"/>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Patient Message</a:t>
            </a:r>
          </a:p>
        </p:txBody>
      </p:sp>
      <p:sp>
        <p:nvSpPr>
          <p:cNvPr id="9" name="Rectangle 8">
            <a:extLst>
              <a:ext uri="{FF2B5EF4-FFF2-40B4-BE49-F238E27FC236}">
                <a16:creationId xmlns:a16="http://schemas.microsoft.com/office/drawing/2014/main" id="{B7869B1B-DDE9-A01B-FD0E-06D168AFC513}"/>
              </a:ext>
            </a:extLst>
          </p:cNvPr>
          <p:cNvSpPr/>
          <p:nvPr/>
        </p:nvSpPr>
        <p:spPr>
          <a:xfrm>
            <a:off x="1660635" y="3460743"/>
            <a:ext cx="1430627" cy="659525"/>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GPT-4o-mini</a:t>
            </a:r>
          </a:p>
          <a:p>
            <a:pPr algn="ctr"/>
            <a:r>
              <a:rPr lang="en-US" sz="1200" dirty="0">
                <a:solidFill>
                  <a:schemeClr val="tx1"/>
                </a:solidFill>
              </a:rPr>
              <a:t>Scope Classifier ($0.001/call)</a:t>
            </a:r>
          </a:p>
        </p:txBody>
      </p:sp>
      <p:cxnSp>
        <p:nvCxnSpPr>
          <p:cNvPr id="11" name="Straight Arrow Connector 10">
            <a:extLst>
              <a:ext uri="{FF2B5EF4-FFF2-40B4-BE49-F238E27FC236}">
                <a16:creationId xmlns:a16="http://schemas.microsoft.com/office/drawing/2014/main" id="{70D6BF1D-086A-AC5B-7ECE-4C3B2483EAA3}"/>
              </a:ext>
            </a:extLst>
          </p:cNvPr>
          <p:cNvCxnSpPr>
            <a:stCxn id="8" idx="3"/>
          </p:cNvCxnSpPr>
          <p:nvPr/>
        </p:nvCxnSpPr>
        <p:spPr>
          <a:xfrm>
            <a:off x="1240220" y="3790506"/>
            <a:ext cx="393901" cy="1"/>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B260A3E7-A95A-6F1F-B8B9-2765CEA7E36F}"/>
              </a:ext>
            </a:extLst>
          </p:cNvPr>
          <p:cNvSpPr/>
          <p:nvPr/>
        </p:nvSpPr>
        <p:spPr>
          <a:xfrm>
            <a:off x="3793068" y="1911339"/>
            <a:ext cx="1430627" cy="735285"/>
          </a:xfrm>
          <a:prstGeom prst="rect">
            <a:avLst/>
          </a:prstGeom>
          <a:solidFill>
            <a:schemeClr val="accent6">
              <a:lumMod val="60000"/>
              <a:lumOff val="4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GPT-4o</a:t>
            </a:r>
          </a:p>
          <a:p>
            <a:pPr algn="ctr"/>
            <a:r>
              <a:rPr lang="en-US" sz="1200" dirty="0">
                <a:solidFill>
                  <a:schemeClr val="tx1"/>
                </a:solidFill>
              </a:rPr>
              <a:t>Conversational Agent ($0.02/call)</a:t>
            </a:r>
          </a:p>
        </p:txBody>
      </p:sp>
      <p:sp>
        <p:nvSpPr>
          <p:cNvPr id="14" name="Rectangle 13">
            <a:extLst>
              <a:ext uri="{FF2B5EF4-FFF2-40B4-BE49-F238E27FC236}">
                <a16:creationId xmlns:a16="http://schemas.microsoft.com/office/drawing/2014/main" id="{175E3F1E-30BF-7B26-F172-06D354FEFBC4}"/>
              </a:ext>
            </a:extLst>
          </p:cNvPr>
          <p:cNvSpPr/>
          <p:nvPr/>
        </p:nvSpPr>
        <p:spPr>
          <a:xfrm>
            <a:off x="3793068" y="5010144"/>
            <a:ext cx="1430627" cy="659525"/>
          </a:xfrm>
          <a:prstGeom prst="rect">
            <a:avLst/>
          </a:prstGeom>
          <a:solidFill>
            <a:srgbClr val="FFC00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Scope</a:t>
            </a:r>
            <a:br>
              <a:rPr lang="en-US" sz="1200" dirty="0">
                <a:solidFill>
                  <a:schemeClr val="tx1"/>
                </a:solidFill>
              </a:rPr>
            </a:br>
            <a:r>
              <a:rPr lang="en-US" sz="1200" dirty="0">
                <a:solidFill>
                  <a:schemeClr val="tx1"/>
                </a:solidFill>
              </a:rPr>
              <a:t>Redirect</a:t>
            </a:r>
          </a:p>
        </p:txBody>
      </p:sp>
      <p:cxnSp>
        <p:nvCxnSpPr>
          <p:cNvPr id="16" name="Curved Connector 15">
            <a:extLst>
              <a:ext uri="{FF2B5EF4-FFF2-40B4-BE49-F238E27FC236}">
                <a16:creationId xmlns:a16="http://schemas.microsoft.com/office/drawing/2014/main" id="{4489B32A-B39F-5565-C4CA-9A57FB8EDB12}"/>
              </a:ext>
            </a:extLst>
          </p:cNvPr>
          <p:cNvCxnSpPr>
            <a:stCxn id="9" idx="2"/>
          </p:cNvCxnSpPr>
          <p:nvPr/>
        </p:nvCxnSpPr>
        <p:spPr>
          <a:xfrm rot="16200000" flipH="1">
            <a:off x="2474689" y="4021528"/>
            <a:ext cx="1219639" cy="1417118"/>
          </a:xfrm>
          <a:prstGeom prst="curvedConnector2">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urved Connector 16">
            <a:extLst>
              <a:ext uri="{FF2B5EF4-FFF2-40B4-BE49-F238E27FC236}">
                <a16:creationId xmlns:a16="http://schemas.microsoft.com/office/drawing/2014/main" id="{41ECCAA5-EE43-4E63-49F5-C50778A9C679}"/>
              </a:ext>
            </a:extLst>
          </p:cNvPr>
          <p:cNvCxnSpPr>
            <a:cxnSpLocks/>
          </p:cNvCxnSpPr>
          <p:nvPr/>
        </p:nvCxnSpPr>
        <p:spPr>
          <a:xfrm rot="5400000" flipH="1" flipV="1">
            <a:off x="2474691" y="2142364"/>
            <a:ext cx="1219639" cy="1417118"/>
          </a:xfrm>
          <a:prstGeom prst="curvedConnector2">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DE102D2B-F3E9-A9CC-19EA-619A759E09BB}"/>
              </a:ext>
            </a:extLst>
          </p:cNvPr>
          <p:cNvCxnSpPr>
            <a:cxnSpLocks/>
          </p:cNvCxnSpPr>
          <p:nvPr/>
        </p:nvCxnSpPr>
        <p:spPr>
          <a:xfrm>
            <a:off x="5215320" y="2544778"/>
            <a:ext cx="1858580" cy="0"/>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3075B80-21CD-DB02-E942-B0626625D6C0}"/>
              </a:ext>
            </a:extLst>
          </p:cNvPr>
          <p:cNvSpPr txBox="1"/>
          <p:nvPr/>
        </p:nvSpPr>
        <p:spPr>
          <a:xfrm>
            <a:off x="5437714" y="2406273"/>
            <a:ext cx="1316571" cy="276999"/>
          </a:xfrm>
          <a:prstGeom prst="rect">
            <a:avLst/>
          </a:prstGeom>
          <a:solidFill>
            <a:srgbClr val="FAFFE2"/>
          </a:solidFill>
        </p:spPr>
        <p:txBody>
          <a:bodyPr wrap="square" rtlCol="0">
            <a:spAutoFit/>
          </a:bodyPr>
          <a:lstStyle/>
          <a:p>
            <a:pPr algn="ctr"/>
            <a:r>
              <a:rPr lang="en-US" sz="1200" dirty="0"/>
              <a:t>needs guidelines</a:t>
            </a:r>
          </a:p>
        </p:txBody>
      </p:sp>
      <p:sp>
        <p:nvSpPr>
          <p:cNvPr id="28" name="TextBox 27">
            <a:extLst>
              <a:ext uri="{FF2B5EF4-FFF2-40B4-BE49-F238E27FC236}">
                <a16:creationId xmlns:a16="http://schemas.microsoft.com/office/drawing/2014/main" id="{A8E97FFA-5C42-BF5F-5CFC-38216470310F}"/>
              </a:ext>
            </a:extLst>
          </p:cNvPr>
          <p:cNvSpPr txBox="1"/>
          <p:nvPr/>
        </p:nvSpPr>
        <p:spPr>
          <a:xfrm>
            <a:off x="5437714" y="1848601"/>
            <a:ext cx="1316571" cy="276999"/>
          </a:xfrm>
          <a:prstGeom prst="rect">
            <a:avLst/>
          </a:prstGeom>
          <a:solidFill>
            <a:srgbClr val="FAFFE2"/>
          </a:solidFill>
        </p:spPr>
        <p:txBody>
          <a:bodyPr wrap="square" rtlCol="0">
            <a:spAutoFit/>
          </a:bodyPr>
          <a:lstStyle/>
          <a:p>
            <a:pPr algn="ctr"/>
            <a:r>
              <a:rPr lang="en-US" sz="1200" dirty="0"/>
              <a:t>tone violation</a:t>
            </a:r>
          </a:p>
        </p:txBody>
      </p:sp>
      <p:sp>
        <p:nvSpPr>
          <p:cNvPr id="31" name="Rectangle 30">
            <a:extLst>
              <a:ext uri="{FF2B5EF4-FFF2-40B4-BE49-F238E27FC236}">
                <a16:creationId xmlns:a16="http://schemas.microsoft.com/office/drawing/2014/main" id="{9A28DECD-B2EB-DB35-967F-FA9A32513451}"/>
              </a:ext>
            </a:extLst>
          </p:cNvPr>
          <p:cNvSpPr/>
          <p:nvPr/>
        </p:nvSpPr>
        <p:spPr>
          <a:xfrm>
            <a:off x="7289922" y="494572"/>
            <a:ext cx="2210904" cy="1124235"/>
          </a:xfrm>
          <a:prstGeom prst="rect">
            <a:avLst/>
          </a:prstGeom>
          <a:solidFill>
            <a:srgbClr val="FAFFE2"/>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lgn="ctr"/>
            <a:r>
              <a:rPr lang="en-US" sz="1200" dirty="0">
                <a:solidFill>
                  <a:schemeClr val="tx1"/>
                </a:solidFill>
              </a:rPr>
              <a:t>Post-processing</a:t>
            </a:r>
          </a:p>
        </p:txBody>
      </p:sp>
      <p:sp>
        <p:nvSpPr>
          <p:cNvPr id="32" name="Rectangle 31">
            <a:extLst>
              <a:ext uri="{FF2B5EF4-FFF2-40B4-BE49-F238E27FC236}">
                <a16:creationId xmlns:a16="http://schemas.microsoft.com/office/drawing/2014/main" id="{7AA90C4C-EA75-A2C7-2FA6-162241B71730}"/>
              </a:ext>
            </a:extLst>
          </p:cNvPr>
          <p:cNvSpPr/>
          <p:nvPr/>
        </p:nvSpPr>
        <p:spPr>
          <a:xfrm>
            <a:off x="7698828" y="829606"/>
            <a:ext cx="1430627" cy="659525"/>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GPT-4o-mini</a:t>
            </a:r>
          </a:p>
          <a:p>
            <a:pPr algn="ctr"/>
            <a:r>
              <a:rPr lang="en-US" sz="1200" dirty="0">
                <a:solidFill>
                  <a:schemeClr val="tx1"/>
                </a:solidFill>
              </a:rPr>
              <a:t>Tone Validator ($0.001, –5-10%)</a:t>
            </a:r>
          </a:p>
        </p:txBody>
      </p:sp>
      <p:cxnSp>
        <p:nvCxnSpPr>
          <p:cNvPr id="46" name="Curved Connector 45">
            <a:extLst>
              <a:ext uri="{FF2B5EF4-FFF2-40B4-BE49-F238E27FC236}">
                <a16:creationId xmlns:a16="http://schemas.microsoft.com/office/drawing/2014/main" id="{FE8CBFA4-D0CA-8675-ED75-BEA1D771E215}"/>
              </a:ext>
            </a:extLst>
          </p:cNvPr>
          <p:cNvCxnSpPr>
            <a:cxnSpLocks/>
          </p:cNvCxnSpPr>
          <p:nvPr/>
        </p:nvCxnSpPr>
        <p:spPr>
          <a:xfrm rot="10800000" flipV="1">
            <a:off x="5223699" y="1456152"/>
            <a:ext cx="2473741" cy="784949"/>
          </a:xfrm>
          <a:prstGeom prst="curvedConnector3">
            <a:avLst>
              <a:gd name="adj1" fmla="val 29519"/>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20E9FBAB-7F98-39A6-23FE-5BB90FEEBF75}"/>
              </a:ext>
            </a:extLst>
          </p:cNvPr>
          <p:cNvSpPr txBox="1"/>
          <p:nvPr/>
        </p:nvSpPr>
        <p:spPr>
          <a:xfrm>
            <a:off x="5588940" y="2074869"/>
            <a:ext cx="1182835" cy="276999"/>
          </a:xfrm>
          <a:prstGeom prst="rect">
            <a:avLst/>
          </a:prstGeom>
          <a:solidFill>
            <a:srgbClr val="FAFFE2"/>
          </a:solidFill>
        </p:spPr>
        <p:txBody>
          <a:bodyPr wrap="square" rtlCol="0">
            <a:spAutoFit/>
          </a:bodyPr>
          <a:lstStyle/>
          <a:p>
            <a:pPr algn="ctr"/>
            <a:r>
              <a:rPr lang="en-US" sz="1200" dirty="0"/>
              <a:t>tone violation</a:t>
            </a:r>
          </a:p>
        </p:txBody>
      </p:sp>
      <p:cxnSp>
        <p:nvCxnSpPr>
          <p:cNvPr id="48" name="Curved Connector 47">
            <a:extLst>
              <a:ext uri="{FF2B5EF4-FFF2-40B4-BE49-F238E27FC236}">
                <a16:creationId xmlns:a16="http://schemas.microsoft.com/office/drawing/2014/main" id="{B9339A91-C1BC-0E2E-34D5-0653CD3B99CC}"/>
              </a:ext>
            </a:extLst>
          </p:cNvPr>
          <p:cNvCxnSpPr>
            <a:cxnSpLocks/>
            <a:endCxn id="32" idx="1"/>
          </p:cNvCxnSpPr>
          <p:nvPr/>
        </p:nvCxnSpPr>
        <p:spPr>
          <a:xfrm flipV="1">
            <a:off x="5215320" y="1159369"/>
            <a:ext cx="2483508" cy="827731"/>
          </a:xfrm>
          <a:prstGeom prst="curvedConnector3">
            <a:avLst>
              <a:gd name="adj1" fmla="val 50000"/>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C4942400-8080-BBE2-6EB3-60983904DB44}"/>
              </a:ext>
            </a:extLst>
          </p:cNvPr>
          <p:cNvSpPr txBox="1"/>
          <p:nvPr/>
        </p:nvSpPr>
        <p:spPr>
          <a:xfrm>
            <a:off x="5385642" y="1772844"/>
            <a:ext cx="1260306" cy="276999"/>
          </a:xfrm>
          <a:prstGeom prst="rect">
            <a:avLst/>
          </a:prstGeom>
          <a:solidFill>
            <a:srgbClr val="FAFFE2"/>
          </a:solidFill>
        </p:spPr>
        <p:txBody>
          <a:bodyPr wrap="square" rtlCol="0">
            <a:spAutoFit/>
          </a:bodyPr>
          <a:lstStyle/>
          <a:p>
            <a:pPr algn="ctr"/>
            <a:r>
              <a:rPr lang="en-US" sz="1200" dirty="0"/>
              <a:t>response ready</a:t>
            </a:r>
          </a:p>
        </p:txBody>
      </p:sp>
      <p:sp>
        <p:nvSpPr>
          <p:cNvPr id="53" name="Rectangle 52">
            <a:extLst>
              <a:ext uri="{FF2B5EF4-FFF2-40B4-BE49-F238E27FC236}">
                <a16:creationId xmlns:a16="http://schemas.microsoft.com/office/drawing/2014/main" id="{4313FE88-EDBD-D7F0-CC0E-478F6C9A32B7}"/>
              </a:ext>
            </a:extLst>
          </p:cNvPr>
          <p:cNvSpPr/>
          <p:nvPr/>
        </p:nvSpPr>
        <p:spPr>
          <a:xfrm>
            <a:off x="7073898" y="2216049"/>
            <a:ext cx="1430627" cy="659525"/>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GPT-4o</a:t>
            </a:r>
          </a:p>
          <a:p>
            <a:pPr algn="ctr"/>
            <a:r>
              <a:rPr lang="en-US" sz="1200" dirty="0">
                <a:solidFill>
                  <a:schemeClr val="tx1"/>
                </a:solidFill>
              </a:rPr>
              <a:t>RAG Reasoner</a:t>
            </a:r>
          </a:p>
          <a:p>
            <a:pPr algn="ctr"/>
            <a:r>
              <a:rPr lang="en-US" sz="1200" dirty="0">
                <a:solidFill>
                  <a:schemeClr val="tx1"/>
                </a:solidFill>
              </a:rPr>
              <a:t>($0.02/call)</a:t>
            </a:r>
          </a:p>
        </p:txBody>
      </p:sp>
      <p:sp>
        <p:nvSpPr>
          <p:cNvPr id="56" name="Rectangle 55">
            <a:extLst>
              <a:ext uri="{FF2B5EF4-FFF2-40B4-BE49-F238E27FC236}">
                <a16:creationId xmlns:a16="http://schemas.microsoft.com/office/drawing/2014/main" id="{926D1D2D-5D1F-D088-D03D-5D6E6069DDE7}"/>
              </a:ext>
            </a:extLst>
          </p:cNvPr>
          <p:cNvSpPr/>
          <p:nvPr/>
        </p:nvSpPr>
        <p:spPr>
          <a:xfrm>
            <a:off x="10286998" y="2762149"/>
            <a:ext cx="1430627" cy="659525"/>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GPT-4o-mini</a:t>
            </a:r>
            <a:br>
              <a:rPr lang="en-US" sz="1200" dirty="0">
                <a:solidFill>
                  <a:schemeClr val="tx1"/>
                </a:solidFill>
              </a:rPr>
            </a:br>
            <a:r>
              <a:rPr lang="en-US" sz="1200" dirty="0">
                <a:solidFill>
                  <a:schemeClr val="tx1"/>
                </a:solidFill>
              </a:rPr>
              <a:t>Note Generator </a:t>
            </a:r>
          </a:p>
          <a:p>
            <a:pPr algn="ctr"/>
            <a:r>
              <a:rPr lang="en-US" sz="1200" dirty="0">
                <a:solidFill>
                  <a:schemeClr val="tx1"/>
                </a:solidFill>
              </a:rPr>
              <a:t>($0.001/call)</a:t>
            </a:r>
          </a:p>
        </p:txBody>
      </p:sp>
      <p:cxnSp>
        <p:nvCxnSpPr>
          <p:cNvPr id="67" name="Curved Connector 66">
            <a:extLst>
              <a:ext uri="{FF2B5EF4-FFF2-40B4-BE49-F238E27FC236}">
                <a16:creationId xmlns:a16="http://schemas.microsoft.com/office/drawing/2014/main" id="{CB4A4215-294A-E7CF-D596-24FBEC9C1346}"/>
              </a:ext>
            </a:extLst>
          </p:cNvPr>
          <p:cNvCxnSpPr>
            <a:cxnSpLocks/>
            <a:endCxn id="56" idx="1"/>
          </p:cNvCxnSpPr>
          <p:nvPr/>
        </p:nvCxnSpPr>
        <p:spPr>
          <a:xfrm>
            <a:off x="4965700" y="2646624"/>
            <a:ext cx="5321298" cy="445288"/>
          </a:xfrm>
          <a:prstGeom prst="curvedConnector3">
            <a:avLst>
              <a:gd name="adj1" fmla="val 119"/>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87E892DD-E67B-3E3F-F6BE-E600F44D4232}"/>
              </a:ext>
            </a:extLst>
          </p:cNvPr>
          <p:cNvSpPr txBox="1"/>
          <p:nvPr/>
        </p:nvSpPr>
        <p:spPr>
          <a:xfrm>
            <a:off x="7290740" y="2913069"/>
            <a:ext cx="1182835" cy="276999"/>
          </a:xfrm>
          <a:prstGeom prst="rect">
            <a:avLst/>
          </a:prstGeom>
          <a:solidFill>
            <a:srgbClr val="FAFFE2"/>
          </a:solidFill>
        </p:spPr>
        <p:txBody>
          <a:bodyPr wrap="square" rtlCol="0">
            <a:spAutoFit/>
          </a:bodyPr>
          <a:lstStyle/>
          <a:p>
            <a:pPr algn="ctr"/>
            <a:r>
              <a:rPr lang="en-US" sz="1200" dirty="0"/>
              <a:t>after delivery</a:t>
            </a:r>
          </a:p>
        </p:txBody>
      </p:sp>
      <p:sp>
        <p:nvSpPr>
          <p:cNvPr id="74" name="Rectangle 73">
            <a:extLst>
              <a:ext uri="{FF2B5EF4-FFF2-40B4-BE49-F238E27FC236}">
                <a16:creationId xmlns:a16="http://schemas.microsoft.com/office/drawing/2014/main" id="{A50D596C-987E-9FBD-5670-6C9F03EBA882}"/>
              </a:ext>
            </a:extLst>
          </p:cNvPr>
          <p:cNvSpPr/>
          <p:nvPr/>
        </p:nvSpPr>
        <p:spPr>
          <a:xfrm>
            <a:off x="7073898" y="3320998"/>
            <a:ext cx="1430627" cy="837858"/>
          </a:xfrm>
          <a:prstGeom prst="rect">
            <a:avLst/>
          </a:prstGeom>
          <a:solidFill>
            <a:srgbClr val="00B0F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Claude Sonnet 4.5</a:t>
            </a:r>
            <a:br>
              <a:rPr lang="en-US" sz="1200" dirty="0">
                <a:solidFill>
                  <a:schemeClr val="tx1"/>
                </a:solidFill>
              </a:rPr>
            </a:br>
            <a:r>
              <a:rPr lang="en-US" sz="1200" dirty="0">
                <a:solidFill>
                  <a:schemeClr val="tx1"/>
                </a:solidFill>
              </a:rPr>
              <a:t>LLM-as-Judge</a:t>
            </a:r>
            <a:br>
              <a:rPr lang="en-US" sz="1200" dirty="0">
                <a:solidFill>
                  <a:schemeClr val="tx1"/>
                </a:solidFill>
              </a:rPr>
            </a:br>
            <a:r>
              <a:rPr lang="en-US" sz="1200" dirty="0">
                <a:solidFill>
                  <a:schemeClr val="tx1"/>
                </a:solidFill>
              </a:rPr>
              <a:t>($0.03/call)</a:t>
            </a:r>
          </a:p>
        </p:txBody>
      </p:sp>
      <p:cxnSp>
        <p:nvCxnSpPr>
          <p:cNvPr id="75" name="Curved Connector 74">
            <a:extLst>
              <a:ext uri="{FF2B5EF4-FFF2-40B4-BE49-F238E27FC236}">
                <a16:creationId xmlns:a16="http://schemas.microsoft.com/office/drawing/2014/main" id="{1DC0A548-F26F-3199-DA5B-6F8BEC5BA4AE}"/>
              </a:ext>
            </a:extLst>
          </p:cNvPr>
          <p:cNvCxnSpPr>
            <a:cxnSpLocks/>
          </p:cNvCxnSpPr>
          <p:nvPr/>
        </p:nvCxnSpPr>
        <p:spPr>
          <a:xfrm>
            <a:off x="4509550" y="2659767"/>
            <a:ext cx="2519225" cy="1081521"/>
          </a:xfrm>
          <a:prstGeom prst="curvedConnector3">
            <a:avLst>
              <a:gd name="adj1" fmla="val -916"/>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ADDDA634-F075-F7D5-B0DC-A15518757AF3}"/>
              </a:ext>
            </a:extLst>
          </p:cNvPr>
          <p:cNvSpPr txBox="1"/>
          <p:nvPr/>
        </p:nvSpPr>
        <p:spPr>
          <a:xfrm>
            <a:off x="4797073" y="3497269"/>
            <a:ext cx="1564775" cy="276999"/>
          </a:xfrm>
          <a:prstGeom prst="rect">
            <a:avLst/>
          </a:prstGeom>
          <a:solidFill>
            <a:srgbClr val="FAFFE2"/>
          </a:solidFill>
        </p:spPr>
        <p:txBody>
          <a:bodyPr wrap="square" rtlCol="0">
            <a:spAutoFit/>
          </a:bodyPr>
          <a:lstStyle/>
          <a:p>
            <a:pPr algn="ctr"/>
            <a:r>
              <a:rPr lang="en-US" sz="1200" dirty="0"/>
              <a:t>prescribing action</a:t>
            </a:r>
          </a:p>
        </p:txBody>
      </p:sp>
      <p:sp>
        <p:nvSpPr>
          <p:cNvPr id="81" name="Rectangle 80">
            <a:extLst>
              <a:ext uri="{FF2B5EF4-FFF2-40B4-BE49-F238E27FC236}">
                <a16:creationId xmlns:a16="http://schemas.microsoft.com/office/drawing/2014/main" id="{A9746BF3-E32B-F01D-9D70-124CBD976853}"/>
              </a:ext>
            </a:extLst>
          </p:cNvPr>
          <p:cNvSpPr/>
          <p:nvPr/>
        </p:nvSpPr>
        <p:spPr>
          <a:xfrm>
            <a:off x="10286998" y="5937149"/>
            <a:ext cx="1430627" cy="368395"/>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Block</a:t>
            </a:r>
          </a:p>
        </p:txBody>
      </p:sp>
      <p:cxnSp>
        <p:nvCxnSpPr>
          <p:cNvPr id="85" name="Curved Connector 84">
            <a:extLst>
              <a:ext uri="{FF2B5EF4-FFF2-40B4-BE49-F238E27FC236}">
                <a16:creationId xmlns:a16="http://schemas.microsoft.com/office/drawing/2014/main" id="{898BA1A7-5B59-3248-CC5A-7A385E3359FA}"/>
              </a:ext>
            </a:extLst>
          </p:cNvPr>
          <p:cNvCxnSpPr>
            <a:cxnSpLocks/>
            <a:endCxn id="79" idx="0"/>
          </p:cNvCxnSpPr>
          <p:nvPr/>
        </p:nvCxnSpPr>
        <p:spPr>
          <a:xfrm>
            <a:off x="8504525" y="3421674"/>
            <a:ext cx="2497787" cy="1220075"/>
          </a:xfrm>
          <a:prstGeom prst="curvedConnector2">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7" name="Curved Connector 86">
            <a:extLst>
              <a:ext uri="{FF2B5EF4-FFF2-40B4-BE49-F238E27FC236}">
                <a16:creationId xmlns:a16="http://schemas.microsoft.com/office/drawing/2014/main" id="{57497F2B-B773-BB6D-0862-13263A2D4D13}"/>
              </a:ext>
            </a:extLst>
          </p:cNvPr>
          <p:cNvCxnSpPr>
            <a:cxnSpLocks/>
            <a:stCxn id="74" idx="3"/>
            <a:endCxn id="80" idx="0"/>
          </p:cNvCxnSpPr>
          <p:nvPr/>
        </p:nvCxnSpPr>
        <p:spPr>
          <a:xfrm>
            <a:off x="8504525" y="3739927"/>
            <a:ext cx="2497787" cy="1549522"/>
          </a:xfrm>
          <a:prstGeom prst="curvedConnector2">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1" name="Curved Connector 90">
            <a:extLst>
              <a:ext uri="{FF2B5EF4-FFF2-40B4-BE49-F238E27FC236}">
                <a16:creationId xmlns:a16="http://schemas.microsoft.com/office/drawing/2014/main" id="{9694AD20-0345-1452-5C44-03888449D8FF}"/>
              </a:ext>
            </a:extLst>
          </p:cNvPr>
          <p:cNvCxnSpPr>
            <a:cxnSpLocks/>
            <a:endCxn id="81" idx="0"/>
          </p:cNvCxnSpPr>
          <p:nvPr/>
        </p:nvCxnSpPr>
        <p:spPr>
          <a:xfrm>
            <a:off x="8504525" y="4065042"/>
            <a:ext cx="2497787" cy="1872107"/>
          </a:xfrm>
          <a:prstGeom prst="curvedConnector2">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B04A5F7D-6BB2-C0C4-2FB9-9520434A587A}"/>
              </a:ext>
            </a:extLst>
          </p:cNvPr>
          <p:cNvSpPr txBox="1"/>
          <p:nvPr/>
        </p:nvSpPr>
        <p:spPr>
          <a:xfrm>
            <a:off x="8729504" y="3308196"/>
            <a:ext cx="892527" cy="276999"/>
          </a:xfrm>
          <a:prstGeom prst="rect">
            <a:avLst/>
          </a:prstGeom>
          <a:solidFill>
            <a:srgbClr val="FAFFE2"/>
          </a:solidFill>
        </p:spPr>
        <p:txBody>
          <a:bodyPr wrap="square" rtlCol="0">
            <a:spAutoFit/>
          </a:bodyPr>
          <a:lstStyle/>
          <a:p>
            <a:pPr algn="ctr"/>
            <a:r>
              <a:rPr lang="en-US" sz="1200" dirty="0"/>
              <a:t>APPROVE</a:t>
            </a:r>
          </a:p>
        </p:txBody>
      </p:sp>
      <p:sp>
        <p:nvSpPr>
          <p:cNvPr id="96" name="TextBox 95">
            <a:extLst>
              <a:ext uri="{FF2B5EF4-FFF2-40B4-BE49-F238E27FC236}">
                <a16:creationId xmlns:a16="http://schemas.microsoft.com/office/drawing/2014/main" id="{69BE0D31-D461-5187-EEB5-78D1A17A7E05}"/>
              </a:ext>
            </a:extLst>
          </p:cNvPr>
          <p:cNvSpPr txBox="1"/>
          <p:nvPr/>
        </p:nvSpPr>
        <p:spPr>
          <a:xfrm>
            <a:off x="8723171" y="3648519"/>
            <a:ext cx="892527" cy="276999"/>
          </a:xfrm>
          <a:prstGeom prst="rect">
            <a:avLst/>
          </a:prstGeom>
          <a:solidFill>
            <a:srgbClr val="FAFFE2"/>
          </a:solidFill>
        </p:spPr>
        <p:txBody>
          <a:bodyPr wrap="square" rtlCol="0">
            <a:spAutoFit/>
          </a:bodyPr>
          <a:lstStyle/>
          <a:p>
            <a:pPr algn="ctr"/>
            <a:r>
              <a:rPr lang="en-US" sz="1200" dirty="0"/>
              <a:t>CAUTION</a:t>
            </a:r>
          </a:p>
        </p:txBody>
      </p:sp>
      <p:sp>
        <p:nvSpPr>
          <p:cNvPr id="79" name="Rectangle 78">
            <a:extLst>
              <a:ext uri="{FF2B5EF4-FFF2-40B4-BE49-F238E27FC236}">
                <a16:creationId xmlns:a16="http://schemas.microsoft.com/office/drawing/2014/main" id="{E20D1B57-DEE3-CC2C-C921-E8C01609274B}"/>
              </a:ext>
            </a:extLst>
          </p:cNvPr>
          <p:cNvSpPr/>
          <p:nvPr/>
        </p:nvSpPr>
        <p:spPr>
          <a:xfrm>
            <a:off x="10286998" y="4641749"/>
            <a:ext cx="1430627" cy="368395"/>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Execute</a:t>
            </a:r>
          </a:p>
        </p:txBody>
      </p:sp>
      <p:sp>
        <p:nvSpPr>
          <p:cNvPr id="100" name="TextBox 99">
            <a:extLst>
              <a:ext uri="{FF2B5EF4-FFF2-40B4-BE49-F238E27FC236}">
                <a16:creationId xmlns:a16="http://schemas.microsoft.com/office/drawing/2014/main" id="{9BC66DA7-96EB-3314-B4E8-D76D32A4F12F}"/>
              </a:ext>
            </a:extLst>
          </p:cNvPr>
          <p:cNvSpPr txBox="1"/>
          <p:nvPr/>
        </p:nvSpPr>
        <p:spPr>
          <a:xfrm>
            <a:off x="8723171" y="4029423"/>
            <a:ext cx="892527" cy="276999"/>
          </a:xfrm>
          <a:prstGeom prst="rect">
            <a:avLst/>
          </a:prstGeom>
          <a:solidFill>
            <a:srgbClr val="FAFFE2"/>
          </a:solidFill>
        </p:spPr>
        <p:txBody>
          <a:bodyPr wrap="square" rtlCol="0">
            <a:spAutoFit/>
          </a:bodyPr>
          <a:lstStyle/>
          <a:p>
            <a:pPr algn="ctr"/>
            <a:r>
              <a:rPr lang="en-US" sz="1200" dirty="0"/>
              <a:t>REJECT</a:t>
            </a:r>
          </a:p>
        </p:txBody>
      </p:sp>
      <p:sp>
        <p:nvSpPr>
          <p:cNvPr id="80" name="Rectangle 79">
            <a:extLst>
              <a:ext uri="{FF2B5EF4-FFF2-40B4-BE49-F238E27FC236}">
                <a16:creationId xmlns:a16="http://schemas.microsoft.com/office/drawing/2014/main" id="{2FC1865C-FB41-0EA0-285C-E83AF22E4A9D}"/>
              </a:ext>
            </a:extLst>
          </p:cNvPr>
          <p:cNvSpPr/>
          <p:nvPr/>
        </p:nvSpPr>
        <p:spPr>
          <a:xfrm>
            <a:off x="10286998" y="5289449"/>
            <a:ext cx="1430627" cy="368395"/>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Clinician Review</a:t>
            </a:r>
          </a:p>
        </p:txBody>
      </p:sp>
      <p:sp>
        <p:nvSpPr>
          <p:cNvPr id="18" name="TextBox 17">
            <a:extLst>
              <a:ext uri="{FF2B5EF4-FFF2-40B4-BE49-F238E27FC236}">
                <a16:creationId xmlns:a16="http://schemas.microsoft.com/office/drawing/2014/main" id="{E275D271-306F-E3D6-35E5-49D91AB746F1}"/>
              </a:ext>
            </a:extLst>
          </p:cNvPr>
          <p:cNvSpPr txBox="1"/>
          <p:nvPr/>
        </p:nvSpPr>
        <p:spPr>
          <a:xfrm>
            <a:off x="2064577" y="2470716"/>
            <a:ext cx="1164280" cy="461665"/>
          </a:xfrm>
          <a:prstGeom prst="rect">
            <a:avLst/>
          </a:prstGeom>
          <a:solidFill>
            <a:srgbClr val="FAFFE2"/>
          </a:solidFill>
        </p:spPr>
        <p:txBody>
          <a:bodyPr wrap="square" rtlCol="0">
            <a:spAutoFit/>
          </a:bodyPr>
          <a:lstStyle/>
          <a:p>
            <a:pPr algn="ctr"/>
            <a:r>
              <a:rPr lang="en-US" sz="1200" dirty="0" err="1"/>
              <a:t>bp_related</a:t>
            </a:r>
            <a:br>
              <a:rPr lang="en-US" sz="1200" dirty="0"/>
            </a:br>
            <a:r>
              <a:rPr lang="en-US" sz="1200" dirty="0"/>
              <a:t>or ambiguous</a:t>
            </a:r>
          </a:p>
        </p:txBody>
      </p:sp>
      <p:sp>
        <p:nvSpPr>
          <p:cNvPr id="19" name="TextBox 18">
            <a:extLst>
              <a:ext uri="{FF2B5EF4-FFF2-40B4-BE49-F238E27FC236}">
                <a16:creationId xmlns:a16="http://schemas.microsoft.com/office/drawing/2014/main" id="{4843E082-E072-7F8F-A1B4-183DD1A12379}"/>
              </a:ext>
            </a:extLst>
          </p:cNvPr>
          <p:cNvSpPr txBox="1"/>
          <p:nvPr/>
        </p:nvSpPr>
        <p:spPr>
          <a:xfrm>
            <a:off x="2215964" y="4779792"/>
            <a:ext cx="861506" cy="276999"/>
          </a:xfrm>
          <a:prstGeom prst="rect">
            <a:avLst/>
          </a:prstGeom>
          <a:solidFill>
            <a:srgbClr val="FAFFE2"/>
          </a:solidFill>
        </p:spPr>
        <p:txBody>
          <a:bodyPr wrap="square" rtlCol="0">
            <a:spAutoFit/>
          </a:bodyPr>
          <a:lstStyle/>
          <a:p>
            <a:pPr algn="ctr"/>
            <a:r>
              <a:rPr lang="en-US" sz="1200" dirty="0" err="1"/>
              <a:t>off_topic</a:t>
            </a:r>
            <a:endParaRPr lang="en-US" sz="1200" dirty="0"/>
          </a:p>
        </p:txBody>
      </p:sp>
      <p:cxnSp>
        <p:nvCxnSpPr>
          <p:cNvPr id="104" name="Curved Connector 103">
            <a:extLst>
              <a:ext uri="{FF2B5EF4-FFF2-40B4-BE49-F238E27FC236}">
                <a16:creationId xmlns:a16="http://schemas.microsoft.com/office/drawing/2014/main" id="{462ADCAA-9C2D-DA9C-5D68-8FE9D97750EF}"/>
              </a:ext>
            </a:extLst>
          </p:cNvPr>
          <p:cNvCxnSpPr>
            <a:cxnSpLocks/>
            <a:endCxn id="56" idx="0"/>
          </p:cNvCxnSpPr>
          <p:nvPr/>
        </p:nvCxnSpPr>
        <p:spPr>
          <a:xfrm>
            <a:off x="9130844" y="1159938"/>
            <a:ext cx="1871468" cy="1602211"/>
          </a:xfrm>
          <a:prstGeom prst="curvedConnector2">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832E2E85-0450-B0B6-3426-6B93D54B5035}"/>
              </a:ext>
            </a:extLst>
          </p:cNvPr>
          <p:cNvSpPr txBox="1"/>
          <p:nvPr/>
        </p:nvSpPr>
        <p:spPr>
          <a:xfrm>
            <a:off x="10011624" y="1903248"/>
            <a:ext cx="1564775" cy="276999"/>
          </a:xfrm>
          <a:prstGeom prst="rect">
            <a:avLst/>
          </a:prstGeom>
          <a:solidFill>
            <a:srgbClr val="FAFFE2"/>
          </a:solidFill>
        </p:spPr>
        <p:txBody>
          <a:bodyPr wrap="square" rtlCol="0">
            <a:spAutoFit/>
          </a:bodyPr>
          <a:lstStyle/>
          <a:p>
            <a:pPr algn="ctr"/>
            <a:r>
              <a:rPr lang="en-US" sz="1200" dirty="0"/>
              <a:t>tone OK</a:t>
            </a:r>
          </a:p>
        </p:txBody>
      </p:sp>
      <p:sp>
        <p:nvSpPr>
          <p:cNvPr id="2" name="Title 1">
            <a:extLst>
              <a:ext uri="{FF2B5EF4-FFF2-40B4-BE49-F238E27FC236}">
                <a16:creationId xmlns:a16="http://schemas.microsoft.com/office/drawing/2014/main" id="{1C51FAD7-EF02-1A74-881F-55B01EA2E5DD}"/>
              </a:ext>
            </a:extLst>
          </p:cNvPr>
          <p:cNvSpPr txBox="1">
            <a:spLocks/>
          </p:cNvSpPr>
          <p:nvPr/>
        </p:nvSpPr>
        <p:spPr>
          <a:xfrm>
            <a:off x="838200" y="36733"/>
            <a:ext cx="10515600" cy="398944"/>
          </a:xfrm>
          <a:prstGeom prst="rect">
            <a:avLst/>
          </a:prstGeom>
        </p:spPr>
        <p:txBody>
          <a:bodyPr vert="horz" lIns="91440" tIns="45720" rIns="91440" bIns="45720" rtlCol="0" anchor="b">
            <a:normAutofit fontScale="3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Cost Estimate</a:t>
            </a:r>
          </a:p>
        </p:txBody>
      </p:sp>
    </p:spTree>
    <p:extLst>
      <p:ext uri="{BB962C8B-B14F-4D97-AF65-F5344CB8AC3E}">
        <p14:creationId xmlns:p14="http://schemas.microsoft.com/office/powerpoint/2010/main" val="608545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Words>6199</Words>
  <Application>Microsoft Macintosh PowerPoint</Application>
  <PresentationFormat>Widescreen</PresentationFormat>
  <Paragraphs>897</Paragraphs>
  <Slides>40</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Aptos</vt:lpstr>
      <vt:lpstr>Aptos Display</vt:lpstr>
      <vt:lpstr>Arial</vt:lpstr>
      <vt:lpstr>Courier New</vt:lpstr>
      <vt:lpstr>Helvetica Neue</vt:lpstr>
      <vt:lpstr>Times New Roman</vt:lpstr>
      <vt:lpstr>Office Theme</vt:lpstr>
      <vt:lpstr>Autonomous Hypertension Management</vt:lpstr>
      <vt:lpstr>Design Principles</vt:lpstr>
      <vt:lpstr>Assumptions</vt:lpstr>
      <vt:lpstr>Clinical Problems</vt:lpstr>
      <vt:lpstr>Safety Failure Modes – 5 most likely causes of severe harm</vt:lpstr>
      <vt:lpstr>Architecture</vt:lpstr>
      <vt:lpstr>Patient Context Injection</vt:lpstr>
      <vt:lpstr>Tools</vt:lpstr>
      <vt:lpstr>Tools - Deterministic</vt:lpstr>
      <vt:lpstr>PowerPoint Presentation</vt:lpstr>
      <vt:lpstr>Agent cannot</vt:lpstr>
      <vt:lpstr>LLM Roles</vt:lpstr>
      <vt:lpstr>Message Processing Pipeline</vt:lpstr>
      <vt:lpstr>Context</vt:lpstr>
      <vt:lpstr>State Machine</vt:lpstr>
      <vt:lpstr>State Machine – Transitions – new patient and stable states</vt:lpstr>
      <vt:lpstr>State Machine – Transitions – assessment and treatment</vt:lpstr>
      <vt:lpstr>State Machine – Transitions – safety and escalation</vt:lpstr>
      <vt:lpstr>State Machine – Transitions – crisis</vt:lpstr>
      <vt:lpstr>PowerPoint Presentation</vt:lpstr>
      <vt:lpstr>Decision Tree – Initial management</vt:lpstr>
      <vt:lpstr>PowerPoint Presentation</vt:lpstr>
      <vt:lpstr>3 Layer Clinical Decision Model</vt:lpstr>
      <vt:lpstr>RAG Uses – patient and clinical</vt:lpstr>
      <vt:lpstr>RAG Constraints</vt:lpstr>
      <vt:lpstr>Safety Layer – deterministic checks + LLM-as-judge</vt:lpstr>
      <vt:lpstr>PowerPoint Presentation</vt:lpstr>
      <vt:lpstr>PowerPoint Presentation</vt:lpstr>
      <vt:lpstr>Data Stores</vt:lpstr>
      <vt:lpstr>Lookup Table Example</vt:lpstr>
      <vt:lpstr>Core Data Flows (examples)</vt:lpstr>
      <vt:lpstr>Trade-offs</vt:lpstr>
      <vt:lpstr>Autonomy is earned (prescribing)</vt:lpstr>
      <vt:lpstr>Autonomy is earned (other)</vt:lpstr>
      <vt:lpstr>Final Levels of autonomy</vt:lpstr>
      <vt:lpstr>Clinician Dashboard</vt:lpstr>
      <vt:lpstr>Follow-up based on care state (sample)</vt:lpstr>
      <vt:lpstr>Lab Monitoring Follow-Up</vt:lpstr>
      <vt:lpstr>Feedback and Improvement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coreProperties>
</file>